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sldIdLst>
    <p:sldId id="256" r:id="rId2"/>
    <p:sldId id="300" r:id="rId3"/>
    <p:sldId id="1696" r:id="rId4"/>
    <p:sldId id="1695" r:id="rId5"/>
    <p:sldId id="1697" r:id="rId6"/>
    <p:sldId id="1698" r:id="rId7"/>
    <p:sldId id="1699" r:id="rId8"/>
    <p:sldId id="288" r:id="rId9"/>
    <p:sldId id="286" r:id="rId10"/>
    <p:sldId id="1700" r:id="rId11"/>
    <p:sldId id="1701" r:id="rId12"/>
    <p:sldId id="1702" r:id="rId13"/>
    <p:sldId id="1703" r:id="rId14"/>
    <p:sldId id="299" r:id="rId15"/>
    <p:sldId id="1704" r:id="rId16"/>
    <p:sldId id="1705" r:id="rId17"/>
    <p:sldId id="289" r:id="rId18"/>
    <p:sldId id="261" r:id="rId19"/>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849A"/>
    <a:srgbClr val="202D66"/>
    <a:srgbClr val="08071F"/>
    <a:srgbClr val="1A2554"/>
    <a:srgbClr val="F2A712"/>
    <a:srgbClr val="495ADB"/>
    <a:srgbClr val="544DD7"/>
    <a:srgbClr val="15889C"/>
    <a:srgbClr val="DF2736"/>
    <a:srgbClr val="E148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14" autoAdjust="0"/>
    <p:restoredTop sz="94660"/>
  </p:normalViewPr>
  <p:slideViewPr>
    <p:cSldViewPr snapToGrid="0">
      <p:cViewPr varScale="1">
        <p:scale>
          <a:sx n="125" d="100"/>
          <a:sy n="125" d="100"/>
        </p:scale>
        <p:origin x="110" y="144"/>
      </p:cViewPr>
      <p:guideLst/>
    </p:cSldViewPr>
  </p:slideViewPr>
  <p:notesTextViewPr>
    <p:cViewPr>
      <p:scale>
        <a:sx n="3" d="2"/>
        <a:sy n="3" d="2"/>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2026/3/27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9" name="矩形 8"/>
          <p:cNvSpPr/>
          <p:nvPr userDrawn="1"/>
        </p:nvSpPr>
        <p:spPr>
          <a:xfrm>
            <a:off x="246745" y="253094"/>
            <a:ext cx="11698512" cy="6351814"/>
          </a:xfrm>
          <a:prstGeom prst="rect">
            <a:avLst/>
          </a:prstGeom>
          <a:noFill/>
          <a:ln w="12700">
            <a:solidFill>
              <a:srgbClr val="1D35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5"/>
          <p:cNvSpPr/>
          <p:nvPr userDrawn="1"/>
        </p:nvSpPr>
        <p:spPr bwMode="auto">
          <a:xfrm rot="13500000">
            <a:off x="5947889" y="79823"/>
            <a:ext cx="296227" cy="296227"/>
          </a:xfrm>
          <a:custGeom>
            <a:avLst/>
            <a:gdLst>
              <a:gd name="T0" fmla="*/ 0 w 570"/>
              <a:gd name="T1" fmla="*/ 570 h 570"/>
              <a:gd name="T2" fmla="*/ 0 w 570"/>
              <a:gd name="T3" fmla="*/ 0 h 570"/>
              <a:gd name="T4" fmla="*/ 570 w 570"/>
              <a:gd name="T5" fmla="*/ 0 h 570"/>
              <a:gd name="T6" fmla="*/ 0 w 570"/>
              <a:gd name="T7" fmla="*/ 570 h 570"/>
            </a:gdLst>
            <a:ahLst/>
            <a:cxnLst>
              <a:cxn ang="0">
                <a:pos x="T0" y="T1"/>
              </a:cxn>
              <a:cxn ang="0">
                <a:pos x="T2" y="T3"/>
              </a:cxn>
              <a:cxn ang="0">
                <a:pos x="T4" y="T5"/>
              </a:cxn>
              <a:cxn ang="0">
                <a:pos x="T6" y="T7"/>
              </a:cxn>
            </a:cxnLst>
            <a:rect l="0" t="0" r="r" b="b"/>
            <a:pathLst>
              <a:path w="570" h="570">
                <a:moveTo>
                  <a:pt x="0" y="570"/>
                </a:moveTo>
                <a:lnTo>
                  <a:pt x="0" y="0"/>
                </a:lnTo>
                <a:lnTo>
                  <a:pt x="570" y="0"/>
                </a:lnTo>
                <a:lnTo>
                  <a:pt x="0" y="570"/>
                </a:lnTo>
                <a:close/>
              </a:path>
            </a:pathLst>
          </a:custGeom>
          <a:solidFill>
            <a:srgbClr val="1D3559"/>
          </a:solidFill>
          <a:ln w="25400">
            <a:solidFill>
              <a:schemeClr val="bg1"/>
            </a:solidFill>
          </a:ln>
        </p:spPr>
        <p:txBody>
          <a:bodyPr vert="horz" wrap="square" lIns="91440" tIns="45720" rIns="91440" bIns="45720" numCol="1" anchor="t" anchorCtr="0" compatLnSpc="1"/>
          <a:lstStyle/>
          <a:p>
            <a:endParaRPr lang="zh-CN" altLang="en-US"/>
          </a:p>
        </p:txBody>
      </p:sp>
      <p:sp>
        <p:nvSpPr>
          <p:cNvPr id="17" name="Freeform 5"/>
          <p:cNvSpPr/>
          <p:nvPr userDrawn="1"/>
        </p:nvSpPr>
        <p:spPr bwMode="auto">
          <a:xfrm rot="2700000">
            <a:off x="5947891" y="6500422"/>
            <a:ext cx="296227" cy="296227"/>
          </a:xfrm>
          <a:custGeom>
            <a:avLst/>
            <a:gdLst>
              <a:gd name="T0" fmla="*/ 0 w 570"/>
              <a:gd name="T1" fmla="*/ 570 h 570"/>
              <a:gd name="T2" fmla="*/ 0 w 570"/>
              <a:gd name="T3" fmla="*/ 0 h 570"/>
              <a:gd name="T4" fmla="*/ 570 w 570"/>
              <a:gd name="T5" fmla="*/ 0 h 570"/>
              <a:gd name="T6" fmla="*/ 0 w 570"/>
              <a:gd name="T7" fmla="*/ 570 h 570"/>
            </a:gdLst>
            <a:ahLst/>
            <a:cxnLst>
              <a:cxn ang="0">
                <a:pos x="T0" y="T1"/>
              </a:cxn>
              <a:cxn ang="0">
                <a:pos x="T2" y="T3"/>
              </a:cxn>
              <a:cxn ang="0">
                <a:pos x="T4" y="T5"/>
              </a:cxn>
              <a:cxn ang="0">
                <a:pos x="T6" y="T7"/>
              </a:cxn>
            </a:cxnLst>
            <a:rect l="0" t="0" r="r" b="b"/>
            <a:pathLst>
              <a:path w="570" h="570">
                <a:moveTo>
                  <a:pt x="0" y="570"/>
                </a:moveTo>
                <a:lnTo>
                  <a:pt x="0" y="0"/>
                </a:lnTo>
                <a:lnTo>
                  <a:pt x="570" y="0"/>
                </a:lnTo>
                <a:lnTo>
                  <a:pt x="0" y="570"/>
                </a:lnTo>
                <a:close/>
              </a:path>
            </a:pathLst>
          </a:custGeom>
          <a:solidFill>
            <a:srgbClr val="1D3559"/>
          </a:solidFill>
          <a:ln w="25400">
            <a:solidFill>
              <a:schemeClr val="bg1"/>
            </a:solidFill>
          </a:ln>
        </p:spPr>
        <p:txBody>
          <a:bodyPr vert="horz" wrap="square" lIns="91440" tIns="45720" rIns="91440" bIns="45720" numCol="1" anchor="t" anchorCtr="0" compatLnSpc="1"/>
          <a:lstStyle/>
          <a:p>
            <a:endParaRPr lang="zh-CN" altLang="en-US"/>
          </a:p>
        </p:txBody>
      </p:sp>
      <p:sp>
        <p:nvSpPr>
          <p:cNvPr id="11" name="副标题 2"/>
          <p:cNvSpPr>
            <a:spLocks noGrp="1"/>
          </p:cNvSpPr>
          <p:nvPr>
            <p:ph type="subTitle" idx="1"/>
          </p:nvPr>
        </p:nvSpPr>
        <p:spPr>
          <a:xfrm>
            <a:off x="669925" y="2848384"/>
            <a:ext cx="7855511" cy="558799"/>
          </a:xfr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4" name="标题 1"/>
          <p:cNvSpPr>
            <a:spLocks noGrp="1"/>
          </p:cNvSpPr>
          <p:nvPr>
            <p:ph type="ctrTitle"/>
          </p:nvPr>
        </p:nvSpPr>
        <p:spPr>
          <a:xfrm>
            <a:off x="669925" y="2149793"/>
            <a:ext cx="7855511" cy="698591"/>
          </a:xfr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15" name="文本占位符 13"/>
          <p:cNvSpPr>
            <a:spLocks noGrp="1"/>
          </p:cNvSpPr>
          <p:nvPr>
            <p:ph type="body" sz="quarter" idx="10" hasCustomPrompt="1"/>
          </p:nvPr>
        </p:nvSpPr>
        <p:spPr>
          <a:xfrm>
            <a:off x="669925" y="4611692"/>
            <a:ext cx="7855511" cy="296271"/>
          </a:xfr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6" name="文本占位符 13"/>
          <p:cNvSpPr>
            <a:spLocks noGrp="1"/>
          </p:cNvSpPr>
          <p:nvPr>
            <p:ph type="body" sz="quarter" idx="11" hasCustomPrompt="1"/>
          </p:nvPr>
        </p:nvSpPr>
        <p:spPr>
          <a:xfrm>
            <a:off x="669925" y="4907963"/>
            <a:ext cx="7855511" cy="296271"/>
          </a:xfr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6" name="矩形 5"/>
          <p:cNvSpPr/>
          <p:nvPr userDrawn="1"/>
        </p:nvSpPr>
        <p:spPr>
          <a:xfrm>
            <a:off x="609600" y="1915886"/>
            <a:ext cx="11582399" cy="798285"/>
          </a:xfrm>
          <a:prstGeom prst="rect">
            <a:avLst/>
          </a:prstGeom>
          <a:solidFill>
            <a:srgbClr val="202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p:cNvSpPr>
            <a:spLocks noGrp="1"/>
          </p:cNvSpPr>
          <p:nvPr>
            <p:ph type="title"/>
          </p:nvPr>
        </p:nvSpPr>
        <p:spPr>
          <a:xfrm>
            <a:off x="2609001" y="3128192"/>
            <a:ext cx="5419185"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7" name="文本占位符 2"/>
          <p:cNvSpPr>
            <a:spLocks noGrp="1"/>
          </p:cNvSpPr>
          <p:nvPr>
            <p:ph type="body" idx="1"/>
          </p:nvPr>
        </p:nvSpPr>
        <p:spPr>
          <a:xfrm>
            <a:off x="2610117" y="4023542"/>
            <a:ext cx="5419185" cy="1015623"/>
          </a:xfrm>
        </p:spPr>
        <p:txBody>
          <a:bodyPr anchor="t">
            <a:normAutofit/>
          </a:bodyPr>
          <a:lstStyle>
            <a:lvl1pPr marL="0" indent="0" algn="l">
              <a:lnSpc>
                <a:spcPct val="100000"/>
              </a:lnSpc>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2" name="日期占位符 1"/>
          <p:cNvSpPr>
            <a:spLocks noGrp="1"/>
          </p:cNvSpPr>
          <p:nvPr>
            <p:ph type="dt" sz="half" idx="14"/>
          </p:nvPr>
        </p:nvSpPr>
        <p:spPr/>
        <p:txBody>
          <a:bodyPr/>
          <a:lstStyle/>
          <a:p>
            <a:fld id="{6489D9C7-5DC6-4263-87FF-7C99F6FB63C3}" type="datetime1">
              <a:rPr lang="zh-CN" altLang="en-US" smtClean="0"/>
              <a:t>2026/3/27</a:t>
            </a:fld>
            <a:endParaRPr lang="zh-CN" altLang="en-US"/>
          </a:p>
        </p:txBody>
      </p:sp>
      <p:sp>
        <p:nvSpPr>
          <p:cNvPr id="7" name="页脚占位符 6"/>
          <p:cNvSpPr>
            <a:spLocks noGrp="1"/>
          </p:cNvSpPr>
          <p:nvPr>
            <p:ph type="ftr" sz="quarter" idx="15"/>
          </p:nvPr>
        </p:nvSpPr>
        <p:spPr/>
        <p:txBody>
          <a:bodyPr/>
          <a:lstStyle/>
          <a:p>
            <a:r>
              <a:rPr lang="en-US" altLang="zh-CN"/>
              <a:t>www.islide.cc</a:t>
            </a:r>
            <a:endParaRPr lang="zh-CN" altLang="en-US" dirty="0"/>
          </a:p>
        </p:txBody>
      </p:sp>
      <p:sp>
        <p:nvSpPr>
          <p:cNvPr id="9" name="灯片编号占位符 8"/>
          <p:cNvSpPr>
            <a:spLocks noGrp="1"/>
          </p:cNvSpPr>
          <p:nvPr>
            <p:ph type="sldNum" sz="quarter" idx="16"/>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6" name="日期占位符 5"/>
          <p:cNvSpPr>
            <a:spLocks noGrp="1"/>
          </p:cNvSpPr>
          <p:nvPr>
            <p:ph type="dt" sz="half" idx="10"/>
          </p:nvPr>
        </p:nvSpPr>
        <p:spPr/>
        <p:txBody>
          <a:bodyPr/>
          <a:lstStyle/>
          <a:p>
            <a:fld id="{6489D9C7-5DC6-4263-87FF-7C99F6FB63C3}" type="datetime1">
              <a:rPr lang="zh-CN" altLang="en-US" smtClean="0"/>
              <a:t>2026/3/27</a:t>
            </a:fld>
            <a:endParaRPr lang="zh-CN" altLang="en-US"/>
          </a:p>
        </p:txBody>
      </p:sp>
      <p:sp>
        <p:nvSpPr>
          <p:cNvPr id="7" name="页脚占位符 6"/>
          <p:cNvSpPr>
            <a:spLocks noGrp="1"/>
          </p:cNvSpPr>
          <p:nvPr>
            <p:ph type="ftr" sz="quarter" idx="11"/>
          </p:nvPr>
        </p:nvSpPr>
        <p:spPr/>
        <p:txBody>
          <a:bodyPr/>
          <a:lstStyle/>
          <a:p>
            <a:r>
              <a:rPr lang="en-US" altLang="zh-CN"/>
              <a:t>www.islide.cc</a:t>
            </a:r>
            <a:endParaRPr lang="zh-CN" altLang="en-US" dirty="0"/>
          </a:p>
        </p:txBody>
      </p:sp>
      <p:sp>
        <p:nvSpPr>
          <p:cNvPr id="8" name="灯片编号占位符 7"/>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标题 1"/>
          <p:cNvSpPr>
            <a:spLocks noGrp="1"/>
          </p:cNvSpPr>
          <p:nvPr>
            <p:ph type="ctrTitle" hasCustomPrompt="1"/>
          </p:nvPr>
        </p:nvSpPr>
        <p:spPr>
          <a:xfrm>
            <a:off x="2176506" y="2354263"/>
            <a:ext cx="5426076" cy="1621509"/>
          </a:xfrm>
        </p:spPr>
        <p:txBody>
          <a:bodyPr anchor="b">
            <a:normAutofit/>
          </a:bodyPr>
          <a:lstStyle>
            <a:lvl1pPr marL="0" indent="0" algn="l">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6" name="文本占位符 62"/>
          <p:cNvSpPr>
            <a:spLocks noGrp="1"/>
          </p:cNvSpPr>
          <p:nvPr>
            <p:ph type="body" sz="quarter" idx="18" hasCustomPrompt="1"/>
          </p:nvPr>
        </p:nvSpPr>
        <p:spPr>
          <a:xfrm>
            <a:off x="2176506" y="4660499"/>
            <a:ext cx="5426076" cy="310871"/>
          </a:xfrm>
        </p:spPr>
        <p:txBody>
          <a:bodyPr vert="horz" lIns="91440" tIns="45720" rIns="91440" bIns="45720" rtlCol="0">
            <a:normAutofit/>
          </a:bodyPr>
          <a:lstStyle>
            <a:lvl1pPr marL="0" indent="0" algn="l">
              <a:buNone/>
              <a:defRPr lang="zh-CN" altLang="en-US" sz="15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7" name="文本占位符 13"/>
          <p:cNvSpPr>
            <a:spLocks noGrp="1"/>
          </p:cNvSpPr>
          <p:nvPr>
            <p:ph type="body" sz="quarter" idx="10" hasCustomPrompt="1"/>
          </p:nvPr>
        </p:nvSpPr>
        <p:spPr>
          <a:xfrm>
            <a:off x="2176507" y="4364228"/>
            <a:ext cx="5426076" cy="296271"/>
          </a:xfr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t>2026/3/27</a:t>
            </a:fld>
            <a:endParaRPr lang="zh-CN" altLang="en-US"/>
          </a:p>
        </p:txBody>
      </p:sp>
      <p:sp>
        <p:nvSpPr>
          <p:cNvPr id="5"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6"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hancock.research.fau.eu/" TargetMode="Externa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6.xml"/><Relationship Id="rId1" Type="http://schemas.openxmlformats.org/officeDocument/2006/relationships/themeOverride" Target="../theme/themeOverride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任意多边形: 形状 57"/>
          <p:cNvSpPr/>
          <p:nvPr/>
        </p:nvSpPr>
        <p:spPr>
          <a:xfrm>
            <a:off x="6072776" y="3368038"/>
            <a:ext cx="6119224" cy="1322661"/>
          </a:xfrm>
          <a:custGeom>
            <a:avLst/>
            <a:gdLst>
              <a:gd name="connsiteX0" fmla="*/ 0 w 6119224"/>
              <a:gd name="connsiteY0" fmla="*/ 0 h 1055961"/>
              <a:gd name="connsiteX1" fmla="*/ 6119224 w 6119224"/>
              <a:gd name="connsiteY1" fmla="*/ 489007 h 1055961"/>
              <a:gd name="connsiteX2" fmla="*/ 6119224 w 6119224"/>
              <a:gd name="connsiteY2" fmla="*/ 1055961 h 1055961"/>
              <a:gd name="connsiteX0-1" fmla="*/ 0 w 6119224"/>
              <a:gd name="connsiteY0-2" fmla="*/ 0 h 1182961"/>
              <a:gd name="connsiteX1-3" fmla="*/ 6119224 w 6119224"/>
              <a:gd name="connsiteY1-4" fmla="*/ 616007 h 1182961"/>
              <a:gd name="connsiteX2-5" fmla="*/ 6119224 w 6119224"/>
              <a:gd name="connsiteY2-6" fmla="*/ 1182961 h 1182961"/>
              <a:gd name="connsiteX3" fmla="*/ 0 w 6119224"/>
              <a:gd name="connsiteY3" fmla="*/ 0 h 1182961"/>
              <a:gd name="connsiteX0-7" fmla="*/ 0 w 6119224"/>
              <a:gd name="connsiteY0-8" fmla="*/ 0 h 1322661"/>
              <a:gd name="connsiteX1-9" fmla="*/ 6119224 w 6119224"/>
              <a:gd name="connsiteY1-10" fmla="*/ 616007 h 1322661"/>
              <a:gd name="connsiteX2-11" fmla="*/ 6119224 w 6119224"/>
              <a:gd name="connsiteY2-12" fmla="*/ 1322661 h 1322661"/>
              <a:gd name="connsiteX3-13" fmla="*/ 0 w 6119224"/>
              <a:gd name="connsiteY3-14" fmla="*/ 0 h 1322661"/>
            </a:gdLst>
            <a:ahLst/>
            <a:cxnLst>
              <a:cxn ang="0">
                <a:pos x="connsiteX0-1" y="connsiteY0-2"/>
              </a:cxn>
              <a:cxn ang="0">
                <a:pos x="connsiteX1-3" y="connsiteY1-4"/>
              </a:cxn>
              <a:cxn ang="0">
                <a:pos x="connsiteX2-5" y="connsiteY2-6"/>
              </a:cxn>
              <a:cxn ang="0">
                <a:pos x="connsiteX3-13" y="connsiteY3-14"/>
              </a:cxn>
            </a:cxnLst>
            <a:rect l="l" t="t" r="r" b="b"/>
            <a:pathLst>
              <a:path w="6119224" h="1322661">
                <a:moveTo>
                  <a:pt x="0" y="0"/>
                </a:moveTo>
                <a:lnTo>
                  <a:pt x="6119224" y="616007"/>
                </a:lnTo>
                <a:lnTo>
                  <a:pt x="6119224" y="1322661"/>
                </a:lnTo>
                <a:cubicBezTo>
                  <a:pt x="4079483" y="970674"/>
                  <a:pt x="2039741" y="351987"/>
                  <a:pt x="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任意多边形: 形状 58"/>
          <p:cNvSpPr/>
          <p:nvPr/>
        </p:nvSpPr>
        <p:spPr>
          <a:xfrm rot="9900000">
            <a:off x="-134897" y="3229267"/>
            <a:ext cx="6268888" cy="994021"/>
          </a:xfrm>
          <a:custGeom>
            <a:avLst/>
            <a:gdLst>
              <a:gd name="connsiteX0" fmla="*/ 0 w 6352117"/>
              <a:gd name="connsiteY0" fmla="*/ 0 h 1112762"/>
              <a:gd name="connsiteX1" fmla="*/ 6352117 w 6352117"/>
              <a:gd name="connsiteY1" fmla="*/ 568538 h 1112762"/>
              <a:gd name="connsiteX2" fmla="*/ 6206293 w 6352117"/>
              <a:gd name="connsiteY2" fmla="*/ 1112762 h 1112762"/>
              <a:gd name="connsiteX0-1" fmla="*/ 0 w 6335918"/>
              <a:gd name="connsiteY0-2" fmla="*/ 0 h 976941"/>
              <a:gd name="connsiteX1-3" fmla="*/ 6335918 w 6335918"/>
              <a:gd name="connsiteY1-4" fmla="*/ 432717 h 976941"/>
              <a:gd name="connsiteX2-5" fmla="*/ 6190094 w 6335918"/>
              <a:gd name="connsiteY2-6" fmla="*/ 976941 h 976941"/>
              <a:gd name="connsiteX3" fmla="*/ 0 w 6335918"/>
              <a:gd name="connsiteY3" fmla="*/ 0 h 976941"/>
              <a:gd name="connsiteX0-7" fmla="*/ 0 w 6252453"/>
              <a:gd name="connsiteY0-8" fmla="*/ 0 h 994021"/>
              <a:gd name="connsiteX1-9" fmla="*/ 6252453 w 6252453"/>
              <a:gd name="connsiteY1-10" fmla="*/ 449797 h 994021"/>
              <a:gd name="connsiteX2-11" fmla="*/ 6106629 w 6252453"/>
              <a:gd name="connsiteY2-12" fmla="*/ 994021 h 994021"/>
              <a:gd name="connsiteX3-13" fmla="*/ 0 w 6252453"/>
              <a:gd name="connsiteY3-14" fmla="*/ 0 h 994021"/>
              <a:gd name="connsiteX0-15" fmla="*/ 0 w 6268888"/>
              <a:gd name="connsiteY0-16" fmla="*/ 0 h 994021"/>
              <a:gd name="connsiteX1-17" fmla="*/ 6268888 w 6268888"/>
              <a:gd name="connsiteY1-18" fmla="*/ 388460 h 994021"/>
              <a:gd name="connsiteX2-19" fmla="*/ 6106629 w 6268888"/>
              <a:gd name="connsiteY2-20" fmla="*/ 994021 h 994021"/>
              <a:gd name="connsiteX3-21" fmla="*/ 0 w 6268888"/>
              <a:gd name="connsiteY3-22" fmla="*/ 0 h 994021"/>
            </a:gdLst>
            <a:ahLst/>
            <a:cxnLst>
              <a:cxn ang="0">
                <a:pos x="connsiteX0-1" y="connsiteY0-2"/>
              </a:cxn>
              <a:cxn ang="0">
                <a:pos x="connsiteX1-3" y="connsiteY1-4"/>
              </a:cxn>
              <a:cxn ang="0">
                <a:pos x="connsiteX2-5" y="connsiteY2-6"/>
              </a:cxn>
              <a:cxn ang="0">
                <a:pos x="connsiteX3-13" y="connsiteY3-14"/>
              </a:cxn>
            </a:cxnLst>
            <a:rect l="l" t="t" r="r" b="b"/>
            <a:pathLst>
              <a:path w="6268888" h="994021">
                <a:moveTo>
                  <a:pt x="0" y="0"/>
                </a:moveTo>
                <a:lnTo>
                  <a:pt x="6268888" y="388460"/>
                </a:lnTo>
                <a:lnTo>
                  <a:pt x="6106629" y="994021"/>
                </a:lnTo>
                <a:cubicBezTo>
                  <a:pt x="4037865" y="623100"/>
                  <a:pt x="2068764" y="370921"/>
                  <a:pt x="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形状 46"/>
          <p:cNvSpPr/>
          <p:nvPr/>
        </p:nvSpPr>
        <p:spPr>
          <a:xfrm>
            <a:off x="635" y="208009"/>
            <a:ext cx="12192000" cy="2960914"/>
          </a:xfrm>
          <a:custGeom>
            <a:avLst/>
            <a:gdLst>
              <a:gd name="connsiteX0" fmla="*/ 0 w 12192000"/>
              <a:gd name="connsiteY0" fmla="*/ 0 h 2960914"/>
              <a:gd name="connsiteX1" fmla="*/ 474663 w 12192000"/>
              <a:gd name="connsiteY1" fmla="*/ 0 h 2960914"/>
              <a:gd name="connsiteX2" fmla="*/ 474663 w 12192000"/>
              <a:gd name="connsiteY2" fmla="*/ 5664 h 2960914"/>
              <a:gd name="connsiteX3" fmla="*/ 6092826 w 12192000"/>
              <a:gd name="connsiteY3" fmla="*/ 348569 h 2960914"/>
              <a:gd name="connsiteX4" fmla="*/ 11710988 w 12192000"/>
              <a:gd name="connsiteY4" fmla="*/ 5664 h 2960914"/>
              <a:gd name="connsiteX5" fmla="*/ 11710988 w 12192000"/>
              <a:gd name="connsiteY5" fmla="*/ 0 h 2960914"/>
              <a:gd name="connsiteX6" fmla="*/ 12192000 w 12192000"/>
              <a:gd name="connsiteY6" fmla="*/ 0 h 2960914"/>
              <a:gd name="connsiteX7" fmla="*/ 12192000 w 12192000"/>
              <a:gd name="connsiteY7" fmla="*/ 2960914 h 2960914"/>
              <a:gd name="connsiteX8" fmla="*/ 11491767 w 12192000"/>
              <a:gd name="connsiteY8" fmla="*/ 2960914 h 2960914"/>
              <a:gd name="connsiteX9" fmla="*/ 6092826 w 12192000"/>
              <a:gd name="connsiteY9" fmla="*/ 2631394 h 2960914"/>
              <a:gd name="connsiteX10" fmla="*/ 693884 w 12192000"/>
              <a:gd name="connsiteY10" fmla="*/ 2960914 h 2960914"/>
              <a:gd name="connsiteX11" fmla="*/ 0 w 12192000"/>
              <a:gd name="connsiteY11" fmla="*/ 2960914 h 2960914"/>
              <a:gd name="connsiteX0-1" fmla="*/ 0 w 12192000"/>
              <a:gd name="connsiteY0-2" fmla="*/ 0 h 2960914"/>
              <a:gd name="connsiteX1-3" fmla="*/ 474663 w 12192000"/>
              <a:gd name="connsiteY1-4" fmla="*/ 0 h 2960914"/>
              <a:gd name="connsiteX2-5" fmla="*/ 474663 w 12192000"/>
              <a:gd name="connsiteY2-6" fmla="*/ 5664 h 2960914"/>
              <a:gd name="connsiteX3-7" fmla="*/ 6092826 w 12192000"/>
              <a:gd name="connsiteY3-8" fmla="*/ 348569 h 2960914"/>
              <a:gd name="connsiteX4-9" fmla="*/ 11710988 w 12192000"/>
              <a:gd name="connsiteY4-10" fmla="*/ 5664 h 2960914"/>
              <a:gd name="connsiteX5-11" fmla="*/ 12192000 w 12192000"/>
              <a:gd name="connsiteY5-12" fmla="*/ 0 h 2960914"/>
              <a:gd name="connsiteX6-13" fmla="*/ 12192000 w 12192000"/>
              <a:gd name="connsiteY6-14" fmla="*/ 2960914 h 2960914"/>
              <a:gd name="connsiteX7-15" fmla="*/ 11491767 w 12192000"/>
              <a:gd name="connsiteY7-16" fmla="*/ 2960914 h 2960914"/>
              <a:gd name="connsiteX8-17" fmla="*/ 6092826 w 12192000"/>
              <a:gd name="connsiteY8-18" fmla="*/ 2631394 h 2960914"/>
              <a:gd name="connsiteX9-19" fmla="*/ 693884 w 12192000"/>
              <a:gd name="connsiteY9-20" fmla="*/ 2960914 h 2960914"/>
              <a:gd name="connsiteX10-21" fmla="*/ 0 w 12192000"/>
              <a:gd name="connsiteY10-22" fmla="*/ 2960914 h 2960914"/>
              <a:gd name="connsiteX11-23" fmla="*/ 0 w 12192000"/>
              <a:gd name="connsiteY11-24" fmla="*/ 0 h 2960914"/>
              <a:gd name="connsiteX0-25" fmla="*/ 0 w 12192000"/>
              <a:gd name="connsiteY0-26" fmla="*/ 0 h 2960914"/>
              <a:gd name="connsiteX1-27" fmla="*/ 474663 w 12192000"/>
              <a:gd name="connsiteY1-28" fmla="*/ 0 h 2960914"/>
              <a:gd name="connsiteX2-29" fmla="*/ 474663 w 12192000"/>
              <a:gd name="connsiteY2-30" fmla="*/ 5664 h 2960914"/>
              <a:gd name="connsiteX3-31" fmla="*/ 6092826 w 12192000"/>
              <a:gd name="connsiteY3-32" fmla="*/ 348569 h 2960914"/>
              <a:gd name="connsiteX4-33" fmla="*/ 12192000 w 12192000"/>
              <a:gd name="connsiteY4-34" fmla="*/ 0 h 2960914"/>
              <a:gd name="connsiteX5-35" fmla="*/ 12192000 w 12192000"/>
              <a:gd name="connsiteY5-36" fmla="*/ 2960914 h 2960914"/>
              <a:gd name="connsiteX6-37" fmla="*/ 11491767 w 12192000"/>
              <a:gd name="connsiteY6-38" fmla="*/ 2960914 h 2960914"/>
              <a:gd name="connsiteX7-39" fmla="*/ 6092826 w 12192000"/>
              <a:gd name="connsiteY7-40" fmla="*/ 2631394 h 2960914"/>
              <a:gd name="connsiteX8-41" fmla="*/ 693884 w 12192000"/>
              <a:gd name="connsiteY8-42" fmla="*/ 2960914 h 2960914"/>
              <a:gd name="connsiteX9-43" fmla="*/ 0 w 12192000"/>
              <a:gd name="connsiteY9-44" fmla="*/ 2960914 h 2960914"/>
              <a:gd name="connsiteX10-45" fmla="*/ 0 w 12192000"/>
              <a:gd name="connsiteY10-46" fmla="*/ 0 h 2960914"/>
              <a:gd name="connsiteX0-47" fmla="*/ 0 w 12192000"/>
              <a:gd name="connsiteY0-48" fmla="*/ 0 h 2960914"/>
              <a:gd name="connsiteX1-49" fmla="*/ 474663 w 12192000"/>
              <a:gd name="connsiteY1-50" fmla="*/ 0 h 2960914"/>
              <a:gd name="connsiteX2-51" fmla="*/ 6092826 w 12192000"/>
              <a:gd name="connsiteY2-52" fmla="*/ 348569 h 2960914"/>
              <a:gd name="connsiteX3-53" fmla="*/ 12192000 w 12192000"/>
              <a:gd name="connsiteY3-54" fmla="*/ 0 h 2960914"/>
              <a:gd name="connsiteX4-55" fmla="*/ 12192000 w 12192000"/>
              <a:gd name="connsiteY4-56" fmla="*/ 2960914 h 2960914"/>
              <a:gd name="connsiteX5-57" fmla="*/ 11491767 w 12192000"/>
              <a:gd name="connsiteY5-58" fmla="*/ 2960914 h 2960914"/>
              <a:gd name="connsiteX6-59" fmla="*/ 6092826 w 12192000"/>
              <a:gd name="connsiteY6-60" fmla="*/ 2631394 h 2960914"/>
              <a:gd name="connsiteX7-61" fmla="*/ 693884 w 12192000"/>
              <a:gd name="connsiteY7-62" fmla="*/ 2960914 h 2960914"/>
              <a:gd name="connsiteX8-63" fmla="*/ 0 w 12192000"/>
              <a:gd name="connsiteY8-64" fmla="*/ 2960914 h 2960914"/>
              <a:gd name="connsiteX9-65" fmla="*/ 0 w 12192000"/>
              <a:gd name="connsiteY9-66" fmla="*/ 0 h 2960914"/>
              <a:gd name="connsiteX0-67" fmla="*/ 0 w 12192000"/>
              <a:gd name="connsiteY0-68" fmla="*/ 0 h 2960914"/>
              <a:gd name="connsiteX1-69" fmla="*/ 6092826 w 12192000"/>
              <a:gd name="connsiteY1-70" fmla="*/ 348569 h 2960914"/>
              <a:gd name="connsiteX2-71" fmla="*/ 12192000 w 12192000"/>
              <a:gd name="connsiteY2-72" fmla="*/ 0 h 2960914"/>
              <a:gd name="connsiteX3-73" fmla="*/ 12192000 w 12192000"/>
              <a:gd name="connsiteY3-74" fmla="*/ 2960914 h 2960914"/>
              <a:gd name="connsiteX4-75" fmla="*/ 11491767 w 12192000"/>
              <a:gd name="connsiteY4-76" fmla="*/ 2960914 h 2960914"/>
              <a:gd name="connsiteX5-77" fmla="*/ 6092826 w 12192000"/>
              <a:gd name="connsiteY5-78" fmla="*/ 2631394 h 2960914"/>
              <a:gd name="connsiteX6-79" fmla="*/ 693884 w 12192000"/>
              <a:gd name="connsiteY6-80" fmla="*/ 2960914 h 2960914"/>
              <a:gd name="connsiteX7-81" fmla="*/ 0 w 12192000"/>
              <a:gd name="connsiteY7-82" fmla="*/ 2960914 h 2960914"/>
              <a:gd name="connsiteX8-83" fmla="*/ 0 w 12192000"/>
              <a:gd name="connsiteY8-84" fmla="*/ 0 h 2960914"/>
              <a:gd name="connsiteX0-85" fmla="*/ 0 w 12192000"/>
              <a:gd name="connsiteY0-86" fmla="*/ 0 h 2960914"/>
              <a:gd name="connsiteX1-87" fmla="*/ 6092826 w 12192000"/>
              <a:gd name="connsiteY1-88" fmla="*/ 348569 h 2960914"/>
              <a:gd name="connsiteX2-89" fmla="*/ 12192000 w 12192000"/>
              <a:gd name="connsiteY2-90" fmla="*/ 0 h 2960914"/>
              <a:gd name="connsiteX3-91" fmla="*/ 12192000 w 12192000"/>
              <a:gd name="connsiteY3-92" fmla="*/ 2960914 h 2960914"/>
              <a:gd name="connsiteX4-93" fmla="*/ 11491767 w 12192000"/>
              <a:gd name="connsiteY4-94" fmla="*/ 2960914 h 2960914"/>
              <a:gd name="connsiteX5-95" fmla="*/ 6092826 w 12192000"/>
              <a:gd name="connsiteY5-96" fmla="*/ 2631394 h 2960914"/>
              <a:gd name="connsiteX6-97" fmla="*/ 0 w 12192000"/>
              <a:gd name="connsiteY6-98" fmla="*/ 2960914 h 2960914"/>
              <a:gd name="connsiteX7-99" fmla="*/ 0 w 12192000"/>
              <a:gd name="connsiteY7-100" fmla="*/ 0 h 2960914"/>
              <a:gd name="connsiteX0-101" fmla="*/ 0 w 12192000"/>
              <a:gd name="connsiteY0-102" fmla="*/ 0 h 2960914"/>
              <a:gd name="connsiteX1-103" fmla="*/ 6092826 w 12192000"/>
              <a:gd name="connsiteY1-104" fmla="*/ 348569 h 2960914"/>
              <a:gd name="connsiteX2-105" fmla="*/ 12192000 w 12192000"/>
              <a:gd name="connsiteY2-106" fmla="*/ 0 h 2960914"/>
              <a:gd name="connsiteX3-107" fmla="*/ 12192000 w 12192000"/>
              <a:gd name="connsiteY3-108" fmla="*/ 2960914 h 2960914"/>
              <a:gd name="connsiteX4-109" fmla="*/ 6092826 w 12192000"/>
              <a:gd name="connsiteY4-110" fmla="*/ 2631394 h 2960914"/>
              <a:gd name="connsiteX5-111" fmla="*/ 0 w 12192000"/>
              <a:gd name="connsiteY5-112" fmla="*/ 2960914 h 2960914"/>
              <a:gd name="connsiteX6-113" fmla="*/ 0 w 12192000"/>
              <a:gd name="connsiteY6-114" fmla="*/ 0 h 29609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192000" h="2960914">
                <a:moveTo>
                  <a:pt x="0" y="0"/>
                </a:moveTo>
                <a:lnTo>
                  <a:pt x="6092826" y="348569"/>
                </a:lnTo>
                <a:lnTo>
                  <a:pt x="12192000" y="0"/>
                </a:lnTo>
                <a:lnTo>
                  <a:pt x="12192000" y="2960914"/>
                </a:lnTo>
                <a:lnTo>
                  <a:pt x="6092826" y="2631394"/>
                </a:lnTo>
                <a:lnTo>
                  <a:pt x="0" y="2960914"/>
                </a:lnTo>
                <a:lnTo>
                  <a:pt x="0" y="0"/>
                </a:lnTo>
                <a:close/>
              </a:path>
            </a:pathLst>
          </a:custGeom>
          <a:blipFill rotWithShape="1">
            <a:blip r:embed="rId3"/>
            <a:srcRect/>
            <a:stretch>
              <a:fillRect t="-76226" b="-9828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157050" y="397710"/>
            <a:ext cx="2525521" cy="1347427"/>
            <a:chOff x="2681968" y="1334937"/>
            <a:chExt cx="3271792" cy="1745582"/>
          </a:xfrm>
        </p:grpSpPr>
        <p:grpSp>
          <p:nvGrpSpPr>
            <p:cNvPr id="33" name="组合 32"/>
            <p:cNvGrpSpPr/>
            <p:nvPr userDrawn="1"/>
          </p:nvGrpSpPr>
          <p:grpSpPr>
            <a:xfrm>
              <a:off x="2681968" y="1334937"/>
              <a:ext cx="3271792" cy="1096314"/>
              <a:chOff x="0" y="2964241"/>
              <a:chExt cx="2057401" cy="843435"/>
            </a:xfrm>
          </p:grpSpPr>
          <p:sp>
            <p:nvSpPr>
              <p:cNvPr id="35" name="文本框 34"/>
              <p:cNvSpPr txBox="1"/>
              <p:nvPr/>
            </p:nvSpPr>
            <p:spPr>
              <a:xfrm>
                <a:off x="1" y="3260494"/>
                <a:ext cx="2057400" cy="547182"/>
              </a:xfrm>
              <a:prstGeom prst="rect">
                <a:avLst/>
              </a:prstGeom>
              <a:noFill/>
            </p:spPr>
            <p:txBody>
              <a:bodyPr wrap="none" rtlCol="0">
                <a:prstTxWarp prst="textPlain">
                  <a:avLst/>
                </a:prstTxWarp>
                <a:spAutoFit/>
              </a:bodyPr>
              <a:lstStyle/>
              <a:p>
                <a:r>
                  <a:rPr lang="en-US" altLang="zh-CN" sz="16600" b="1" dirty="0">
                    <a:solidFill>
                      <a:srgbClr val="08071F">
                        <a:alpha val="30000"/>
                      </a:srgbClr>
                    </a:solidFill>
                    <a:latin typeface="Impact" panose="020B0806030902050204" pitchFamily="34" charset="0"/>
                    <a:ea typeface="+mj-ea"/>
                  </a:rPr>
                  <a:t>REPORT</a:t>
                </a:r>
                <a:endParaRPr lang="zh-CN" altLang="en-US" sz="16600" b="1" dirty="0">
                  <a:solidFill>
                    <a:srgbClr val="08071F">
                      <a:alpha val="30000"/>
                    </a:srgbClr>
                  </a:solidFill>
                  <a:latin typeface="Impact" panose="020B0806030902050204" pitchFamily="34" charset="0"/>
                  <a:ea typeface="+mj-ea"/>
                </a:endParaRPr>
              </a:p>
            </p:txBody>
          </p:sp>
          <p:sp>
            <p:nvSpPr>
              <p:cNvPr id="36" name="矩形 35"/>
              <p:cNvSpPr/>
              <p:nvPr/>
            </p:nvSpPr>
            <p:spPr>
              <a:xfrm>
                <a:off x="0" y="2964241"/>
                <a:ext cx="1251032" cy="218356"/>
              </a:xfrm>
              <a:prstGeom prst="rect">
                <a:avLst/>
              </a:prstGeom>
              <a:noFill/>
            </p:spPr>
            <p:txBody>
              <a:bodyPr wrap="none" numCol="1" rtlCol="0">
                <a:prstTxWarp prst="textPlain">
                  <a:avLst/>
                </a:prstTxWarp>
                <a:spAutoFit/>
              </a:bodyPr>
              <a:lstStyle/>
              <a:p>
                <a:pPr lvl="0"/>
                <a:r>
                  <a:rPr lang="en-US" altLang="zh-CN" sz="16600" noProof="0" dirty="0">
                    <a:solidFill>
                      <a:srgbClr val="08071F">
                        <a:alpha val="30000"/>
                      </a:srgbClr>
                    </a:solidFill>
                    <a:latin typeface="+mj-ea"/>
                    <a:ea typeface="+mj-ea"/>
                  </a:rPr>
                  <a:t>BUSINESS</a:t>
                </a:r>
              </a:p>
            </p:txBody>
          </p:sp>
        </p:grpSp>
        <p:sp>
          <p:nvSpPr>
            <p:cNvPr id="34" name="文本框 33"/>
            <p:cNvSpPr txBox="1"/>
            <p:nvPr userDrawn="1"/>
          </p:nvSpPr>
          <p:spPr>
            <a:xfrm>
              <a:off x="2696303" y="2557695"/>
              <a:ext cx="1399596" cy="522824"/>
            </a:xfrm>
            <a:prstGeom prst="rect">
              <a:avLst/>
            </a:prstGeom>
            <a:noFill/>
          </p:spPr>
          <p:txBody>
            <a:bodyPr wrap="none" rtlCol="0">
              <a:prstTxWarp prst="textPlain">
                <a:avLst/>
              </a:prstTxWarp>
              <a:spAutoFit/>
            </a:bodyPr>
            <a:lstStyle/>
            <a:p>
              <a:r>
                <a:rPr lang="en-US" altLang="zh-CN" sz="9600" dirty="0">
                  <a:solidFill>
                    <a:srgbClr val="08071F">
                      <a:alpha val="30000"/>
                    </a:srgbClr>
                  </a:solidFill>
                  <a:latin typeface="Impact" panose="020B0806030902050204" pitchFamily="34" charset="0"/>
                </a:rPr>
                <a:t>2</a:t>
              </a:r>
              <a:r>
                <a:rPr lang="en-US" sz="9600" dirty="0">
                  <a:solidFill>
                    <a:srgbClr val="08071F">
                      <a:alpha val="30000"/>
                    </a:srgbClr>
                  </a:solidFill>
                  <a:latin typeface="Impact" panose="020B0806030902050204" pitchFamily="34" charset="0"/>
                </a:rPr>
                <a:t>026</a:t>
              </a:r>
            </a:p>
          </p:txBody>
        </p:sp>
      </p:grpSp>
      <p:sp>
        <p:nvSpPr>
          <p:cNvPr id="55" name="任意多边形: 形状 54"/>
          <p:cNvSpPr/>
          <p:nvPr/>
        </p:nvSpPr>
        <p:spPr>
          <a:xfrm>
            <a:off x="0" y="3382169"/>
            <a:ext cx="6169025" cy="949059"/>
          </a:xfrm>
          <a:custGeom>
            <a:avLst/>
            <a:gdLst>
              <a:gd name="connsiteX0" fmla="*/ 6045200 w 6045200"/>
              <a:gd name="connsiteY0" fmla="*/ 0 h 965727"/>
              <a:gd name="connsiteX1" fmla="*/ 0 w 6045200"/>
              <a:gd name="connsiteY1" fmla="*/ 965727 h 965727"/>
              <a:gd name="connsiteX2" fmla="*/ 0 w 6045200"/>
              <a:gd name="connsiteY2" fmla="*/ 326768 h 965727"/>
              <a:gd name="connsiteX0-1" fmla="*/ 6154738 w 6154738"/>
              <a:gd name="connsiteY0-2" fmla="*/ 0 h 939534"/>
              <a:gd name="connsiteX1-3" fmla="*/ 0 w 6154738"/>
              <a:gd name="connsiteY1-4" fmla="*/ 939534 h 939534"/>
              <a:gd name="connsiteX2-5" fmla="*/ 0 w 6154738"/>
              <a:gd name="connsiteY2-6" fmla="*/ 300575 h 939534"/>
              <a:gd name="connsiteX3" fmla="*/ 6154738 w 6154738"/>
              <a:gd name="connsiteY3" fmla="*/ 0 h 939534"/>
              <a:gd name="connsiteX0-7" fmla="*/ 6169025 w 6169025"/>
              <a:gd name="connsiteY0-8" fmla="*/ 0 h 949059"/>
              <a:gd name="connsiteX1-9" fmla="*/ 0 w 6169025"/>
              <a:gd name="connsiteY1-10" fmla="*/ 949059 h 949059"/>
              <a:gd name="connsiteX2-11" fmla="*/ 0 w 6169025"/>
              <a:gd name="connsiteY2-12" fmla="*/ 310100 h 949059"/>
              <a:gd name="connsiteX3-13" fmla="*/ 6169025 w 6169025"/>
              <a:gd name="connsiteY3-14" fmla="*/ 0 h 949059"/>
            </a:gdLst>
            <a:ahLst/>
            <a:cxnLst>
              <a:cxn ang="0">
                <a:pos x="connsiteX0-1" y="connsiteY0-2"/>
              </a:cxn>
              <a:cxn ang="0">
                <a:pos x="connsiteX1-3" y="connsiteY1-4"/>
              </a:cxn>
              <a:cxn ang="0">
                <a:pos x="connsiteX2-5" y="connsiteY2-6"/>
              </a:cxn>
              <a:cxn ang="0">
                <a:pos x="connsiteX3-13" y="connsiteY3-14"/>
              </a:cxn>
            </a:cxnLst>
            <a:rect l="l" t="t" r="r" b="b"/>
            <a:pathLst>
              <a:path w="6169025" h="949059">
                <a:moveTo>
                  <a:pt x="6169025" y="0"/>
                </a:moveTo>
                <a:lnTo>
                  <a:pt x="0" y="949059"/>
                </a:lnTo>
                <a:lnTo>
                  <a:pt x="0" y="310100"/>
                </a:lnTo>
                <a:lnTo>
                  <a:pt x="6169025" y="0"/>
                </a:lnTo>
                <a:close/>
              </a:path>
            </a:pathLst>
          </a:custGeom>
          <a:solidFill>
            <a:srgbClr val="3C849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形状 52"/>
          <p:cNvSpPr/>
          <p:nvPr/>
        </p:nvSpPr>
        <p:spPr>
          <a:xfrm>
            <a:off x="6037580" y="3380740"/>
            <a:ext cx="6154420" cy="847964"/>
          </a:xfrm>
          <a:custGeom>
            <a:avLst/>
            <a:gdLst>
              <a:gd name="connsiteX0" fmla="*/ 0 w 6154420"/>
              <a:gd name="connsiteY0" fmla="*/ 0 h 847964"/>
              <a:gd name="connsiteX1" fmla="*/ 6154420 w 6154420"/>
              <a:gd name="connsiteY1" fmla="*/ 279190 h 847964"/>
              <a:gd name="connsiteX2" fmla="*/ 6154420 w 6154420"/>
              <a:gd name="connsiteY2" fmla="*/ 847964 h 847964"/>
            </a:gdLst>
            <a:ahLst/>
            <a:cxnLst>
              <a:cxn ang="0">
                <a:pos x="connsiteX0" y="connsiteY0"/>
              </a:cxn>
              <a:cxn ang="0">
                <a:pos x="connsiteX1" y="connsiteY1"/>
              </a:cxn>
              <a:cxn ang="0">
                <a:pos x="connsiteX2" y="connsiteY2"/>
              </a:cxn>
            </a:cxnLst>
            <a:rect l="l" t="t" r="r" b="b"/>
            <a:pathLst>
              <a:path w="6154420" h="847964">
                <a:moveTo>
                  <a:pt x="0" y="0"/>
                </a:moveTo>
                <a:lnTo>
                  <a:pt x="6154420" y="279190"/>
                </a:lnTo>
                <a:lnTo>
                  <a:pt x="6154420" y="847964"/>
                </a:lnTo>
                <a:close/>
              </a:path>
            </a:pathLst>
          </a:custGeom>
          <a:solidFill>
            <a:srgbClr val="3C849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任意多边形: 形状 50"/>
          <p:cNvSpPr/>
          <p:nvPr/>
        </p:nvSpPr>
        <p:spPr>
          <a:xfrm>
            <a:off x="6072776" y="3380738"/>
            <a:ext cx="6119224" cy="1055961"/>
          </a:xfrm>
          <a:custGeom>
            <a:avLst/>
            <a:gdLst>
              <a:gd name="connsiteX0" fmla="*/ 0 w 6119224"/>
              <a:gd name="connsiteY0" fmla="*/ 0 h 1055961"/>
              <a:gd name="connsiteX1" fmla="*/ 6119224 w 6119224"/>
              <a:gd name="connsiteY1" fmla="*/ 489007 h 1055961"/>
              <a:gd name="connsiteX2" fmla="*/ 6119224 w 6119224"/>
              <a:gd name="connsiteY2" fmla="*/ 1055961 h 1055961"/>
            </a:gdLst>
            <a:ahLst/>
            <a:cxnLst>
              <a:cxn ang="0">
                <a:pos x="connsiteX0" y="connsiteY0"/>
              </a:cxn>
              <a:cxn ang="0">
                <a:pos x="connsiteX1" y="connsiteY1"/>
              </a:cxn>
              <a:cxn ang="0">
                <a:pos x="connsiteX2" y="connsiteY2"/>
              </a:cxn>
            </a:cxnLst>
            <a:rect l="l" t="t" r="r" b="b"/>
            <a:pathLst>
              <a:path w="6119224" h="1055961">
                <a:moveTo>
                  <a:pt x="0" y="0"/>
                </a:moveTo>
                <a:lnTo>
                  <a:pt x="6119224" y="489007"/>
                </a:lnTo>
                <a:lnTo>
                  <a:pt x="6119224" y="1055961"/>
                </a:lnTo>
                <a:close/>
              </a:path>
            </a:pathLst>
          </a:custGeom>
          <a:solidFill>
            <a:srgbClr val="202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任意多边形: 形状 56"/>
          <p:cNvSpPr/>
          <p:nvPr/>
        </p:nvSpPr>
        <p:spPr>
          <a:xfrm rot="9900000">
            <a:off x="-104378" y="3109298"/>
            <a:ext cx="6264999" cy="1106676"/>
          </a:xfrm>
          <a:custGeom>
            <a:avLst/>
            <a:gdLst>
              <a:gd name="connsiteX0" fmla="*/ 0 w 6352117"/>
              <a:gd name="connsiteY0" fmla="*/ 0 h 1112762"/>
              <a:gd name="connsiteX1" fmla="*/ 6352117 w 6352117"/>
              <a:gd name="connsiteY1" fmla="*/ 568538 h 1112762"/>
              <a:gd name="connsiteX2" fmla="*/ 6206293 w 6352117"/>
              <a:gd name="connsiteY2" fmla="*/ 1112762 h 1112762"/>
              <a:gd name="connsiteX0-1" fmla="*/ 0 w 6200760"/>
              <a:gd name="connsiteY0-2" fmla="*/ 0 h 1079602"/>
              <a:gd name="connsiteX1-3" fmla="*/ 6200760 w 6200760"/>
              <a:gd name="connsiteY1-4" fmla="*/ 535378 h 1079602"/>
              <a:gd name="connsiteX2-5" fmla="*/ 6054936 w 6200760"/>
              <a:gd name="connsiteY2-6" fmla="*/ 1079602 h 1079602"/>
              <a:gd name="connsiteX3" fmla="*/ 0 w 6200760"/>
              <a:gd name="connsiteY3" fmla="*/ 0 h 1079602"/>
              <a:gd name="connsiteX0-7" fmla="*/ 0 w 6264999"/>
              <a:gd name="connsiteY0-8" fmla="*/ 0 h 1106676"/>
              <a:gd name="connsiteX1-9" fmla="*/ 6264999 w 6264999"/>
              <a:gd name="connsiteY1-10" fmla="*/ 562452 h 1106676"/>
              <a:gd name="connsiteX2-11" fmla="*/ 6119175 w 6264999"/>
              <a:gd name="connsiteY2-12" fmla="*/ 1106676 h 1106676"/>
              <a:gd name="connsiteX3-13" fmla="*/ 0 w 6264999"/>
              <a:gd name="connsiteY3-14" fmla="*/ 0 h 1106676"/>
            </a:gdLst>
            <a:ahLst/>
            <a:cxnLst>
              <a:cxn ang="0">
                <a:pos x="connsiteX0-1" y="connsiteY0-2"/>
              </a:cxn>
              <a:cxn ang="0">
                <a:pos x="connsiteX1-3" y="connsiteY1-4"/>
              </a:cxn>
              <a:cxn ang="0">
                <a:pos x="connsiteX2-5" y="connsiteY2-6"/>
              </a:cxn>
              <a:cxn ang="0">
                <a:pos x="connsiteX3-13" y="connsiteY3-14"/>
              </a:cxn>
            </a:cxnLst>
            <a:rect l="l" t="t" r="r" b="b"/>
            <a:pathLst>
              <a:path w="6264999" h="1106676">
                <a:moveTo>
                  <a:pt x="0" y="0"/>
                </a:moveTo>
                <a:lnTo>
                  <a:pt x="6264999" y="562452"/>
                </a:lnTo>
                <a:lnTo>
                  <a:pt x="6119175" y="1106676"/>
                </a:lnTo>
                <a:lnTo>
                  <a:pt x="0" y="0"/>
                </a:lnTo>
                <a:close/>
              </a:path>
            </a:pathLst>
          </a:custGeom>
          <a:solidFill>
            <a:srgbClr val="202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标题 3"/>
          <p:cNvSpPr>
            <a:spLocks noGrp="1"/>
          </p:cNvSpPr>
          <p:nvPr>
            <p:ph type="ctrTitle"/>
          </p:nvPr>
        </p:nvSpPr>
        <p:spPr>
          <a:xfrm>
            <a:off x="2774268" y="4741301"/>
            <a:ext cx="6670676" cy="1237197"/>
          </a:xfrm>
        </p:spPr>
        <p:txBody>
          <a:bodyPr>
            <a:normAutofit fontScale="90000"/>
          </a:bodyPr>
          <a:lstStyle/>
          <a:p>
            <a:pPr algn="ctr"/>
            <a:r>
              <a:rPr lang="zh-CN" altLang="en-US" sz="4890" dirty="0">
                <a:solidFill>
                  <a:srgbClr val="08071F">
                    <a:alpha val="30000"/>
                  </a:srgbClr>
                </a:solidFill>
                <a:latin typeface="Impact" panose="020B0806030902050204" pitchFamily="34" charset="0"/>
                <a:cs typeface="+mn-cs"/>
              </a:rPr>
              <a:t>多模态临床推理 </a:t>
            </a:r>
            <a:r>
              <a:rPr lang="en-US" altLang="zh-CN" sz="4890" dirty="0">
                <a:solidFill>
                  <a:srgbClr val="08071F">
                    <a:alpha val="30000"/>
                  </a:srgbClr>
                </a:solidFill>
                <a:latin typeface="Impact" panose="020B0806030902050204" pitchFamily="34" charset="0"/>
                <a:cs typeface="+mn-cs"/>
              </a:rPr>
              <a:t>Benchmark </a:t>
            </a:r>
            <a:r>
              <a:rPr lang="zh-CN" altLang="en-US" sz="4890" dirty="0">
                <a:solidFill>
                  <a:srgbClr val="08071F">
                    <a:alpha val="30000"/>
                  </a:srgbClr>
                </a:solidFill>
                <a:latin typeface="Impact" panose="020B0806030902050204" pitchFamily="34" charset="0"/>
                <a:cs typeface="+mn-cs"/>
              </a:rPr>
              <a:t>构建方案</a:t>
            </a:r>
            <a:endParaRPr lang="en-US" altLang="zh-CN" sz="4890" dirty="0">
              <a:solidFill>
                <a:srgbClr val="08071F">
                  <a:alpha val="30000"/>
                </a:srgbClr>
              </a:solidFill>
              <a:latin typeface="Impact" panose="020B0806030902050204" pitchFamily="34" charset="0"/>
              <a:cs typeface="+mn-cs"/>
            </a:endParaRPr>
          </a:p>
        </p:txBody>
      </p:sp>
      <p:pic>
        <p:nvPicPr>
          <p:cNvPr id="2" name="图片 1" descr="C:\Users\xin\Desktop\中科大.png中科大"/>
          <p:cNvPicPr>
            <a:picLocks noChangeAspect="1"/>
          </p:cNvPicPr>
          <p:nvPr/>
        </p:nvPicPr>
        <p:blipFill>
          <a:blip r:embed="rId4"/>
          <a:srcRect/>
          <a:stretch>
            <a:fillRect/>
          </a:stretch>
        </p:blipFill>
        <p:spPr>
          <a:xfrm>
            <a:off x="5566410" y="3498215"/>
            <a:ext cx="1061085" cy="1061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6AB69E-E94F-C365-2C75-93FC7282BF6C}"/>
              </a:ext>
            </a:extLst>
          </p:cNvPr>
          <p:cNvSpPr>
            <a:spLocks noGrp="1"/>
          </p:cNvSpPr>
          <p:nvPr>
            <p:ph type="title"/>
          </p:nvPr>
        </p:nvSpPr>
        <p:spPr/>
        <p:txBody>
          <a:bodyPr/>
          <a:lstStyle/>
          <a:p>
            <a:r>
              <a:rPr lang="en-US" altLang="zh-CN" dirty="0"/>
              <a:t>Background and Motivation</a:t>
            </a:r>
            <a:endParaRPr lang="zh-CN" altLang="en-US" dirty="0"/>
          </a:p>
        </p:txBody>
      </p:sp>
      <p:sp>
        <p:nvSpPr>
          <p:cNvPr id="4" name="灯片编号占位符 3">
            <a:extLst>
              <a:ext uri="{FF2B5EF4-FFF2-40B4-BE49-F238E27FC236}">
                <a16:creationId xmlns:a16="http://schemas.microsoft.com/office/drawing/2014/main" id="{5D3F2362-5AD4-299A-09E5-1FCCCEBBF76A}"/>
              </a:ext>
            </a:extLst>
          </p:cNvPr>
          <p:cNvSpPr>
            <a:spLocks noGrp="1"/>
          </p:cNvSpPr>
          <p:nvPr>
            <p:ph type="sldNum" sz="quarter" idx="12"/>
          </p:nvPr>
        </p:nvSpPr>
        <p:spPr/>
        <p:txBody>
          <a:bodyPr/>
          <a:lstStyle/>
          <a:p>
            <a:fld id="{5DD3DB80-B894-403A-B48E-6FDC1A72010E}" type="slidenum">
              <a:rPr lang="zh-CN" altLang="en-US" smtClean="0"/>
              <a:t>2</a:t>
            </a:fld>
            <a:endParaRPr lang="zh-CN" altLang="en-US"/>
          </a:p>
        </p:txBody>
      </p:sp>
      <p:sp>
        <p:nvSpPr>
          <p:cNvPr id="8" name="文本框 7">
            <a:extLst>
              <a:ext uri="{FF2B5EF4-FFF2-40B4-BE49-F238E27FC236}">
                <a16:creationId xmlns:a16="http://schemas.microsoft.com/office/drawing/2014/main" id="{B5C08580-8591-00E7-34CB-9B29D9FC3291}"/>
              </a:ext>
            </a:extLst>
          </p:cNvPr>
          <p:cNvSpPr txBox="1"/>
          <p:nvPr/>
        </p:nvSpPr>
        <p:spPr>
          <a:xfrm>
            <a:off x="1174595" y="1374768"/>
            <a:ext cx="9723864" cy="5078313"/>
          </a:xfrm>
          <a:prstGeom prst="rect">
            <a:avLst/>
          </a:prstGeom>
          <a:noFill/>
        </p:spPr>
        <p:txBody>
          <a:bodyPr wrap="square">
            <a:spAutoFit/>
          </a:bodyPr>
          <a:lstStyle/>
          <a:p>
            <a:r>
              <a:rPr lang="zh-CN" altLang="en-US" dirty="0"/>
              <a:t>现有医疗多模态⼤模型（</a:t>
            </a:r>
            <a:r>
              <a:rPr lang="en-US" altLang="zh-CN" dirty="0"/>
              <a:t>Medical MLLMs</a:t>
            </a:r>
            <a:r>
              <a:rPr lang="zh-CN" altLang="en-US" dirty="0"/>
              <a:t>）评测，⼤多聚焦于最终答案的正确性，例如疾病分类、诊断问答、 报告⽣成等。近期⼀些⼯作开始引入 </a:t>
            </a:r>
            <a:r>
              <a:rPr lang="en-US" altLang="zh-CN" dirty="0"/>
              <a:t>Chain-of-Thought</a:t>
            </a:r>
            <a:r>
              <a:rPr lang="zh-CN" altLang="en-US" dirty="0"/>
              <a:t>（</a:t>
            </a:r>
            <a:r>
              <a:rPr lang="en-US" altLang="zh-CN" dirty="0" err="1"/>
              <a:t>CoT</a:t>
            </a:r>
            <a:r>
              <a:rPr lang="zh-CN" altLang="en-US" dirty="0"/>
              <a:t>）评测，希望通过分析中间推理步骤来评价模型 的“思维过程”。然⽽，这类评测仍然存在明显局限。</a:t>
            </a:r>
            <a:endParaRPr lang="en-US" altLang="zh-CN" dirty="0"/>
          </a:p>
          <a:p>
            <a:r>
              <a:rPr lang="zh-CN" altLang="en-US" dirty="0"/>
              <a:t> </a:t>
            </a:r>
            <a:endParaRPr lang="en-US" altLang="zh-CN" dirty="0"/>
          </a:p>
          <a:p>
            <a:r>
              <a:rPr lang="zh-CN" altLang="en-US" dirty="0"/>
              <a:t>⾸先，⾃由形式的 </a:t>
            </a:r>
            <a:r>
              <a:rPr lang="en-US" altLang="zh-CN" dirty="0" err="1"/>
              <a:t>CoT</a:t>
            </a:r>
            <a:r>
              <a:rPr lang="en-US" altLang="zh-CN" dirty="0"/>
              <a:t> </a:t>
            </a:r>
            <a:r>
              <a:rPr lang="zh-CN" altLang="en-US" dirty="0"/>
              <a:t>并不等同于临床思维过程。在真实医疗场景中，医⽣的诊断推理并非对图像或病例进⾏ 任意的逐步描述，⽽往往是在临床指南、诊疗规范、⻛险分层标准和检查适应证的约束下进⾏。也就是说，真实临床推理具有较强的路径性、规范性与决策性，⽽不仅仅是语⾔层⾯的“解释链”。 </a:t>
            </a:r>
            <a:endParaRPr lang="en-US" altLang="zh-CN" dirty="0"/>
          </a:p>
          <a:p>
            <a:endParaRPr lang="en-US" altLang="zh-CN" dirty="0"/>
          </a:p>
          <a:p>
            <a:r>
              <a:rPr lang="zh-CN" altLang="en-US" dirty="0"/>
              <a:t>其次，临床推理本质上是动态的序列过程，⽽不是静态的⼀次性回答。医⽣通常在信息不完整的情况下，先根据主诉、既往史和初步检查建立鉴别诊断，再决定下⼀步检查；随着新证据不断出现，诊断假设被更新、确认 或否定，最终形成诊断与管理决策。因此，真实临床推理是⼀个“信息获取</a:t>
            </a:r>
            <a:r>
              <a:rPr lang="en-US" altLang="zh-CN" dirty="0"/>
              <a:t>—</a:t>
            </a:r>
            <a:r>
              <a:rPr lang="zh-CN" altLang="en-US" dirty="0"/>
              <a:t>证据整合</a:t>
            </a:r>
            <a:r>
              <a:rPr lang="en-US" altLang="zh-CN" dirty="0"/>
              <a:t>—</a:t>
            </a:r>
            <a:r>
              <a:rPr lang="zh-CN" altLang="en-US" dirty="0"/>
              <a:t>诊断更新</a:t>
            </a:r>
            <a:r>
              <a:rPr lang="en-US" altLang="zh-CN" dirty="0"/>
              <a:t>—</a:t>
            </a:r>
            <a:r>
              <a:rPr lang="zh-CN" altLang="en-US" dirty="0"/>
              <a:t>下⼀步决 策”的</a:t>
            </a:r>
            <a:r>
              <a:rPr lang="zh-CN" altLang="en-US" b="1" dirty="0"/>
              <a:t>闭环过程</a:t>
            </a:r>
            <a:r>
              <a:rPr lang="zh-CN" altLang="en-US" dirty="0"/>
              <a:t>，⽽不是在看到全部信息后对答案进⾏事后解释。 </a:t>
            </a:r>
            <a:endParaRPr lang="en-US" altLang="zh-CN" dirty="0"/>
          </a:p>
          <a:p>
            <a:endParaRPr lang="en-US" altLang="zh-CN" dirty="0"/>
          </a:p>
          <a:p>
            <a:r>
              <a:rPr lang="zh-CN" altLang="en-US" dirty="0"/>
              <a:t>基于以上观察，我们认为，现有 </a:t>
            </a:r>
            <a:r>
              <a:rPr lang="en-US" altLang="zh-CN" dirty="0" err="1"/>
              <a:t>CoT</a:t>
            </a:r>
            <a:r>
              <a:rPr lang="en-US" altLang="zh-CN" dirty="0"/>
              <a:t> benchmark </a:t>
            </a:r>
            <a:r>
              <a:rPr lang="zh-CN" altLang="en-US" dirty="0"/>
              <a:t>虽然能够评测模型的文本化推理表述能⼒，但并未真正触及医 疗领域的临床思维本质。因此，有必要构建⼀个新的评测框架，将医疗推理从“静态⾃由文本</a:t>
            </a:r>
            <a:r>
              <a:rPr lang="zh-CN" altLang="en-US" b="1" dirty="0"/>
              <a:t>解释</a:t>
            </a:r>
            <a:r>
              <a:rPr lang="zh-CN" altLang="en-US" dirty="0"/>
              <a:t>”推进到“</a:t>
            </a:r>
            <a:r>
              <a:rPr lang="zh-CN" altLang="en-US" b="1" dirty="0"/>
              <a:t>指南约束</a:t>
            </a:r>
            <a:r>
              <a:rPr lang="zh-CN" altLang="en-US" dirty="0"/>
              <a:t>下的</a:t>
            </a:r>
            <a:r>
              <a:rPr lang="zh-CN" altLang="en-US" b="1" dirty="0"/>
              <a:t>动态临床决策</a:t>
            </a:r>
            <a:r>
              <a:rPr lang="zh-CN" altLang="en-US" dirty="0"/>
              <a:t>过程评测”。</a:t>
            </a:r>
          </a:p>
        </p:txBody>
      </p:sp>
      <p:pic>
        <p:nvPicPr>
          <p:cNvPr id="9" name="图片 8" descr="C:\Users\xin\Desktop\中科大.png中科大">
            <a:extLst>
              <a:ext uri="{FF2B5EF4-FFF2-40B4-BE49-F238E27FC236}">
                <a16:creationId xmlns:a16="http://schemas.microsoft.com/office/drawing/2014/main" id="{C576CA66-BD89-34F0-BBE8-972FFC3D19F8}"/>
              </a:ext>
            </a:extLst>
          </p:cNvPr>
          <p:cNvPicPr>
            <a:picLocks noChangeAspect="1"/>
          </p:cNvPicPr>
          <p:nvPr/>
        </p:nvPicPr>
        <p:blipFill>
          <a:blip r:embed="rId2"/>
          <a:srcRect/>
          <a:stretch>
            <a:fillRect/>
          </a:stretch>
        </p:blipFill>
        <p:spPr>
          <a:xfrm>
            <a:off x="10857865" y="252730"/>
            <a:ext cx="878840" cy="879475"/>
          </a:xfrm>
          <a:prstGeom prst="rect">
            <a:avLst/>
          </a:prstGeom>
        </p:spPr>
      </p:pic>
    </p:spTree>
    <p:extLst>
      <p:ext uri="{BB962C8B-B14F-4D97-AF65-F5344CB8AC3E}">
        <p14:creationId xmlns:p14="http://schemas.microsoft.com/office/powerpoint/2010/main" val="1415382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6426F-ABE9-348F-9473-7664BC82C669}"/>
              </a:ext>
            </a:extLst>
          </p:cNvPr>
          <p:cNvSpPr>
            <a:spLocks noGrp="1"/>
          </p:cNvSpPr>
          <p:nvPr>
            <p:ph type="title"/>
          </p:nvPr>
        </p:nvSpPr>
        <p:spPr/>
        <p:txBody>
          <a:bodyPr/>
          <a:lstStyle/>
          <a:p>
            <a:r>
              <a:rPr lang="en-US" altLang="zh-CN" b="1" i="0" dirty="0">
                <a:solidFill>
                  <a:srgbClr val="0A0A0A"/>
                </a:solidFill>
                <a:effectLst/>
                <a:latin typeface="Arial" panose="020B0604020202020204" pitchFamily="34" charset="0"/>
              </a:rPr>
              <a:t>NCCN </a:t>
            </a:r>
            <a:r>
              <a:rPr lang="zh-CN" altLang="en-US" b="1" i="0" dirty="0">
                <a:solidFill>
                  <a:srgbClr val="0A0A0A"/>
                </a:solidFill>
                <a:effectLst/>
                <a:latin typeface="Arial" panose="020B0604020202020204" pitchFamily="34" charset="0"/>
              </a:rPr>
              <a:t>头颈癌临床实践指南 </a:t>
            </a:r>
            <a:r>
              <a:rPr lang="en-US" altLang="zh-CN" b="1" i="0" dirty="0">
                <a:solidFill>
                  <a:srgbClr val="0A0A0A"/>
                </a:solidFill>
                <a:effectLst/>
                <a:latin typeface="Arial" panose="020B0604020202020204" pitchFamily="34" charset="0"/>
              </a:rPr>
              <a:t>(2026.V1)</a:t>
            </a:r>
            <a:endParaRPr lang="zh-CN" altLang="en-US" dirty="0"/>
          </a:p>
        </p:txBody>
      </p:sp>
      <p:sp>
        <p:nvSpPr>
          <p:cNvPr id="4" name="灯片编号占位符 3">
            <a:extLst>
              <a:ext uri="{FF2B5EF4-FFF2-40B4-BE49-F238E27FC236}">
                <a16:creationId xmlns:a16="http://schemas.microsoft.com/office/drawing/2014/main" id="{23536276-D954-B654-1539-6980FF6F4738}"/>
              </a:ext>
            </a:extLst>
          </p:cNvPr>
          <p:cNvSpPr>
            <a:spLocks noGrp="1"/>
          </p:cNvSpPr>
          <p:nvPr>
            <p:ph type="sldNum" sz="quarter" idx="12"/>
          </p:nvPr>
        </p:nvSpPr>
        <p:spPr/>
        <p:txBody>
          <a:bodyPr/>
          <a:lstStyle/>
          <a:p>
            <a:fld id="{5DD3DB80-B894-403A-B48E-6FDC1A72010E}" type="slidenum">
              <a:rPr lang="zh-CN" altLang="en-US" smtClean="0"/>
              <a:t>3</a:t>
            </a:fld>
            <a:endParaRPr lang="zh-CN" altLang="en-US"/>
          </a:p>
        </p:txBody>
      </p:sp>
      <p:sp>
        <p:nvSpPr>
          <p:cNvPr id="5" name="Rectangle 1">
            <a:extLst>
              <a:ext uri="{FF2B5EF4-FFF2-40B4-BE49-F238E27FC236}">
                <a16:creationId xmlns:a16="http://schemas.microsoft.com/office/drawing/2014/main" id="{211AFDB7-C599-D508-D1CB-FD06060E7054}"/>
              </a:ext>
            </a:extLst>
          </p:cNvPr>
          <p:cNvSpPr>
            <a:spLocks noChangeArrowheads="1"/>
          </p:cNvSpPr>
          <p:nvPr/>
        </p:nvSpPr>
        <p:spPr bwMode="auto">
          <a:xfrm>
            <a:off x="669924" y="1302767"/>
            <a:ext cx="933605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800" b="0" i="0" u="none" strike="noStrike" cap="none" normalizeH="0" baseline="0" dirty="0">
                <a:ln>
                  <a:noFill/>
                </a:ln>
                <a:solidFill>
                  <a:schemeClr val="tx1"/>
                </a:solidFill>
                <a:effectLst/>
                <a:latin typeface="Arial" panose="020B0604020202020204" pitchFamily="34" charset="0"/>
              </a:rPr>
              <a:t>NCCN（美国国立综合癌症网络）指南是全球公认的肿瘤临床实践权威标准 。</a:t>
            </a:r>
          </a:p>
          <a:p>
            <a:pPr marL="0" marR="0" lvl="0" indent="0" algn="l" defTabSz="914400" rtl="0" eaLnBrk="0" fontAlgn="base" latinLnBrk="0" hangingPunct="0">
              <a:lnSpc>
                <a:spcPct val="100000"/>
              </a:lnSpc>
              <a:spcBef>
                <a:spcPct val="0"/>
              </a:spcBef>
              <a:spcAft>
                <a:spcPct val="0"/>
              </a:spcAft>
              <a:buClrTx/>
              <a:buSzTx/>
              <a:tabLst/>
            </a:pPr>
            <a:r>
              <a:rPr kumimoji="0" lang="zh-CN" altLang="zh-CN" sz="1800" b="0" i="0" u="none" strike="noStrike" cap="none" normalizeH="0" baseline="0" dirty="0">
                <a:ln>
                  <a:noFill/>
                </a:ln>
                <a:solidFill>
                  <a:schemeClr val="tx1"/>
                </a:solidFill>
                <a:effectLst/>
                <a:latin typeface="Arial" panose="020B0604020202020204" pitchFamily="34" charset="0"/>
              </a:rPr>
              <a:t>它包含了高度精细化的诊疗决策树，代表了当前肿瘤学界最新、最严谨的循证医学共识 。</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pPr>
            <a:r>
              <a:rPr lang="zh-CN" altLang="en-US" b="1" dirty="0"/>
              <a:t>覆盖范畴</a:t>
            </a:r>
            <a:r>
              <a:rPr lang="zh-CN" altLang="en-US" dirty="0"/>
              <a:t>：涵盖唇、</a:t>
            </a:r>
            <a:r>
              <a:rPr lang="zh-CN" altLang="en-US" u="sng" dirty="0"/>
              <a:t>口腔、咽、喉</a:t>
            </a:r>
            <a:r>
              <a:rPr lang="zh-CN" altLang="en-US" dirty="0"/>
              <a:t>、上颌窦</a:t>
            </a:r>
            <a:r>
              <a:rPr lang="en-US" altLang="zh-CN" dirty="0"/>
              <a:t>/</a:t>
            </a:r>
            <a:r>
              <a:rPr lang="zh-CN" altLang="en-US" dirty="0"/>
              <a:t>筛窦、涎腺、黏膜黑色素瘤及原发灶不明转移癌。</a:t>
            </a:r>
            <a:endParaRPr lang="en-US" altLang="zh-CN" dirty="0"/>
          </a:p>
          <a:p>
            <a:pPr eaLnBrk="0" fontAlgn="base" hangingPunct="0">
              <a:spcBef>
                <a:spcPct val="0"/>
              </a:spcBef>
              <a:spcAft>
                <a:spcPct val="0"/>
              </a:spcAft>
            </a:pPr>
            <a:r>
              <a:rPr lang="zh-CN" altLang="en-US" dirty="0"/>
              <a:t>指南强调“</a:t>
            </a:r>
            <a:r>
              <a:rPr lang="zh-CN" altLang="en-US" b="1" dirty="0"/>
              <a:t>影像学 </a:t>
            </a:r>
            <a:r>
              <a:rPr lang="en-US" altLang="zh-CN" b="1" dirty="0"/>
              <a:t>+ </a:t>
            </a:r>
            <a:r>
              <a:rPr lang="zh-CN" altLang="en-US" b="1" dirty="0"/>
              <a:t>病理学 </a:t>
            </a:r>
            <a:r>
              <a:rPr lang="en-US" altLang="zh-CN" b="1" dirty="0"/>
              <a:t>+ </a:t>
            </a:r>
            <a:r>
              <a:rPr lang="zh-CN" altLang="en-US" b="1" dirty="0"/>
              <a:t>功能评估</a:t>
            </a:r>
            <a:r>
              <a:rPr lang="zh-CN" altLang="en-US" dirty="0"/>
              <a:t>”三位一体。</a:t>
            </a:r>
            <a:endParaRPr lang="en-US" altLang="zh-CN" dirty="0"/>
          </a:p>
          <a:p>
            <a:pPr eaLnBrk="0" fontAlgn="base" hangingPunct="0">
              <a:spcBef>
                <a:spcPct val="0"/>
              </a:spcBef>
              <a:spcAft>
                <a:spcPct val="0"/>
              </a:spcAft>
            </a:pPr>
            <a:r>
              <a:rPr lang="zh-CN" altLang="en-US" dirty="0"/>
              <a:t>指南强调多学科综合治疗 </a:t>
            </a:r>
            <a:r>
              <a:rPr lang="en-US" altLang="zh-CN" dirty="0"/>
              <a:t>(MDT)</a:t>
            </a:r>
            <a:r>
              <a:rPr lang="zh-CN" altLang="en-US" dirty="0"/>
              <a:t>，根据肿瘤的分期和部位采取不同的</a:t>
            </a:r>
            <a:r>
              <a:rPr lang="zh-CN" altLang="en-US" b="1" dirty="0"/>
              <a:t>策略</a:t>
            </a:r>
            <a:r>
              <a:rPr lang="zh-CN" altLang="en-US" dirty="0"/>
              <a:t>： </a:t>
            </a:r>
          </a:p>
          <a:p>
            <a:pPr eaLnBrk="0" fontAlgn="base" hangingPunct="0">
              <a:spcBef>
                <a:spcPct val="0"/>
              </a:spcBef>
              <a:spcAft>
                <a:spcPct val="0"/>
              </a:spcAft>
            </a:pPr>
            <a:r>
              <a:rPr lang="zh-CN" altLang="en-US" dirty="0"/>
              <a:t>       早期肿瘤： 通常采用单一模式治疗，如单纯手术或单纯放射治疗，旨在保留功能。</a:t>
            </a:r>
          </a:p>
          <a:p>
            <a:pPr eaLnBrk="0" fontAlgn="base" hangingPunct="0">
              <a:spcBef>
                <a:spcPct val="0"/>
              </a:spcBef>
              <a:spcAft>
                <a:spcPct val="0"/>
              </a:spcAft>
            </a:pPr>
            <a:r>
              <a:rPr lang="zh-CN" altLang="en-US" dirty="0"/>
              <a:t>       局部晚期肿瘤： 往往需要结合手术、放疗和化疗的综合方案。</a:t>
            </a:r>
          </a:p>
          <a:p>
            <a:pPr eaLnBrk="0" fontAlgn="base" hangingPunct="0">
              <a:spcBef>
                <a:spcPct val="0"/>
              </a:spcBef>
              <a:spcAft>
                <a:spcPct val="0"/>
              </a:spcAft>
            </a:pPr>
            <a:r>
              <a:rPr lang="zh-CN" altLang="en-US" dirty="0"/>
              <a:t>       复发或转移性肿瘤： 侧重于系统性治疗（如免疫治疗、靶向治疗）及支持治疗。</a:t>
            </a:r>
            <a:endParaRPr lang="en-US" altLang="zh-CN" dirty="0"/>
          </a:p>
          <a:p>
            <a:pPr eaLnBrk="0" fontAlgn="base" hangingPunct="0">
              <a:spcBef>
                <a:spcPct val="0"/>
              </a:spcBef>
              <a:spcAft>
                <a:spcPct val="0"/>
              </a:spcAft>
            </a:pPr>
            <a:endParaRPr lang="en-US" altLang="zh-CN" dirty="0"/>
          </a:p>
          <a:p>
            <a:pPr eaLnBrk="0" fontAlgn="base" hangingPunct="0">
              <a:spcBef>
                <a:spcPct val="0"/>
              </a:spcBef>
              <a:spcAft>
                <a:spcPct val="0"/>
              </a:spcAft>
            </a:pPr>
            <a:r>
              <a:rPr lang="zh-CN" altLang="en-US" b="1" dirty="0"/>
              <a:t>证据等级：</a:t>
            </a:r>
            <a:r>
              <a:rPr lang="zh-CN" altLang="en-US" dirty="0"/>
              <a:t> 推荐意见分为 </a:t>
            </a:r>
            <a:r>
              <a:rPr lang="en-US" altLang="zh-CN" dirty="0"/>
              <a:t>1 </a:t>
            </a:r>
            <a:r>
              <a:rPr lang="zh-CN" altLang="en-US" dirty="0"/>
              <a:t>类（高水平证据）、</a:t>
            </a:r>
            <a:r>
              <a:rPr lang="en-US" altLang="zh-CN" dirty="0"/>
              <a:t>2A </a:t>
            </a:r>
            <a:r>
              <a:rPr lang="zh-CN" altLang="en-US" dirty="0"/>
              <a:t>类（常用且有共识）、</a:t>
            </a:r>
            <a:r>
              <a:rPr lang="en-US" altLang="zh-CN" dirty="0"/>
              <a:t>2B </a:t>
            </a:r>
            <a:r>
              <a:rPr lang="zh-CN" altLang="en-US" dirty="0"/>
              <a:t>类（有争议但合理）和 </a:t>
            </a:r>
            <a:r>
              <a:rPr lang="en-US" altLang="zh-CN" dirty="0"/>
              <a:t>3 </a:t>
            </a:r>
            <a:r>
              <a:rPr lang="zh-CN" altLang="en-US" dirty="0"/>
              <a:t>类（重大分歧）。</a:t>
            </a:r>
          </a:p>
          <a:p>
            <a:pPr eaLnBrk="0" fontAlgn="base" hangingPunct="0">
              <a:spcBef>
                <a:spcPct val="0"/>
              </a:spcBef>
              <a:spcAft>
                <a:spcPct val="0"/>
              </a:spcAft>
            </a:pPr>
            <a:endParaRPr lang="en-US" altLang="zh-CN" dirty="0"/>
          </a:p>
          <a:p>
            <a:pPr eaLnBrk="0" fontAlgn="base" hangingPunct="0">
              <a:spcBef>
                <a:spcPct val="0"/>
              </a:spcBef>
              <a:spcAft>
                <a:spcPct val="0"/>
              </a:spcAft>
            </a:pPr>
            <a:endParaRPr lang="zh-CN" altLang="en-US" b="1"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7" name="图片 6" descr="C:\Users\xin\Desktop\中科大.png中科大">
            <a:extLst>
              <a:ext uri="{FF2B5EF4-FFF2-40B4-BE49-F238E27FC236}">
                <a16:creationId xmlns:a16="http://schemas.microsoft.com/office/drawing/2014/main" id="{7765753E-AF08-A89D-5F20-E870AEA0CAD2}"/>
              </a:ext>
            </a:extLst>
          </p:cNvPr>
          <p:cNvPicPr>
            <a:picLocks noChangeAspect="1"/>
          </p:cNvPicPr>
          <p:nvPr/>
        </p:nvPicPr>
        <p:blipFill>
          <a:blip r:embed="rId2"/>
          <a:srcRect/>
          <a:stretch>
            <a:fillRect/>
          </a:stretch>
        </p:blipFill>
        <p:spPr>
          <a:xfrm>
            <a:off x="10857865" y="252730"/>
            <a:ext cx="878840" cy="879475"/>
          </a:xfrm>
          <a:prstGeom prst="rect">
            <a:avLst/>
          </a:prstGeom>
        </p:spPr>
      </p:pic>
    </p:spTree>
    <p:extLst>
      <p:ext uri="{BB962C8B-B14F-4D97-AF65-F5344CB8AC3E}">
        <p14:creationId xmlns:p14="http://schemas.microsoft.com/office/powerpoint/2010/main" val="220611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6F3A9C-5BCE-6E69-685B-399DAFAF4C05}"/>
              </a:ext>
            </a:extLst>
          </p:cNvPr>
          <p:cNvSpPr>
            <a:spLocks noGrp="1"/>
          </p:cNvSpPr>
          <p:nvPr>
            <p:ph type="title"/>
          </p:nvPr>
        </p:nvSpPr>
        <p:spPr/>
        <p:txBody>
          <a:bodyPr/>
          <a:lstStyle/>
          <a:p>
            <a:r>
              <a:rPr lang="zh-CN" altLang="en-US" dirty="0"/>
              <a:t>诊疗流程</a:t>
            </a:r>
          </a:p>
        </p:txBody>
      </p:sp>
      <p:sp>
        <p:nvSpPr>
          <p:cNvPr id="4" name="灯片编号占位符 3">
            <a:extLst>
              <a:ext uri="{FF2B5EF4-FFF2-40B4-BE49-F238E27FC236}">
                <a16:creationId xmlns:a16="http://schemas.microsoft.com/office/drawing/2014/main" id="{3C5A6AC7-2251-2846-39DF-02DEEF5399E2}"/>
              </a:ext>
            </a:extLst>
          </p:cNvPr>
          <p:cNvSpPr>
            <a:spLocks noGrp="1"/>
          </p:cNvSpPr>
          <p:nvPr>
            <p:ph type="sldNum" sz="quarter" idx="12"/>
          </p:nvPr>
        </p:nvSpPr>
        <p:spPr/>
        <p:txBody>
          <a:bodyPr/>
          <a:lstStyle/>
          <a:p>
            <a:fld id="{5DD3DB80-B894-403A-B48E-6FDC1A72010E}" type="slidenum">
              <a:rPr lang="zh-CN" altLang="en-US" smtClean="0"/>
              <a:t>4</a:t>
            </a:fld>
            <a:endParaRPr lang="zh-CN" altLang="en-US"/>
          </a:p>
        </p:txBody>
      </p:sp>
      <p:sp>
        <p:nvSpPr>
          <p:cNvPr id="6" name="文本框 5">
            <a:extLst>
              <a:ext uri="{FF2B5EF4-FFF2-40B4-BE49-F238E27FC236}">
                <a16:creationId xmlns:a16="http://schemas.microsoft.com/office/drawing/2014/main" id="{8055ACBD-7E86-3854-4EDA-B5CFB7A0021E}"/>
              </a:ext>
            </a:extLst>
          </p:cNvPr>
          <p:cNvSpPr txBox="1"/>
          <p:nvPr/>
        </p:nvSpPr>
        <p:spPr>
          <a:xfrm>
            <a:off x="669924" y="1028700"/>
            <a:ext cx="9901432" cy="2585323"/>
          </a:xfrm>
          <a:prstGeom prst="rect">
            <a:avLst/>
          </a:prstGeom>
          <a:noFill/>
        </p:spPr>
        <p:txBody>
          <a:bodyPr wrap="square">
            <a:spAutoFit/>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NCCN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流程格式：</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术前</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WORKUP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CLINICAL STAGING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TREATMENT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术中术后（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TREATMENT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CLINICAL STAGING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TREATMENT OF PRIMARY AND NECK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ADJUVANT TREATMENT</a:t>
            </a:r>
          </a:p>
          <a:p>
            <a:pPr algn="just"/>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zh-CN" altLang="en-US" kern="100" dirty="0">
                <a:latin typeface="等线" panose="02010600030101010101" pitchFamily="2" charset="-122"/>
                <a:ea typeface="等线" panose="02010600030101010101" pitchFamily="2" charset="-122"/>
                <a:cs typeface="Times New Roman" panose="02020603050405020304" pitchFamily="18" charset="0"/>
              </a:rPr>
              <a:t>即是：</a:t>
            </a: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基本信息</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临床分期</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初步治疗决策</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手术</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组织切片（检查不良病理特征）</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辅助治疗决策</a:t>
            </a: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E0DA5814-346D-A257-5A85-A143C6B0B492}"/>
              </a:ext>
            </a:extLst>
          </p:cNvPr>
          <p:cNvSpPr txBox="1"/>
          <p:nvPr/>
        </p:nvSpPr>
        <p:spPr>
          <a:xfrm>
            <a:off x="617884" y="3882483"/>
            <a:ext cx="7735283" cy="1754326"/>
          </a:xfrm>
          <a:prstGeom prst="rect">
            <a:avLst/>
          </a:prstGeom>
          <a:noFill/>
        </p:spPr>
        <p:txBody>
          <a:bodyPr wrap="square">
            <a:spAutoFit/>
          </a:bodyPr>
          <a:lstStyle/>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我们的</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任务</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根据决策流程分为</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五步</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       1.</a:t>
            </a:r>
            <a:r>
              <a:rPr lang="zh-CN" altLang="en-US" kern="100" dirty="0">
                <a:latin typeface="等线" panose="02010600030101010101" pitchFamily="2" charset="-122"/>
                <a:ea typeface="等线" panose="02010600030101010101" pitchFamily="2" charset="-122"/>
                <a:cs typeface="Times New Roman" panose="02020603050405020304" pitchFamily="18" charset="0"/>
              </a:rPr>
              <a:t>根据</a:t>
            </a:r>
            <a:r>
              <a:rPr lang="en-US" altLang="zh-CN" kern="100" dirty="0">
                <a:latin typeface="等线" panose="02010600030101010101" pitchFamily="2" charset="-122"/>
                <a:ea typeface="等线" panose="02010600030101010101" pitchFamily="2" charset="-122"/>
                <a:cs typeface="Times New Roman" panose="02020603050405020304" pitchFamily="18" charset="0"/>
              </a:rPr>
              <a:t>workup</a:t>
            </a:r>
            <a:r>
              <a:rPr lang="zh-CN" altLang="en-US" kern="100" dirty="0">
                <a:latin typeface="等线" panose="02010600030101010101" pitchFamily="2" charset="-122"/>
                <a:ea typeface="等线" panose="02010600030101010101" pitchFamily="2" charset="-122"/>
                <a:cs typeface="Times New Roman" panose="02020603050405020304" pitchFamily="18" charset="0"/>
              </a:rPr>
              <a:t>（患者信息）推导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CLINICAL STAGING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cT,cN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       2.</a:t>
            </a:r>
            <a:r>
              <a:rPr lang="zh-CN" altLang="en-US" kern="100" dirty="0">
                <a:latin typeface="等线" panose="02010600030101010101" pitchFamily="2" charset="-122"/>
                <a:ea typeface="等线" panose="02010600030101010101" pitchFamily="2" charset="-122"/>
                <a:cs typeface="Times New Roman" panose="02020603050405020304" pitchFamily="18" charset="0"/>
              </a:rPr>
              <a:t>根据</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CLINICAL STAGING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推导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TREATMENT</a:t>
            </a:r>
          </a:p>
          <a:p>
            <a:pPr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       3.</a:t>
            </a:r>
            <a:r>
              <a:rPr lang="zh-CN" altLang="en-US" kern="100" dirty="0">
                <a:latin typeface="等线" panose="02010600030101010101" pitchFamily="2" charset="-122"/>
                <a:ea typeface="等线" panose="02010600030101010101" pitchFamily="2" charset="-122"/>
                <a:cs typeface="Times New Roman" panose="02020603050405020304" pitchFamily="18" charset="0"/>
              </a:rPr>
              <a:t>根据实际手术信息推导不良病理特征信息</a:t>
            </a: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4.</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根据术后组织切片</a:t>
            </a:r>
            <a:r>
              <a:rPr lang="zh-CN" altLang="en-US" kern="100" dirty="0">
                <a:latin typeface="等线" panose="02010600030101010101" pitchFamily="2" charset="-122"/>
                <a:ea typeface="等线" panose="02010600030101010101" pitchFamily="2" charset="-122"/>
                <a:cs typeface="Times New Roman" panose="02020603050405020304" pitchFamily="18" charset="0"/>
              </a:rPr>
              <a:t>更新不良病理特征信息</a:t>
            </a: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根据患者病症与</a:t>
            </a:r>
            <a:r>
              <a:rPr lang="zh-CN" altLang="en-US" kern="100" dirty="0">
                <a:latin typeface="等线" panose="02010600030101010101" pitchFamily="2" charset="-122"/>
                <a:ea typeface="等线" panose="02010600030101010101" pitchFamily="2" charset="-122"/>
                <a:cs typeface="Times New Roman" panose="02020603050405020304" pitchFamily="18" charset="0"/>
              </a:rPr>
              <a:t>不良病理特征信息进行</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辅助治疗指南决策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p>
        </p:txBody>
      </p:sp>
      <p:pic>
        <p:nvPicPr>
          <p:cNvPr id="11" name="图片 10" descr="C:\Users\xin\Desktop\中科大.png中科大">
            <a:extLst>
              <a:ext uri="{FF2B5EF4-FFF2-40B4-BE49-F238E27FC236}">
                <a16:creationId xmlns:a16="http://schemas.microsoft.com/office/drawing/2014/main" id="{ED6DC034-0286-DDDB-DA85-E246B301A095}"/>
              </a:ext>
            </a:extLst>
          </p:cNvPr>
          <p:cNvPicPr>
            <a:picLocks noChangeAspect="1"/>
          </p:cNvPicPr>
          <p:nvPr/>
        </p:nvPicPr>
        <p:blipFill>
          <a:blip r:embed="rId2"/>
          <a:srcRect/>
          <a:stretch>
            <a:fillRect/>
          </a:stretch>
        </p:blipFill>
        <p:spPr>
          <a:xfrm>
            <a:off x="10857865" y="252730"/>
            <a:ext cx="878840" cy="879475"/>
          </a:xfrm>
          <a:prstGeom prst="rect">
            <a:avLst/>
          </a:prstGeom>
        </p:spPr>
      </p:pic>
    </p:spTree>
    <p:extLst>
      <p:ext uri="{BB962C8B-B14F-4D97-AF65-F5344CB8AC3E}">
        <p14:creationId xmlns:p14="http://schemas.microsoft.com/office/powerpoint/2010/main" val="2251930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A0996-AFB1-CBA9-CCEC-C23814EEBDBD}"/>
              </a:ext>
            </a:extLst>
          </p:cNvPr>
          <p:cNvSpPr>
            <a:spLocks noGrp="1"/>
          </p:cNvSpPr>
          <p:nvPr>
            <p:ph type="title"/>
          </p:nvPr>
        </p:nvSpPr>
        <p:spPr>
          <a:xfrm>
            <a:off x="0" y="0"/>
            <a:ext cx="10850563" cy="1028699"/>
          </a:xfrm>
        </p:spPr>
        <p:txBody>
          <a:bodyPr/>
          <a:lstStyle/>
          <a:p>
            <a:r>
              <a:rPr lang="en-US" altLang="zh-CN" dirty="0"/>
              <a:t>NCCN</a:t>
            </a:r>
            <a:br>
              <a:rPr lang="en-US" altLang="zh-CN" dirty="0"/>
            </a:br>
            <a:r>
              <a:rPr lang="zh-CN" altLang="en-US" dirty="0"/>
              <a:t>指南信息</a:t>
            </a:r>
          </a:p>
        </p:txBody>
      </p:sp>
      <p:sp>
        <p:nvSpPr>
          <p:cNvPr id="4" name="灯片编号占位符 3">
            <a:extLst>
              <a:ext uri="{FF2B5EF4-FFF2-40B4-BE49-F238E27FC236}">
                <a16:creationId xmlns:a16="http://schemas.microsoft.com/office/drawing/2014/main" id="{1A59EAE3-D27C-A44B-811E-005F5BBB32D7}"/>
              </a:ext>
            </a:extLst>
          </p:cNvPr>
          <p:cNvSpPr>
            <a:spLocks noGrp="1"/>
          </p:cNvSpPr>
          <p:nvPr>
            <p:ph type="sldNum" sz="quarter" idx="12"/>
          </p:nvPr>
        </p:nvSpPr>
        <p:spPr/>
        <p:txBody>
          <a:bodyPr/>
          <a:lstStyle/>
          <a:p>
            <a:fld id="{5DD3DB80-B894-403A-B48E-6FDC1A72010E}" type="slidenum">
              <a:rPr lang="zh-CN" altLang="en-US" smtClean="0"/>
              <a:t>5</a:t>
            </a:fld>
            <a:endParaRPr lang="zh-CN" altLang="en-US"/>
          </a:p>
        </p:txBody>
      </p:sp>
      <p:pic>
        <p:nvPicPr>
          <p:cNvPr id="6" name="图片 5">
            <a:extLst>
              <a:ext uri="{FF2B5EF4-FFF2-40B4-BE49-F238E27FC236}">
                <a16:creationId xmlns:a16="http://schemas.microsoft.com/office/drawing/2014/main" id="{CB536213-CA0A-850B-9F39-DC325602B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8393" y="0"/>
            <a:ext cx="8935213" cy="6858000"/>
          </a:xfrm>
          <a:prstGeom prst="rect">
            <a:avLst/>
          </a:prstGeom>
        </p:spPr>
      </p:pic>
      <p:pic>
        <p:nvPicPr>
          <p:cNvPr id="7" name="图片 6" descr="C:\Users\xin\Desktop\中科大.png中科大">
            <a:extLst>
              <a:ext uri="{FF2B5EF4-FFF2-40B4-BE49-F238E27FC236}">
                <a16:creationId xmlns:a16="http://schemas.microsoft.com/office/drawing/2014/main" id="{ADFEED1E-6695-D043-B1BE-2193B4A12E93}"/>
              </a:ext>
            </a:extLst>
          </p:cNvPr>
          <p:cNvPicPr>
            <a:picLocks noChangeAspect="1"/>
          </p:cNvPicPr>
          <p:nvPr/>
        </p:nvPicPr>
        <p:blipFill>
          <a:blip r:embed="rId3"/>
          <a:srcRect/>
          <a:stretch>
            <a:fillRect/>
          </a:stretch>
        </p:blipFill>
        <p:spPr>
          <a:xfrm>
            <a:off x="10857865" y="252730"/>
            <a:ext cx="878840" cy="879475"/>
          </a:xfrm>
          <a:prstGeom prst="rect">
            <a:avLst/>
          </a:prstGeom>
        </p:spPr>
      </p:pic>
    </p:spTree>
    <p:extLst>
      <p:ext uri="{BB962C8B-B14F-4D97-AF65-F5344CB8AC3E}">
        <p14:creationId xmlns:p14="http://schemas.microsoft.com/office/powerpoint/2010/main" val="1261019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D97710-7262-31D0-2815-0A59AD990A4F}"/>
              </a:ext>
            </a:extLst>
          </p:cNvPr>
          <p:cNvSpPr>
            <a:spLocks noGrp="1"/>
          </p:cNvSpPr>
          <p:nvPr>
            <p:ph type="title"/>
          </p:nvPr>
        </p:nvSpPr>
        <p:spPr>
          <a:xfrm>
            <a:off x="0" y="0"/>
            <a:ext cx="10850563" cy="1028699"/>
          </a:xfrm>
        </p:spPr>
        <p:txBody>
          <a:bodyPr/>
          <a:lstStyle/>
          <a:p>
            <a:r>
              <a:rPr lang="en-US" altLang="zh-CN" dirty="0"/>
              <a:t>NCCN</a:t>
            </a:r>
            <a:br>
              <a:rPr lang="en-US" altLang="zh-CN" dirty="0"/>
            </a:br>
            <a:r>
              <a:rPr lang="zh-CN" altLang="en-US" dirty="0"/>
              <a:t>指南信息</a:t>
            </a:r>
          </a:p>
        </p:txBody>
      </p:sp>
      <p:sp>
        <p:nvSpPr>
          <p:cNvPr id="4" name="灯片编号占位符 3">
            <a:extLst>
              <a:ext uri="{FF2B5EF4-FFF2-40B4-BE49-F238E27FC236}">
                <a16:creationId xmlns:a16="http://schemas.microsoft.com/office/drawing/2014/main" id="{60F36E1C-BB2F-C5D7-6BDC-5499019F4120}"/>
              </a:ext>
            </a:extLst>
          </p:cNvPr>
          <p:cNvSpPr>
            <a:spLocks noGrp="1"/>
          </p:cNvSpPr>
          <p:nvPr>
            <p:ph type="sldNum" sz="quarter" idx="12"/>
          </p:nvPr>
        </p:nvSpPr>
        <p:spPr/>
        <p:txBody>
          <a:bodyPr/>
          <a:lstStyle/>
          <a:p>
            <a:fld id="{5DD3DB80-B894-403A-B48E-6FDC1A72010E}" type="slidenum">
              <a:rPr lang="zh-CN" altLang="en-US" smtClean="0"/>
              <a:t>6</a:t>
            </a:fld>
            <a:endParaRPr lang="zh-CN" altLang="en-US"/>
          </a:p>
        </p:txBody>
      </p:sp>
      <p:pic>
        <p:nvPicPr>
          <p:cNvPr id="6" name="图片 5">
            <a:extLst>
              <a:ext uri="{FF2B5EF4-FFF2-40B4-BE49-F238E27FC236}">
                <a16:creationId xmlns:a16="http://schemas.microsoft.com/office/drawing/2014/main" id="{5EACC4FC-0EE5-709B-DC4F-94984EEEC6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5682" y="0"/>
            <a:ext cx="8880636" cy="6858000"/>
          </a:xfrm>
          <a:prstGeom prst="rect">
            <a:avLst/>
          </a:prstGeom>
        </p:spPr>
      </p:pic>
      <p:pic>
        <p:nvPicPr>
          <p:cNvPr id="7" name="图片 6" descr="C:\Users\xin\Desktop\中科大.png中科大">
            <a:extLst>
              <a:ext uri="{FF2B5EF4-FFF2-40B4-BE49-F238E27FC236}">
                <a16:creationId xmlns:a16="http://schemas.microsoft.com/office/drawing/2014/main" id="{4CBB57B3-7626-6422-DA16-AFF41A7D2BB9}"/>
              </a:ext>
            </a:extLst>
          </p:cNvPr>
          <p:cNvPicPr>
            <a:picLocks noChangeAspect="1"/>
          </p:cNvPicPr>
          <p:nvPr/>
        </p:nvPicPr>
        <p:blipFill>
          <a:blip r:embed="rId3"/>
          <a:srcRect/>
          <a:stretch>
            <a:fillRect/>
          </a:stretch>
        </p:blipFill>
        <p:spPr>
          <a:xfrm>
            <a:off x="10857865" y="252730"/>
            <a:ext cx="878840" cy="879475"/>
          </a:xfrm>
          <a:prstGeom prst="rect">
            <a:avLst/>
          </a:prstGeom>
        </p:spPr>
      </p:pic>
    </p:spTree>
    <p:extLst>
      <p:ext uri="{BB962C8B-B14F-4D97-AF65-F5344CB8AC3E}">
        <p14:creationId xmlns:p14="http://schemas.microsoft.com/office/powerpoint/2010/main" val="1353470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D97710-7262-31D0-2815-0A59AD990A4F}"/>
              </a:ext>
            </a:extLst>
          </p:cNvPr>
          <p:cNvSpPr>
            <a:spLocks noGrp="1"/>
          </p:cNvSpPr>
          <p:nvPr>
            <p:ph type="title"/>
          </p:nvPr>
        </p:nvSpPr>
        <p:spPr>
          <a:xfrm>
            <a:off x="0" y="0"/>
            <a:ext cx="10850563" cy="1028699"/>
          </a:xfrm>
        </p:spPr>
        <p:txBody>
          <a:bodyPr/>
          <a:lstStyle/>
          <a:p>
            <a:r>
              <a:rPr lang="en-US" altLang="zh-CN" dirty="0"/>
              <a:t>NCCN</a:t>
            </a:r>
            <a:br>
              <a:rPr lang="en-US" altLang="zh-CN" dirty="0"/>
            </a:br>
            <a:r>
              <a:rPr lang="zh-CN" altLang="en-US" dirty="0"/>
              <a:t>指南信息</a:t>
            </a:r>
          </a:p>
        </p:txBody>
      </p:sp>
      <p:sp>
        <p:nvSpPr>
          <p:cNvPr id="4" name="灯片编号占位符 3">
            <a:extLst>
              <a:ext uri="{FF2B5EF4-FFF2-40B4-BE49-F238E27FC236}">
                <a16:creationId xmlns:a16="http://schemas.microsoft.com/office/drawing/2014/main" id="{60F36E1C-BB2F-C5D7-6BDC-5499019F4120}"/>
              </a:ext>
            </a:extLst>
          </p:cNvPr>
          <p:cNvSpPr>
            <a:spLocks noGrp="1"/>
          </p:cNvSpPr>
          <p:nvPr>
            <p:ph type="sldNum" sz="quarter" idx="12"/>
          </p:nvPr>
        </p:nvSpPr>
        <p:spPr/>
        <p:txBody>
          <a:bodyPr/>
          <a:lstStyle/>
          <a:p>
            <a:fld id="{5DD3DB80-B894-403A-B48E-6FDC1A72010E}" type="slidenum">
              <a:rPr lang="zh-CN" altLang="en-US" smtClean="0"/>
              <a:t>7</a:t>
            </a:fld>
            <a:endParaRPr lang="zh-CN" altLang="en-US"/>
          </a:p>
        </p:txBody>
      </p:sp>
      <p:pic>
        <p:nvPicPr>
          <p:cNvPr id="7" name="图片 6">
            <a:extLst>
              <a:ext uri="{FF2B5EF4-FFF2-40B4-BE49-F238E27FC236}">
                <a16:creationId xmlns:a16="http://schemas.microsoft.com/office/drawing/2014/main" id="{B641CBC7-0162-05D9-8F32-C6F3DCE5B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1802" y="0"/>
            <a:ext cx="8908396" cy="6858000"/>
          </a:xfrm>
          <a:prstGeom prst="rect">
            <a:avLst/>
          </a:prstGeom>
        </p:spPr>
      </p:pic>
      <p:pic>
        <p:nvPicPr>
          <p:cNvPr id="8" name="图片 7" descr="C:\Users\xin\Desktop\中科大.png中科大">
            <a:extLst>
              <a:ext uri="{FF2B5EF4-FFF2-40B4-BE49-F238E27FC236}">
                <a16:creationId xmlns:a16="http://schemas.microsoft.com/office/drawing/2014/main" id="{27027636-2D0F-34BC-6431-7A827AA56153}"/>
              </a:ext>
            </a:extLst>
          </p:cNvPr>
          <p:cNvPicPr>
            <a:picLocks noChangeAspect="1"/>
          </p:cNvPicPr>
          <p:nvPr/>
        </p:nvPicPr>
        <p:blipFill>
          <a:blip r:embed="rId3"/>
          <a:srcRect/>
          <a:stretch>
            <a:fillRect/>
          </a:stretch>
        </p:blipFill>
        <p:spPr>
          <a:xfrm>
            <a:off x="10857865" y="252730"/>
            <a:ext cx="878840" cy="879475"/>
          </a:xfrm>
          <a:prstGeom prst="rect">
            <a:avLst/>
          </a:prstGeom>
        </p:spPr>
      </p:pic>
    </p:spTree>
    <p:extLst>
      <p:ext uri="{BB962C8B-B14F-4D97-AF65-F5344CB8AC3E}">
        <p14:creationId xmlns:p14="http://schemas.microsoft.com/office/powerpoint/2010/main" val="491136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数据集简介</a:t>
            </a:r>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t>8</a:t>
            </a:fld>
            <a:endParaRPr lang="zh-CN" altLang="en-US"/>
          </a:p>
        </p:txBody>
      </p:sp>
      <p:grpSp>
        <p:nvGrpSpPr>
          <p:cNvPr id="5" name="af738c60-f0de-49fa-98b5-0eaa980fdd6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0960" y="1028699"/>
            <a:ext cx="12192000" cy="5829300"/>
            <a:chOff x="0" y="1028700"/>
            <a:chExt cx="12192000" cy="5829300"/>
          </a:xfrm>
        </p:grpSpPr>
        <p:grpSp>
          <p:nvGrpSpPr>
            <p:cNvPr id="6" name="ïšḷíḋè"/>
            <p:cNvGrpSpPr/>
            <p:nvPr/>
          </p:nvGrpSpPr>
          <p:grpSpPr>
            <a:xfrm>
              <a:off x="6546000" y="1028700"/>
              <a:ext cx="4139152" cy="5284723"/>
              <a:chOff x="6546000" y="1028700"/>
              <a:chExt cx="4139152" cy="5284723"/>
            </a:xfrm>
          </p:grpSpPr>
          <p:sp>
            <p:nvSpPr>
              <p:cNvPr id="16" name="îṩļîdê"/>
              <p:cNvSpPr/>
              <p:nvPr/>
            </p:nvSpPr>
            <p:spPr>
              <a:xfrm>
                <a:off x="10610049" y="3634981"/>
                <a:ext cx="65506" cy="2678442"/>
              </a:xfrm>
              <a:prstGeom prst="rect">
                <a:avLst/>
              </a:prstGeom>
              <a:gradFill>
                <a:gsLst>
                  <a:gs pos="4581">
                    <a:schemeClr val="tx2">
                      <a:lumMod val="20000"/>
                      <a:lumOff val="80000"/>
                    </a:schemeClr>
                  </a:gs>
                  <a:gs pos="42000">
                    <a:srgbClr val="E9E9EA"/>
                  </a:gs>
                  <a:gs pos="86000">
                    <a:schemeClr val="bg1"/>
                  </a:gs>
                </a:gsLst>
                <a:lin ang="5400000"/>
              </a:gradFill>
              <a:ln w="12700">
                <a:miter lim="400000"/>
              </a:ln>
            </p:spPr>
            <p:txBody>
              <a:bodyPr lIns="71437" tIns="71437" rIns="71437" bIns="71437" anchor="ctr"/>
              <a:lstStyle/>
              <a:p>
                <a:pPr algn="ctr"/>
                <a:endParaRPr sz="3200">
                  <a:solidFill>
                    <a:srgbClr val="FFFFFF"/>
                  </a:solidFill>
                </a:endParaRPr>
              </a:p>
            </p:txBody>
          </p:sp>
          <p:sp>
            <p:nvSpPr>
              <p:cNvPr id="17" name="îšlíḓê"/>
              <p:cNvSpPr/>
              <p:nvPr/>
            </p:nvSpPr>
            <p:spPr>
              <a:xfrm>
                <a:off x="6554589" y="3634981"/>
                <a:ext cx="65506" cy="2678442"/>
              </a:xfrm>
              <a:prstGeom prst="rect">
                <a:avLst/>
              </a:prstGeom>
              <a:gradFill>
                <a:gsLst>
                  <a:gs pos="4581">
                    <a:schemeClr val="tx2">
                      <a:lumMod val="20000"/>
                      <a:lumOff val="80000"/>
                    </a:schemeClr>
                  </a:gs>
                  <a:gs pos="53356">
                    <a:srgbClr val="E9E9EA"/>
                  </a:gs>
                  <a:gs pos="100000">
                    <a:schemeClr val="bg1"/>
                  </a:gs>
                </a:gsLst>
                <a:lin ang="5400000"/>
              </a:gradFill>
              <a:ln w="12700">
                <a:miter lim="400000"/>
              </a:ln>
            </p:spPr>
            <p:txBody>
              <a:bodyPr lIns="71437" tIns="71437" rIns="71437" bIns="71437" anchor="ctr"/>
              <a:lstStyle/>
              <a:p>
                <a:pPr algn="ctr">
                  <a:defRPr sz="3200" cap="none">
                    <a:solidFill>
                      <a:srgbClr val="FFFFFF"/>
                    </a:solidFill>
                  </a:defRPr>
                </a:pPr>
                <a:endParaRPr/>
              </a:p>
            </p:txBody>
          </p:sp>
          <p:sp>
            <p:nvSpPr>
              <p:cNvPr id="18" name="íS1íḋê"/>
              <p:cNvSpPr/>
              <p:nvPr/>
            </p:nvSpPr>
            <p:spPr>
              <a:xfrm>
                <a:off x="9883501" y="2706775"/>
                <a:ext cx="190180" cy="84566"/>
              </a:xfrm>
              <a:custGeom>
                <a:avLst/>
                <a:gdLst/>
                <a:ahLst/>
                <a:cxnLst>
                  <a:cxn ang="0">
                    <a:pos x="wd2" y="hd2"/>
                  </a:cxn>
                  <a:cxn ang="5400000">
                    <a:pos x="wd2" y="hd2"/>
                  </a:cxn>
                  <a:cxn ang="10800000">
                    <a:pos x="wd2" y="hd2"/>
                  </a:cxn>
                  <a:cxn ang="16200000">
                    <a:pos x="wd2" y="hd2"/>
                  </a:cxn>
                </a:cxnLst>
                <a:rect l="0" t="0" r="r" b="b"/>
                <a:pathLst>
                  <a:path w="21600" h="21600" extrusionOk="0">
                    <a:moveTo>
                      <a:pt x="2846" y="0"/>
                    </a:moveTo>
                    <a:lnTo>
                      <a:pt x="18754" y="0"/>
                    </a:lnTo>
                    <a:cubicBezTo>
                      <a:pt x="19162" y="0"/>
                      <a:pt x="19470" y="0"/>
                      <a:pt x="19730" y="39"/>
                    </a:cubicBezTo>
                    <a:cubicBezTo>
                      <a:pt x="19991" y="78"/>
                      <a:pt x="20204" y="157"/>
                      <a:pt x="20424" y="314"/>
                    </a:cubicBezTo>
                    <a:cubicBezTo>
                      <a:pt x="20665" y="511"/>
                      <a:pt x="20880" y="822"/>
                      <a:pt x="21057" y="1220"/>
                    </a:cubicBezTo>
                    <a:cubicBezTo>
                      <a:pt x="21234" y="1618"/>
                      <a:pt x="21373" y="2102"/>
                      <a:pt x="21461" y="2644"/>
                    </a:cubicBezTo>
                    <a:cubicBezTo>
                      <a:pt x="21530" y="3138"/>
                      <a:pt x="21565" y="3619"/>
                      <a:pt x="21583" y="4208"/>
                    </a:cubicBezTo>
                    <a:cubicBezTo>
                      <a:pt x="21600" y="4798"/>
                      <a:pt x="21600" y="5496"/>
                      <a:pt x="21600" y="6428"/>
                    </a:cubicBezTo>
                    <a:lnTo>
                      <a:pt x="21600" y="15201"/>
                    </a:lnTo>
                    <a:cubicBezTo>
                      <a:pt x="21600" y="16118"/>
                      <a:pt x="21600" y="16809"/>
                      <a:pt x="21583" y="17395"/>
                    </a:cubicBezTo>
                    <a:cubicBezTo>
                      <a:pt x="21565" y="17981"/>
                      <a:pt x="21530" y="18462"/>
                      <a:pt x="21461" y="18956"/>
                    </a:cubicBezTo>
                    <a:cubicBezTo>
                      <a:pt x="21373" y="19498"/>
                      <a:pt x="21234" y="19982"/>
                      <a:pt x="21057" y="20380"/>
                    </a:cubicBezTo>
                    <a:cubicBezTo>
                      <a:pt x="20880" y="20778"/>
                      <a:pt x="20665" y="21089"/>
                      <a:pt x="20424" y="21286"/>
                    </a:cubicBezTo>
                    <a:cubicBezTo>
                      <a:pt x="20204" y="21443"/>
                      <a:pt x="19991" y="21522"/>
                      <a:pt x="19729" y="21561"/>
                    </a:cubicBezTo>
                    <a:cubicBezTo>
                      <a:pt x="19467" y="21600"/>
                      <a:pt x="19156" y="21600"/>
                      <a:pt x="18742" y="21600"/>
                    </a:cubicBezTo>
                    <a:lnTo>
                      <a:pt x="2846" y="21600"/>
                    </a:lnTo>
                    <a:cubicBezTo>
                      <a:pt x="2438" y="21600"/>
                      <a:pt x="2130" y="21600"/>
                      <a:pt x="1870" y="21561"/>
                    </a:cubicBezTo>
                    <a:cubicBezTo>
                      <a:pt x="1609" y="21522"/>
                      <a:pt x="1396" y="21443"/>
                      <a:pt x="1176" y="21286"/>
                    </a:cubicBezTo>
                    <a:cubicBezTo>
                      <a:pt x="935" y="21089"/>
                      <a:pt x="720" y="20778"/>
                      <a:pt x="543" y="20380"/>
                    </a:cubicBezTo>
                    <a:cubicBezTo>
                      <a:pt x="366" y="19982"/>
                      <a:pt x="227" y="19498"/>
                      <a:pt x="139" y="18956"/>
                    </a:cubicBezTo>
                    <a:cubicBezTo>
                      <a:pt x="70" y="18462"/>
                      <a:pt x="35" y="17981"/>
                      <a:pt x="17" y="17392"/>
                    </a:cubicBezTo>
                    <a:cubicBezTo>
                      <a:pt x="0" y="16802"/>
                      <a:pt x="0" y="16104"/>
                      <a:pt x="0" y="15172"/>
                    </a:cubicBezTo>
                    <a:lnTo>
                      <a:pt x="0" y="6399"/>
                    </a:lnTo>
                    <a:cubicBezTo>
                      <a:pt x="0" y="5482"/>
                      <a:pt x="0" y="4791"/>
                      <a:pt x="17" y="4205"/>
                    </a:cubicBezTo>
                    <a:cubicBezTo>
                      <a:pt x="35" y="3619"/>
                      <a:pt x="70" y="3138"/>
                      <a:pt x="139" y="2644"/>
                    </a:cubicBezTo>
                    <a:cubicBezTo>
                      <a:pt x="227" y="2102"/>
                      <a:pt x="366" y="1618"/>
                      <a:pt x="543" y="1220"/>
                    </a:cubicBezTo>
                    <a:cubicBezTo>
                      <a:pt x="720" y="822"/>
                      <a:pt x="935" y="511"/>
                      <a:pt x="1176" y="314"/>
                    </a:cubicBezTo>
                    <a:cubicBezTo>
                      <a:pt x="1396" y="157"/>
                      <a:pt x="1609" y="78"/>
                      <a:pt x="1871" y="39"/>
                    </a:cubicBezTo>
                    <a:cubicBezTo>
                      <a:pt x="2133" y="0"/>
                      <a:pt x="2444" y="0"/>
                      <a:pt x="2858" y="0"/>
                    </a:cubicBezTo>
                    <a:lnTo>
                      <a:pt x="2846" y="0"/>
                    </a:lnTo>
                    <a:close/>
                  </a:path>
                </a:pathLst>
              </a:custGeom>
              <a:solidFill>
                <a:srgbClr val="E8E7EA"/>
              </a:solidFill>
              <a:ln w="12700">
                <a:miter lim="400000"/>
              </a:ln>
            </p:spPr>
            <p:txBody>
              <a:bodyPr lIns="71437" tIns="71437" rIns="71437" bIns="71437" anchor="ctr"/>
              <a:lstStyle/>
              <a:p>
                <a:pPr algn="ctr">
                  <a:defRPr sz="3200" cap="none">
                    <a:solidFill>
                      <a:srgbClr val="FFFFFF"/>
                    </a:solidFill>
                  </a:defRPr>
                </a:pPr>
                <a:endParaRPr/>
              </a:p>
            </p:txBody>
          </p:sp>
          <p:sp>
            <p:nvSpPr>
              <p:cNvPr id="19" name="iṩḷíḍê"/>
              <p:cNvSpPr/>
              <p:nvPr/>
            </p:nvSpPr>
            <p:spPr>
              <a:xfrm>
                <a:off x="9300914" y="2485227"/>
                <a:ext cx="190179" cy="84566"/>
              </a:xfrm>
              <a:custGeom>
                <a:avLst/>
                <a:gdLst/>
                <a:ahLst/>
                <a:cxnLst>
                  <a:cxn ang="0">
                    <a:pos x="wd2" y="hd2"/>
                  </a:cxn>
                  <a:cxn ang="5400000">
                    <a:pos x="wd2" y="hd2"/>
                  </a:cxn>
                  <a:cxn ang="10800000">
                    <a:pos x="wd2" y="hd2"/>
                  </a:cxn>
                  <a:cxn ang="16200000">
                    <a:pos x="wd2" y="hd2"/>
                  </a:cxn>
                </a:cxnLst>
                <a:rect l="0" t="0" r="r" b="b"/>
                <a:pathLst>
                  <a:path w="21600" h="21600" extrusionOk="0">
                    <a:moveTo>
                      <a:pt x="2846" y="0"/>
                    </a:moveTo>
                    <a:lnTo>
                      <a:pt x="18754" y="0"/>
                    </a:lnTo>
                    <a:cubicBezTo>
                      <a:pt x="19162" y="0"/>
                      <a:pt x="19470" y="0"/>
                      <a:pt x="19730" y="39"/>
                    </a:cubicBezTo>
                    <a:cubicBezTo>
                      <a:pt x="19991" y="78"/>
                      <a:pt x="20204" y="157"/>
                      <a:pt x="20424" y="314"/>
                    </a:cubicBezTo>
                    <a:cubicBezTo>
                      <a:pt x="20665" y="511"/>
                      <a:pt x="20880" y="822"/>
                      <a:pt x="21057" y="1220"/>
                    </a:cubicBezTo>
                    <a:cubicBezTo>
                      <a:pt x="21234" y="1618"/>
                      <a:pt x="21373" y="2102"/>
                      <a:pt x="21461" y="2644"/>
                    </a:cubicBezTo>
                    <a:cubicBezTo>
                      <a:pt x="21530" y="3138"/>
                      <a:pt x="21565" y="3619"/>
                      <a:pt x="21583" y="4208"/>
                    </a:cubicBezTo>
                    <a:cubicBezTo>
                      <a:pt x="21600" y="4798"/>
                      <a:pt x="21600" y="5496"/>
                      <a:pt x="21600" y="6428"/>
                    </a:cubicBezTo>
                    <a:lnTo>
                      <a:pt x="21600" y="15201"/>
                    </a:lnTo>
                    <a:cubicBezTo>
                      <a:pt x="21600" y="16118"/>
                      <a:pt x="21600" y="16809"/>
                      <a:pt x="21583" y="17395"/>
                    </a:cubicBezTo>
                    <a:cubicBezTo>
                      <a:pt x="21565" y="17981"/>
                      <a:pt x="21530" y="18462"/>
                      <a:pt x="21461" y="18956"/>
                    </a:cubicBezTo>
                    <a:cubicBezTo>
                      <a:pt x="21373" y="19498"/>
                      <a:pt x="21234" y="19982"/>
                      <a:pt x="21057" y="20380"/>
                    </a:cubicBezTo>
                    <a:cubicBezTo>
                      <a:pt x="20880" y="20778"/>
                      <a:pt x="20665" y="21089"/>
                      <a:pt x="20424" y="21286"/>
                    </a:cubicBezTo>
                    <a:cubicBezTo>
                      <a:pt x="20204" y="21443"/>
                      <a:pt x="19991" y="21522"/>
                      <a:pt x="19729" y="21561"/>
                    </a:cubicBezTo>
                    <a:cubicBezTo>
                      <a:pt x="19467" y="21600"/>
                      <a:pt x="19156" y="21600"/>
                      <a:pt x="18742" y="21600"/>
                    </a:cubicBezTo>
                    <a:lnTo>
                      <a:pt x="2846" y="21600"/>
                    </a:lnTo>
                    <a:cubicBezTo>
                      <a:pt x="2438" y="21600"/>
                      <a:pt x="2130" y="21600"/>
                      <a:pt x="1870" y="21561"/>
                    </a:cubicBezTo>
                    <a:cubicBezTo>
                      <a:pt x="1609" y="21522"/>
                      <a:pt x="1396" y="21443"/>
                      <a:pt x="1176" y="21286"/>
                    </a:cubicBezTo>
                    <a:cubicBezTo>
                      <a:pt x="935" y="21089"/>
                      <a:pt x="720" y="20778"/>
                      <a:pt x="543" y="20380"/>
                    </a:cubicBezTo>
                    <a:cubicBezTo>
                      <a:pt x="366" y="19982"/>
                      <a:pt x="227" y="19498"/>
                      <a:pt x="139" y="18956"/>
                    </a:cubicBezTo>
                    <a:cubicBezTo>
                      <a:pt x="70" y="18462"/>
                      <a:pt x="35" y="17981"/>
                      <a:pt x="17" y="17392"/>
                    </a:cubicBezTo>
                    <a:cubicBezTo>
                      <a:pt x="0" y="16802"/>
                      <a:pt x="0" y="16104"/>
                      <a:pt x="0" y="15172"/>
                    </a:cubicBezTo>
                    <a:lnTo>
                      <a:pt x="0" y="6399"/>
                    </a:lnTo>
                    <a:cubicBezTo>
                      <a:pt x="0" y="5482"/>
                      <a:pt x="0" y="4791"/>
                      <a:pt x="17" y="4205"/>
                    </a:cubicBezTo>
                    <a:cubicBezTo>
                      <a:pt x="35" y="3619"/>
                      <a:pt x="70" y="3138"/>
                      <a:pt x="139" y="2644"/>
                    </a:cubicBezTo>
                    <a:cubicBezTo>
                      <a:pt x="227" y="2102"/>
                      <a:pt x="366" y="1618"/>
                      <a:pt x="543" y="1220"/>
                    </a:cubicBezTo>
                    <a:cubicBezTo>
                      <a:pt x="720" y="822"/>
                      <a:pt x="935" y="511"/>
                      <a:pt x="1176" y="314"/>
                    </a:cubicBezTo>
                    <a:cubicBezTo>
                      <a:pt x="1396" y="157"/>
                      <a:pt x="1609" y="78"/>
                      <a:pt x="1871" y="39"/>
                    </a:cubicBezTo>
                    <a:cubicBezTo>
                      <a:pt x="2133" y="0"/>
                      <a:pt x="2444" y="0"/>
                      <a:pt x="2858" y="0"/>
                    </a:cubicBezTo>
                    <a:lnTo>
                      <a:pt x="2846" y="0"/>
                    </a:lnTo>
                    <a:close/>
                  </a:path>
                </a:pathLst>
              </a:custGeom>
              <a:solidFill>
                <a:srgbClr val="E8E7EA"/>
              </a:solidFill>
              <a:ln w="12700">
                <a:miter lim="400000"/>
              </a:ln>
            </p:spPr>
            <p:txBody>
              <a:bodyPr lIns="71437" tIns="71437" rIns="71437" bIns="71437" anchor="ctr"/>
              <a:lstStyle/>
              <a:p>
                <a:pPr algn="ctr">
                  <a:defRPr sz="3200" cap="none">
                    <a:solidFill>
                      <a:srgbClr val="FFFFFF"/>
                    </a:solidFill>
                  </a:defRPr>
                </a:pPr>
                <a:endParaRPr/>
              </a:p>
            </p:txBody>
          </p:sp>
          <p:sp>
            <p:nvSpPr>
              <p:cNvPr id="20" name="íś1îḋé"/>
              <p:cNvSpPr/>
              <p:nvPr/>
            </p:nvSpPr>
            <p:spPr>
              <a:xfrm>
                <a:off x="9848760" y="2742449"/>
                <a:ext cx="259660" cy="288475"/>
              </a:xfrm>
              <a:custGeom>
                <a:avLst/>
                <a:gdLst/>
                <a:ahLst/>
                <a:cxnLst>
                  <a:cxn ang="0">
                    <a:pos x="wd2" y="hd2"/>
                  </a:cxn>
                  <a:cxn ang="5400000">
                    <a:pos x="wd2" y="hd2"/>
                  </a:cxn>
                  <a:cxn ang="10800000">
                    <a:pos x="wd2" y="hd2"/>
                  </a:cxn>
                  <a:cxn ang="16200000">
                    <a:pos x="wd2" y="hd2"/>
                  </a:cxn>
                </a:cxnLst>
                <a:rect l="0" t="0" r="r" b="b"/>
                <a:pathLst>
                  <a:path w="21447" h="21600" extrusionOk="0">
                    <a:moveTo>
                      <a:pt x="21384" y="0"/>
                    </a:moveTo>
                    <a:lnTo>
                      <a:pt x="21384" y="16039"/>
                    </a:lnTo>
                    <a:cubicBezTo>
                      <a:pt x="21600" y="17374"/>
                      <a:pt x="21258" y="18734"/>
                      <a:pt x="20426" y="19852"/>
                    </a:cubicBezTo>
                    <a:cubicBezTo>
                      <a:pt x="19878" y="20588"/>
                      <a:pt x="19137" y="21189"/>
                      <a:pt x="18270" y="21600"/>
                    </a:cubicBezTo>
                    <a:lnTo>
                      <a:pt x="0" y="21600"/>
                    </a:lnTo>
                    <a:lnTo>
                      <a:pt x="0" y="95"/>
                    </a:lnTo>
                    <a:lnTo>
                      <a:pt x="21384" y="0"/>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21" name="îṡ1iḋé"/>
              <p:cNvSpPr/>
              <p:nvPr/>
            </p:nvSpPr>
            <p:spPr>
              <a:xfrm>
                <a:off x="9266175" y="2519495"/>
                <a:ext cx="259660" cy="288474"/>
              </a:xfrm>
              <a:custGeom>
                <a:avLst/>
                <a:gdLst/>
                <a:ahLst/>
                <a:cxnLst>
                  <a:cxn ang="0">
                    <a:pos x="wd2" y="hd2"/>
                  </a:cxn>
                  <a:cxn ang="5400000">
                    <a:pos x="wd2" y="hd2"/>
                  </a:cxn>
                  <a:cxn ang="10800000">
                    <a:pos x="wd2" y="hd2"/>
                  </a:cxn>
                  <a:cxn ang="16200000">
                    <a:pos x="wd2" y="hd2"/>
                  </a:cxn>
                </a:cxnLst>
                <a:rect l="0" t="0" r="r" b="b"/>
                <a:pathLst>
                  <a:path w="21447" h="21600" extrusionOk="0">
                    <a:moveTo>
                      <a:pt x="21384" y="0"/>
                    </a:moveTo>
                    <a:lnTo>
                      <a:pt x="21384" y="16039"/>
                    </a:lnTo>
                    <a:cubicBezTo>
                      <a:pt x="21600" y="17374"/>
                      <a:pt x="21258" y="18734"/>
                      <a:pt x="20426" y="19852"/>
                    </a:cubicBezTo>
                    <a:cubicBezTo>
                      <a:pt x="19878" y="20588"/>
                      <a:pt x="19137" y="21189"/>
                      <a:pt x="18270" y="21600"/>
                    </a:cubicBezTo>
                    <a:lnTo>
                      <a:pt x="0" y="21600"/>
                    </a:lnTo>
                    <a:lnTo>
                      <a:pt x="0" y="95"/>
                    </a:lnTo>
                    <a:lnTo>
                      <a:pt x="21384" y="0"/>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22" name="ïs1ïdè"/>
              <p:cNvSpPr/>
              <p:nvPr/>
            </p:nvSpPr>
            <p:spPr>
              <a:xfrm>
                <a:off x="9884879" y="3361655"/>
                <a:ext cx="189759" cy="239116"/>
              </a:xfrm>
              <a:custGeom>
                <a:avLst/>
                <a:gdLst/>
                <a:ahLst/>
                <a:cxnLst>
                  <a:cxn ang="0">
                    <a:pos x="wd2" y="hd2"/>
                  </a:cxn>
                  <a:cxn ang="5400000">
                    <a:pos x="wd2" y="hd2"/>
                  </a:cxn>
                  <a:cxn ang="10800000">
                    <a:pos x="wd2" y="hd2"/>
                  </a:cxn>
                  <a:cxn ang="16200000">
                    <a:pos x="wd2" y="hd2"/>
                  </a:cxn>
                </a:cxnLst>
                <a:rect l="0" t="0" r="r" b="b"/>
                <a:pathLst>
                  <a:path w="21600" h="21600" extrusionOk="0">
                    <a:moveTo>
                      <a:pt x="21600" y="10332"/>
                    </a:moveTo>
                    <a:lnTo>
                      <a:pt x="15510" y="21600"/>
                    </a:lnTo>
                    <a:lnTo>
                      <a:pt x="6705" y="21600"/>
                    </a:lnTo>
                    <a:lnTo>
                      <a:pt x="0" y="0"/>
                    </a:lnTo>
                    <a:lnTo>
                      <a:pt x="21600" y="10332"/>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23" name="îṥ1ïḋè"/>
              <p:cNvSpPr/>
              <p:nvPr/>
            </p:nvSpPr>
            <p:spPr>
              <a:xfrm>
                <a:off x="9295722" y="3157064"/>
                <a:ext cx="189759" cy="239116"/>
              </a:xfrm>
              <a:custGeom>
                <a:avLst/>
                <a:gdLst/>
                <a:ahLst/>
                <a:cxnLst>
                  <a:cxn ang="0">
                    <a:pos x="wd2" y="hd2"/>
                  </a:cxn>
                  <a:cxn ang="5400000">
                    <a:pos x="wd2" y="hd2"/>
                  </a:cxn>
                  <a:cxn ang="10800000">
                    <a:pos x="wd2" y="hd2"/>
                  </a:cxn>
                  <a:cxn ang="16200000">
                    <a:pos x="wd2" y="hd2"/>
                  </a:cxn>
                </a:cxnLst>
                <a:rect l="0" t="0" r="r" b="b"/>
                <a:pathLst>
                  <a:path w="21600" h="21600" extrusionOk="0">
                    <a:moveTo>
                      <a:pt x="21600" y="10332"/>
                    </a:moveTo>
                    <a:lnTo>
                      <a:pt x="15510" y="21600"/>
                    </a:lnTo>
                    <a:lnTo>
                      <a:pt x="6705" y="21600"/>
                    </a:lnTo>
                    <a:lnTo>
                      <a:pt x="0" y="0"/>
                    </a:lnTo>
                    <a:lnTo>
                      <a:pt x="21600" y="10332"/>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24" name="isḻíďè"/>
              <p:cNvSpPr/>
              <p:nvPr/>
            </p:nvSpPr>
            <p:spPr>
              <a:xfrm>
                <a:off x="8822771" y="2323114"/>
                <a:ext cx="1862381" cy="131869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15" y="17555"/>
                    </a:lnTo>
                    <a:cubicBezTo>
                      <a:pt x="20937" y="17145"/>
                      <a:pt x="20815" y="16755"/>
                      <a:pt x="20653" y="16397"/>
                    </a:cubicBezTo>
                    <a:cubicBezTo>
                      <a:pt x="20424" y="15892"/>
                      <a:pt x="20120" y="15462"/>
                      <a:pt x="19762" y="15138"/>
                    </a:cubicBezTo>
                    <a:lnTo>
                      <a:pt x="0" y="0"/>
                    </a:lnTo>
                    <a:lnTo>
                      <a:pt x="40" y="13327"/>
                    </a:lnTo>
                    <a:lnTo>
                      <a:pt x="21600" y="21600"/>
                    </a:lnTo>
                    <a:close/>
                  </a:path>
                </a:pathLst>
              </a:custGeom>
              <a:solidFill>
                <a:srgbClr val="EBE9EC"/>
              </a:solidFill>
              <a:ln w="12700">
                <a:miter lim="400000"/>
              </a:ln>
            </p:spPr>
            <p:txBody>
              <a:bodyPr lIns="71437" tIns="71437" rIns="71437" bIns="71437" anchor="ctr"/>
              <a:lstStyle/>
              <a:p>
                <a:pPr algn="ctr">
                  <a:defRPr sz="3200" cap="none">
                    <a:solidFill>
                      <a:srgbClr val="000000"/>
                    </a:solidFill>
                  </a:defRPr>
                </a:pPr>
                <a:endParaRPr/>
              </a:p>
            </p:txBody>
          </p:sp>
          <p:sp>
            <p:nvSpPr>
              <p:cNvPr id="25" name="ïṡ1îḋê"/>
              <p:cNvSpPr/>
              <p:nvPr/>
            </p:nvSpPr>
            <p:spPr>
              <a:xfrm>
                <a:off x="8832933" y="2809035"/>
                <a:ext cx="1292808" cy="673874"/>
              </a:xfrm>
              <a:custGeom>
                <a:avLst/>
                <a:gdLst/>
                <a:ahLst/>
                <a:cxnLst>
                  <a:cxn ang="0">
                    <a:pos x="wd2" y="hd2"/>
                  </a:cxn>
                  <a:cxn ang="5400000">
                    <a:pos x="wd2" y="hd2"/>
                  </a:cxn>
                  <a:cxn ang="10800000">
                    <a:pos x="wd2" y="hd2"/>
                  </a:cxn>
                  <a:cxn ang="16200000">
                    <a:pos x="wd2" y="hd2"/>
                  </a:cxn>
                </a:cxnLst>
                <a:rect l="0" t="0" r="r" b="b"/>
                <a:pathLst>
                  <a:path w="21583" h="21600" extrusionOk="0">
                    <a:moveTo>
                      <a:pt x="21581" y="21600"/>
                    </a:moveTo>
                    <a:lnTo>
                      <a:pt x="21581" y="19488"/>
                    </a:lnTo>
                    <a:cubicBezTo>
                      <a:pt x="21600" y="18804"/>
                      <a:pt x="21495" y="18130"/>
                      <a:pt x="21283" y="17579"/>
                    </a:cubicBezTo>
                    <a:cubicBezTo>
                      <a:pt x="21119" y="17153"/>
                      <a:pt x="20898" y="16819"/>
                      <a:pt x="20644" y="16615"/>
                    </a:cubicBezTo>
                    <a:lnTo>
                      <a:pt x="0" y="0"/>
                    </a:lnTo>
                  </a:path>
                </a:pathLst>
              </a:custGeom>
              <a:ln w="25400">
                <a:solidFill>
                  <a:srgbClr val="D3D2D4"/>
                </a:solidFill>
                <a:miter lim="400000"/>
              </a:ln>
            </p:spPr>
            <p:txBody>
              <a:bodyPr lIns="71437" tIns="71437" rIns="71437" bIns="71437" anchor="ctr"/>
              <a:lstStyle/>
              <a:p>
                <a:pPr algn="ctr">
                  <a:defRPr sz="3200" cap="none">
                    <a:solidFill>
                      <a:srgbClr val="000000"/>
                    </a:solidFill>
                  </a:defRPr>
                </a:pPr>
                <a:endParaRPr/>
              </a:p>
            </p:txBody>
          </p:sp>
          <p:sp>
            <p:nvSpPr>
              <p:cNvPr id="26" name="îsļîḑè"/>
              <p:cNvSpPr/>
              <p:nvPr/>
            </p:nvSpPr>
            <p:spPr>
              <a:xfrm>
                <a:off x="9291232" y="3003700"/>
                <a:ext cx="1" cy="262354"/>
              </a:xfrm>
              <a:prstGeom prst="line">
                <a:avLst/>
              </a:prstGeom>
              <a:ln w="25400">
                <a:solidFill>
                  <a:srgbClr val="D3D2D4"/>
                </a:solidFill>
                <a:miter lim="400000"/>
              </a:ln>
            </p:spPr>
            <p:txBody>
              <a:bodyPr lIns="71437" tIns="71437" rIns="71437" bIns="71437" anchor="ctr"/>
              <a:lstStyle/>
              <a:p>
                <a:pPr algn="ctr">
                  <a:defRPr sz="3200" cap="none">
                    <a:solidFill>
                      <a:srgbClr val="000000"/>
                    </a:solidFill>
                  </a:defRPr>
                </a:pPr>
                <a:endParaRPr/>
              </a:p>
            </p:txBody>
          </p:sp>
          <p:sp>
            <p:nvSpPr>
              <p:cNvPr id="27" name="îśḻíḓe"/>
              <p:cNvSpPr/>
              <p:nvPr/>
            </p:nvSpPr>
            <p:spPr>
              <a:xfrm>
                <a:off x="9755182" y="3189937"/>
                <a:ext cx="1" cy="197164"/>
              </a:xfrm>
              <a:prstGeom prst="line">
                <a:avLst/>
              </a:prstGeom>
              <a:ln w="25400">
                <a:solidFill>
                  <a:srgbClr val="D3D2D4"/>
                </a:solidFill>
                <a:miter lim="400000"/>
              </a:ln>
            </p:spPr>
            <p:txBody>
              <a:bodyPr lIns="71437" tIns="71437" rIns="71437" bIns="71437" anchor="ctr"/>
              <a:lstStyle/>
              <a:p>
                <a:pPr algn="ctr">
                  <a:defRPr sz="3200" cap="none">
                    <a:solidFill>
                      <a:srgbClr val="000000"/>
                    </a:solidFill>
                  </a:defRPr>
                </a:pPr>
                <a:endParaRPr/>
              </a:p>
            </p:txBody>
          </p:sp>
          <p:sp>
            <p:nvSpPr>
              <p:cNvPr id="28" name="î$líḑê"/>
              <p:cNvSpPr/>
              <p:nvPr/>
            </p:nvSpPr>
            <p:spPr>
              <a:xfrm>
                <a:off x="7733902" y="2485227"/>
                <a:ext cx="190180" cy="84566"/>
              </a:xfrm>
              <a:custGeom>
                <a:avLst/>
                <a:gdLst/>
                <a:ahLst/>
                <a:cxnLst>
                  <a:cxn ang="0">
                    <a:pos x="wd2" y="hd2"/>
                  </a:cxn>
                  <a:cxn ang="5400000">
                    <a:pos x="wd2" y="hd2"/>
                  </a:cxn>
                  <a:cxn ang="10800000">
                    <a:pos x="wd2" y="hd2"/>
                  </a:cxn>
                  <a:cxn ang="16200000">
                    <a:pos x="wd2" y="hd2"/>
                  </a:cxn>
                </a:cxnLst>
                <a:rect l="0" t="0" r="r" b="b"/>
                <a:pathLst>
                  <a:path w="21600" h="21600" extrusionOk="0">
                    <a:moveTo>
                      <a:pt x="2846" y="0"/>
                    </a:moveTo>
                    <a:lnTo>
                      <a:pt x="18754" y="0"/>
                    </a:lnTo>
                    <a:cubicBezTo>
                      <a:pt x="19162" y="0"/>
                      <a:pt x="19470" y="0"/>
                      <a:pt x="19730" y="39"/>
                    </a:cubicBezTo>
                    <a:cubicBezTo>
                      <a:pt x="19991" y="78"/>
                      <a:pt x="20204" y="157"/>
                      <a:pt x="20424" y="314"/>
                    </a:cubicBezTo>
                    <a:cubicBezTo>
                      <a:pt x="20665" y="511"/>
                      <a:pt x="20880" y="822"/>
                      <a:pt x="21057" y="1220"/>
                    </a:cubicBezTo>
                    <a:cubicBezTo>
                      <a:pt x="21234" y="1618"/>
                      <a:pt x="21373" y="2102"/>
                      <a:pt x="21461" y="2644"/>
                    </a:cubicBezTo>
                    <a:cubicBezTo>
                      <a:pt x="21530" y="3138"/>
                      <a:pt x="21565" y="3619"/>
                      <a:pt x="21583" y="4208"/>
                    </a:cubicBezTo>
                    <a:cubicBezTo>
                      <a:pt x="21600" y="4798"/>
                      <a:pt x="21600" y="5496"/>
                      <a:pt x="21600" y="6428"/>
                    </a:cubicBezTo>
                    <a:lnTo>
                      <a:pt x="21600" y="15201"/>
                    </a:lnTo>
                    <a:cubicBezTo>
                      <a:pt x="21600" y="16118"/>
                      <a:pt x="21600" y="16809"/>
                      <a:pt x="21583" y="17395"/>
                    </a:cubicBezTo>
                    <a:cubicBezTo>
                      <a:pt x="21565" y="17981"/>
                      <a:pt x="21530" y="18462"/>
                      <a:pt x="21461" y="18956"/>
                    </a:cubicBezTo>
                    <a:cubicBezTo>
                      <a:pt x="21373" y="19498"/>
                      <a:pt x="21234" y="19982"/>
                      <a:pt x="21057" y="20380"/>
                    </a:cubicBezTo>
                    <a:cubicBezTo>
                      <a:pt x="20880" y="20778"/>
                      <a:pt x="20665" y="21089"/>
                      <a:pt x="20424" y="21286"/>
                    </a:cubicBezTo>
                    <a:cubicBezTo>
                      <a:pt x="20204" y="21443"/>
                      <a:pt x="19991" y="21522"/>
                      <a:pt x="19729" y="21561"/>
                    </a:cubicBezTo>
                    <a:cubicBezTo>
                      <a:pt x="19467" y="21600"/>
                      <a:pt x="19156" y="21600"/>
                      <a:pt x="18742" y="21600"/>
                    </a:cubicBezTo>
                    <a:lnTo>
                      <a:pt x="2846" y="21600"/>
                    </a:lnTo>
                    <a:cubicBezTo>
                      <a:pt x="2438" y="21600"/>
                      <a:pt x="2130" y="21600"/>
                      <a:pt x="1870" y="21561"/>
                    </a:cubicBezTo>
                    <a:cubicBezTo>
                      <a:pt x="1609" y="21522"/>
                      <a:pt x="1396" y="21443"/>
                      <a:pt x="1176" y="21286"/>
                    </a:cubicBezTo>
                    <a:cubicBezTo>
                      <a:pt x="935" y="21089"/>
                      <a:pt x="720" y="20778"/>
                      <a:pt x="543" y="20380"/>
                    </a:cubicBezTo>
                    <a:cubicBezTo>
                      <a:pt x="366" y="19982"/>
                      <a:pt x="227" y="19498"/>
                      <a:pt x="139" y="18956"/>
                    </a:cubicBezTo>
                    <a:cubicBezTo>
                      <a:pt x="70" y="18462"/>
                      <a:pt x="35" y="17981"/>
                      <a:pt x="17" y="17392"/>
                    </a:cubicBezTo>
                    <a:cubicBezTo>
                      <a:pt x="0" y="16802"/>
                      <a:pt x="0" y="16104"/>
                      <a:pt x="0" y="15172"/>
                    </a:cubicBezTo>
                    <a:lnTo>
                      <a:pt x="0" y="6399"/>
                    </a:lnTo>
                    <a:cubicBezTo>
                      <a:pt x="0" y="5482"/>
                      <a:pt x="0" y="4791"/>
                      <a:pt x="17" y="4205"/>
                    </a:cubicBezTo>
                    <a:cubicBezTo>
                      <a:pt x="35" y="3619"/>
                      <a:pt x="70" y="3138"/>
                      <a:pt x="139" y="2644"/>
                    </a:cubicBezTo>
                    <a:cubicBezTo>
                      <a:pt x="227" y="2102"/>
                      <a:pt x="366" y="1618"/>
                      <a:pt x="543" y="1220"/>
                    </a:cubicBezTo>
                    <a:cubicBezTo>
                      <a:pt x="720" y="822"/>
                      <a:pt x="935" y="511"/>
                      <a:pt x="1176" y="314"/>
                    </a:cubicBezTo>
                    <a:cubicBezTo>
                      <a:pt x="1396" y="157"/>
                      <a:pt x="1609" y="78"/>
                      <a:pt x="1871" y="39"/>
                    </a:cubicBezTo>
                    <a:cubicBezTo>
                      <a:pt x="2133" y="0"/>
                      <a:pt x="2444" y="0"/>
                      <a:pt x="2858" y="0"/>
                    </a:cubicBezTo>
                    <a:lnTo>
                      <a:pt x="2846" y="0"/>
                    </a:lnTo>
                    <a:close/>
                  </a:path>
                </a:pathLst>
              </a:custGeom>
              <a:solidFill>
                <a:srgbClr val="E8E7EA"/>
              </a:solidFill>
              <a:ln w="12700">
                <a:miter lim="400000"/>
              </a:ln>
            </p:spPr>
            <p:txBody>
              <a:bodyPr lIns="71437" tIns="71437" rIns="71437" bIns="71437" anchor="ctr"/>
              <a:lstStyle/>
              <a:p>
                <a:pPr algn="ctr">
                  <a:defRPr sz="3200" cap="none">
                    <a:solidFill>
                      <a:srgbClr val="FFFFFF"/>
                    </a:solidFill>
                  </a:defRPr>
                </a:pPr>
                <a:endParaRPr/>
              </a:p>
            </p:txBody>
          </p:sp>
          <p:sp>
            <p:nvSpPr>
              <p:cNvPr id="29" name="ïṥ1ïḋe"/>
              <p:cNvSpPr/>
              <p:nvPr/>
            </p:nvSpPr>
            <p:spPr>
              <a:xfrm>
                <a:off x="7159518" y="2706775"/>
                <a:ext cx="190180" cy="84566"/>
              </a:xfrm>
              <a:custGeom>
                <a:avLst/>
                <a:gdLst/>
                <a:ahLst/>
                <a:cxnLst>
                  <a:cxn ang="0">
                    <a:pos x="wd2" y="hd2"/>
                  </a:cxn>
                  <a:cxn ang="5400000">
                    <a:pos x="wd2" y="hd2"/>
                  </a:cxn>
                  <a:cxn ang="10800000">
                    <a:pos x="wd2" y="hd2"/>
                  </a:cxn>
                  <a:cxn ang="16200000">
                    <a:pos x="wd2" y="hd2"/>
                  </a:cxn>
                </a:cxnLst>
                <a:rect l="0" t="0" r="r" b="b"/>
                <a:pathLst>
                  <a:path w="21600" h="21600" extrusionOk="0">
                    <a:moveTo>
                      <a:pt x="2846" y="0"/>
                    </a:moveTo>
                    <a:lnTo>
                      <a:pt x="18754" y="0"/>
                    </a:lnTo>
                    <a:cubicBezTo>
                      <a:pt x="19162" y="0"/>
                      <a:pt x="19470" y="0"/>
                      <a:pt x="19730" y="39"/>
                    </a:cubicBezTo>
                    <a:cubicBezTo>
                      <a:pt x="19991" y="78"/>
                      <a:pt x="20204" y="157"/>
                      <a:pt x="20424" y="314"/>
                    </a:cubicBezTo>
                    <a:cubicBezTo>
                      <a:pt x="20665" y="511"/>
                      <a:pt x="20880" y="822"/>
                      <a:pt x="21057" y="1220"/>
                    </a:cubicBezTo>
                    <a:cubicBezTo>
                      <a:pt x="21234" y="1618"/>
                      <a:pt x="21373" y="2102"/>
                      <a:pt x="21461" y="2644"/>
                    </a:cubicBezTo>
                    <a:cubicBezTo>
                      <a:pt x="21530" y="3138"/>
                      <a:pt x="21565" y="3619"/>
                      <a:pt x="21583" y="4208"/>
                    </a:cubicBezTo>
                    <a:cubicBezTo>
                      <a:pt x="21600" y="4798"/>
                      <a:pt x="21600" y="5496"/>
                      <a:pt x="21600" y="6428"/>
                    </a:cubicBezTo>
                    <a:lnTo>
                      <a:pt x="21600" y="15201"/>
                    </a:lnTo>
                    <a:cubicBezTo>
                      <a:pt x="21600" y="16118"/>
                      <a:pt x="21600" y="16809"/>
                      <a:pt x="21583" y="17395"/>
                    </a:cubicBezTo>
                    <a:cubicBezTo>
                      <a:pt x="21565" y="17981"/>
                      <a:pt x="21530" y="18462"/>
                      <a:pt x="21461" y="18956"/>
                    </a:cubicBezTo>
                    <a:cubicBezTo>
                      <a:pt x="21373" y="19498"/>
                      <a:pt x="21234" y="19982"/>
                      <a:pt x="21057" y="20380"/>
                    </a:cubicBezTo>
                    <a:cubicBezTo>
                      <a:pt x="20880" y="20778"/>
                      <a:pt x="20665" y="21089"/>
                      <a:pt x="20424" y="21286"/>
                    </a:cubicBezTo>
                    <a:cubicBezTo>
                      <a:pt x="20204" y="21443"/>
                      <a:pt x="19991" y="21522"/>
                      <a:pt x="19729" y="21561"/>
                    </a:cubicBezTo>
                    <a:cubicBezTo>
                      <a:pt x="19467" y="21600"/>
                      <a:pt x="19156" y="21600"/>
                      <a:pt x="18742" y="21600"/>
                    </a:cubicBezTo>
                    <a:lnTo>
                      <a:pt x="2846" y="21600"/>
                    </a:lnTo>
                    <a:cubicBezTo>
                      <a:pt x="2438" y="21600"/>
                      <a:pt x="2130" y="21600"/>
                      <a:pt x="1870" y="21561"/>
                    </a:cubicBezTo>
                    <a:cubicBezTo>
                      <a:pt x="1609" y="21522"/>
                      <a:pt x="1396" y="21443"/>
                      <a:pt x="1176" y="21286"/>
                    </a:cubicBezTo>
                    <a:cubicBezTo>
                      <a:pt x="935" y="21089"/>
                      <a:pt x="720" y="20778"/>
                      <a:pt x="543" y="20380"/>
                    </a:cubicBezTo>
                    <a:cubicBezTo>
                      <a:pt x="366" y="19982"/>
                      <a:pt x="227" y="19498"/>
                      <a:pt x="139" y="18956"/>
                    </a:cubicBezTo>
                    <a:cubicBezTo>
                      <a:pt x="70" y="18462"/>
                      <a:pt x="35" y="17981"/>
                      <a:pt x="17" y="17392"/>
                    </a:cubicBezTo>
                    <a:cubicBezTo>
                      <a:pt x="0" y="16802"/>
                      <a:pt x="0" y="16104"/>
                      <a:pt x="0" y="15172"/>
                    </a:cubicBezTo>
                    <a:lnTo>
                      <a:pt x="0" y="6399"/>
                    </a:lnTo>
                    <a:cubicBezTo>
                      <a:pt x="0" y="5482"/>
                      <a:pt x="0" y="4791"/>
                      <a:pt x="17" y="4205"/>
                    </a:cubicBezTo>
                    <a:cubicBezTo>
                      <a:pt x="35" y="3619"/>
                      <a:pt x="70" y="3138"/>
                      <a:pt x="139" y="2644"/>
                    </a:cubicBezTo>
                    <a:cubicBezTo>
                      <a:pt x="227" y="2102"/>
                      <a:pt x="366" y="1618"/>
                      <a:pt x="543" y="1220"/>
                    </a:cubicBezTo>
                    <a:cubicBezTo>
                      <a:pt x="720" y="822"/>
                      <a:pt x="935" y="511"/>
                      <a:pt x="1176" y="314"/>
                    </a:cubicBezTo>
                    <a:cubicBezTo>
                      <a:pt x="1396" y="157"/>
                      <a:pt x="1609" y="78"/>
                      <a:pt x="1871" y="39"/>
                    </a:cubicBezTo>
                    <a:cubicBezTo>
                      <a:pt x="2133" y="0"/>
                      <a:pt x="2444" y="0"/>
                      <a:pt x="2858" y="0"/>
                    </a:cubicBezTo>
                    <a:lnTo>
                      <a:pt x="2846" y="0"/>
                    </a:lnTo>
                    <a:close/>
                  </a:path>
                </a:pathLst>
              </a:custGeom>
              <a:solidFill>
                <a:srgbClr val="E8E7EA"/>
              </a:solidFill>
              <a:ln w="12700">
                <a:miter lim="400000"/>
              </a:ln>
            </p:spPr>
            <p:txBody>
              <a:bodyPr lIns="71437" tIns="71437" rIns="71437" bIns="71437" anchor="ctr"/>
              <a:lstStyle/>
              <a:p>
                <a:pPr algn="ctr">
                  <a:defRPr sz="3200" cap="none">
                    <a:solidFill>
                      <a:srgbClr val="FFFFFF"/>
                    </a:solidFill>
                  </a:defRPr>
                </a:pPr>
                <a:endParaRPr/>
              </a:p>
            </p:txBody>
          </p:sp>
          <p:sp>
            <p:nvSpPr>
              <p:cNvPr id="30" name="îṡļîḋê"/>
              <p:cNvSpPr/>
              <p:nvPr/>
            </p:nvSpPr>
            <p:spPr>
              <a:xfrm>
                <a:off x="7699163" y="2520901"/>
                <a:ext cx="259659" cy="288475"/>
              </a:xfrm>
              <a:custGeom>
                <a:avLst/>
                <a:gdLst/>
                <a:ahLst/>
                <a:cxnLst>
                  <a:cxn ang="0">
                    <a:pos x="wd2" y="hd2"/>
                  </a:cxn>
                  <a:cxn ang="5400000">
                    <a:pos x="wd2" y="hd2"/>
                  </a:cxn>
                  <a:cxn ang="10800000">
                    <a:pos x="wd2" y="hd2"/>
                  </a:cxn>
                  <a:cxn ang="16200000">
                    <a:pos x="wd2" y="hd2"/>
                  </a:cxn>
                </a:cxnLst>
                <a:rect l="0" t="0" r="r" b="b"/>
                <a:pathLst>
                  <a:path w="21447" h="21600" extrusionOk="0">
                    <a:moveTo>
                      <a:pt x="63" y="0"/>
                    </a:moveTo>
                    <a:lnTo>
                      <a:pt x="63" y="16039"/>
                    </a:lnTo>
                    <a:cubicBezTo>
                      <a:pt x="-153" y="17374"/>
                      <a:pt x="189" y="18734"/>
                      <a:pt x="1021" y="19852"/>
                    </a:cubicBezTo>
                    <a:cubicBezTo>
                      <a:pt x="1569" y="20588"/>
                      <a:pt x="2310" y="21189"/>
                      <a:pt x="3177" y="21600"/>
                    </a:cubicBezTo>
                    <a:lnTo>
                      <a:pt x="21447" y="21600"/>
                    </a:lnTo>
                    <a:lnTo>
                      <a:pt x="21447" y="95"/>
                    </a:lnTo>
                    <a:lnTo>
                      <a:pt x="63" y="0"/>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31" name="îsḻíḋe"/>
              <p:cNvSpPr/>
              <p:nvPr/>
            </p:nvSpPr>
            <p:spPr>
              <a:xfrm>
                <a:off x="7124779" y="2742449"/>
                <a:ext cx="259659" cy="288475"/>
              </a:xfrm>
              <a:custGeom>
                <a:avLst/>
                <a:gdLst/>
                <a:ahLst/>
                <a:cxnLst>
                  <a:cxn ang="0">
                    <a:pos x="wd2" y="hd2"/>
                  </a:cxn>
                  <a:cxn ang="5400000">
                    <a:pos x="wd2" y="hd2"/>
                  </a:cxn>
                  <a:cxn ang="10800000">
                    <a:pos x="wd2" y="hd2"/>
                  </a:cxn>
                  <a:cxn ang="16200000">
                    <a:pos x="wd2" y="hd2"/>
                  </a:cxn>
                </a:cxnLst>
                <a:rect l="0" t="0" r="r" b="b"/>
                <a:pathLst>
                  <a:path w="21447" h="21600" extrusionOk="0">
                    <a:moveTo>
                      <a:pt x="63" y="0"/>
                    </a:moveTo>
                    <a:lnTo>
                      <a:pt x="63" y="16039"/>
                    </a:lnTo>
                    <a:cubicBezTo>
                      <a:pt x="-153" y="17374"/>
                      <a:pt x="189" y="18734"/>
                      <a:pt x="1021" y="19852"/>
                    </a:cubicBezTo>
                    <a:cubicBezTo>
                      <a:pt x="1569" y="20588"/>
                      <a:pt x="2310" y="21189"/>
                      <a:pt x="3177" y="21600"/>
                    </a:cubicBezTo>
                    <a:lnTo>
                      <a:pt x="21447" y="21600"/>
                    </a:lnTo>
                    <a:lnTo>
                      <a:pt x="21447" y="95"/>
                    </a:lnTo>
                    <a:lnTo>
                      <a:pt x="63" y="0"/>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32" name="ï$ḻîḋê"/>
              <p:cNvSpPr/>
              <p:nvPr/>
            </p:nvSpPr>
            <p:spPr>
              <a:xfrm>
                <a:off x="7158046" y="3365605"/>
                <a:ext cx="189825" cy="239116"/>
              </a:xfrm>
              <a:custGeom>
                <a:avLst/>
                <a:gdLst/>
                <a:ahLst/>
                <a:cxnLst>
                  <a:cxn ang="0">
                    <a:pos x="wd2" y="hd2"/>
                  </a:cxn>
                  <a:cxn ang="5400000">
                    <a:pos x="wd2" y="hd2"/>
                  </a:cxn>
                  <a:cxn ang="10800000">
                    <a:pos x="wd2" y="hd2"/>
                  </a:cxn>
                  <a:cxn ang="16200000">
                    <a:pos x="wd2" y="hd2"/>
                  </a:cxn>
                </a:cxnLst>
                <a:rect l="0" t="0" r="r" b="b"/>
                <a:pathLst>
                  <a:path w="21600" h="21600" extrusionOk="0">
                    <a:moveTo>
                      <a:pt x="0" y="10332"/>
                    </a:moveTo>
                    <a:lnTo>
                      <a:pt x="6090" y="21600"/>
                    </a:lnTo>
                    <a:lnTo>
                      <a:pt x="14895" y="21600"/>
                    </a:lnTo>
                    <a:lnTo>
                      <a:pt x="21600" y="0"/>
                    </a:lnTo>
                    <a:lnTo>
                      <a:pt x="0" y="10332"/>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33" name="íṧľïḓé"/>
              <p:cNvSpPr/>
              <p:nvPr/>
            </p:nvSpPr>
            <p:spPr>
              <a:xfrm>
                <a:off x="7747650" y="3157062"/>
                <a:ext cx="189825" cy="239116"/>
              </a:xfrm>
              <a:custGeom>
                <a:avLst/>
                <a:gdLst/>
                <a:ahLst/>
                <a:cxnLst>
                  <a:cxn ang="0">
                    <a:pos x="wd2" y="hd2"/>
                  </a:cxn>
                  <a:cxn ang="5400000">
                    <a:pos x="wd2" y="hd2"/>
                  </a:cxn>
                  <a:cxn ang="10800000">
                    <a:pos x="wd2" y="hd2"/>
                  </a:cxn>
                  <a:cxn ang="16200000">
                    <a:pos x="wd2" y="hd2"/>
                  </a:cxn>
                </a:cxnLst>
                <a:rect l="0" t="0" r="r" b="b"/>
                <a:pathLst>
                  <a:path w="21600" h="21600" extrusionOk="0">
                    <a:moveTo>
                      <a:pt x="0" y="10332"/>
                    </a:moveTo>
                    <a:lnTo>
                      <a:pt x="6090" y="21600"/>
                    </a:lnTo>
                    <a:lnTo>
                      <a:pt x="14895" y="21600"/>
                    </a:lnTo>
                    <a:lnTo>
                      <a:pt x="21600" y="0"/>
                    </a:lnTo>
                    <a:lnTo>
                      <a:pt x="0" y="10332"/>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34" name="iṩḷíḓê"/>
              <p:cNvSpPr/>
              <p:nvPr/>
            </p:nvSpPr>
            <p:spPr>
              <a:xfrm>
                <a:off x="6546000" y="2323114"/>
                <a:ext cx="1862395" cy="131869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585" y="17555"/>
                    </a:lnTo>
                    <a:cubicBezTo>
                      <a:pt x="663" y="17145"/>
                      <a:pt x="785" y="16755"/>
                      <a:pt x="947" y="16397"/>
                    </a:cubicBezTo>
                    <a:cubicBezTo>
                      <a:pt x="1176" y="15892"/>
                      <a:pt x="1480" y="15462"/>
                      <a:pt x="1838" y="15138"/>
                    </a:cubicBezTo>
                    <a:lnTo>
                      <a:pt x="21600" y="0"/>
                    </a:lnTo>
                    <a:lnTo>
                      <a:pt x="21560" y="13327"/>
                    </a:lnTo>
                    <a:lnTo>
                      <a:pt x="0" y="21600"/>
                    </a:lnTo>
                    <a:close/>
                  </a:path>
                </a:pathLst>
              </a:custGeom>
              <a:solidFill>
                <a:srgbClr val="EBE9EC"/>
              </a:solidFill>
              <a:ln w="12700">
                <a:miter lim="400000"/>
              </a:ln>
            </p:spPr>
            <p:txBody>
              <a:bodyPr lIns="71437" tIns="71437" rIns="71437" bIns="71437" anchor="ctr"/>
              <a:lstStyle/>
              <a:p>
                <a:pPr algn="ctr">
                  <a:defRPr sz="3200" cap="none">
                    <a:solidFill>
                      <a:srgbClr val="000000"/>
                    </a:solidFill>
                  </a:defRPr>
                </a:pPr>
                <a:endParaRPr/>
              </a:p>
            </p:txBody>
          </p:sp>
          <p:sp>
            <p:nvSpPr>
              <p:cNvPr id="35" name="ïṧḷíďe"/>
              <p:cNvSpPr/>
              <p:nvPr/>
            </p:nvSpPr>
            <p:spPr>
              <a:xfrm>
                <a:off x="7124996" y="2809035"/>
                <a:ext cx="1292379" cy="673874"/>
              </a:xfrm>
              <a:custGeom>
                <a:avLst/>
                <a:gdLst/>
                <a:ahLst/>
                <a:cxnLst>
                  <a:cxn ang="0">
                    <a:pos x="wd2" y="hd2"/>
                  </a:cxn>
                  <a:cxn ang="5400000">
                    <a:pos x="wd2" y="hd2"/>
                  </a:cxn>
                  <a:cxn ang="10800000">
                    <a:pos x="wd2" y="hd2"/>
                  </a:cxn>
                  <a:cxn ang="16200000">
                    <a:pos x="wd2" y="hd2"/>
                  </a:cxn>
                </a:cxnLst>
                <a:rect l="0" t="0" r="r" b="b"/>
                <a:pathLst>
                  <a:path w="21583" h="21600" extrusionOk="0">
                    <a:moveTo>
                      <a:pt x="2" y="21600"/>
                    </a:moveTo>
                    <a:lnTo>
                      <a:pt x="2" y="19488"/>
                    </a:lnTo>
                    <a:cubicBezTo>
                      <a:pt x="-17" y="18804"/>
                      <a:pt x="88" y="18130"/>
                      <a:pt x="300" y="17579"/>
                    </a:cubicBezTo>
                    <a:cubicBezTo>
                      <a:pt x="464" y="17153"/>
                      <a:pt x="685" y="16819"/>
                      <a:pt x="939" y="16615"/>
                    </a:cubicBezTo>
                    <a:lnTo>
                      <a:pt x="21583" y="0"/>
                    </a:lnTo>
                  </a:path>
                </a:pathLst>
              </a:custGeom>
              <a:ln w="25400">
                <a:solidFill>
                  <a:srgbClr val="D3D2D4"/>
                </a:solidFill>
                <a:miter lim="400000"/>
              </a:ln>
            </p:spPr>
            <p:txBody>
              <a:bodyPr lIns="71437" tIns="71437" rIns="71437" bIns="71437" anchor="ctr"/>
              <a:lstStyle/>
              <a:p>
                <a:pPr algn="ctr">
                  <a:defRPr sz="3200" cap="none">
                    <a:solidFill>
                      <a:srgbClr val="000000"/>
                    </a:solidFill>
                  </a:defRPr>
                </a:pPr>
                <a:endParaRPr/>
              </a:p>
            </p:txBody>
          </p:sp>
          <p:sp>
            <p:nvSpPr>
              <p:cNvPr id="36" name="ïs1ïďé"/>
              <p:cNvSpPr/>
              <p:nvPr/>
            </p:nvSpPr>
            <p:spPr>
              <a:xfrm>
                <a:off x="7548929" y="3173526"/>
                <a:ext cx="1" cy="197164"/>
              </a:xfrm>
              <a:prstGeom prst="line">
                <a:avLst/>
              </a:prstGeom>
              <a:ln w="25400">
                <a:solidFill>
                  <a:srgbClr val="D3D2D4"/>
                </a:solidFill>
                <a:miter lim="400000"/>
              </a:ln>
            </p:spPr>
            <p:txBody>
              <a:bodyPr lIns="71437" tIns="71437" rIns="71437" bIns="71437" anchor="ctr"/>
              <a:lstStyle/>
              <a:p>
                <a:pPr algn="ctr">
                  <a:defRPr sz="3200" cap="none">
                    <a:solidFill>
                      <a:srgbClr val="000000"/>
                    </a:solidFill>
                  </a:defRPr>
                </a:pPr>
                <a:endParaRPr/>
              </a:p>
            </p:txBody>
          </p:sp>
          <p:sp>
            <p:nvSpPr>
              <p:cNvPr id="37" name="iṡḻíḑè"/>
              <p:cNvSpPr/>
              <p:nvPr/>
            </p:nvSpPr>
            <p:spPr>
              <a:xfrm>
                <a:off x="7950612" y="2995495"/>
                <a:ext cx="1" cy="262354"/>
              </a:xfrm>
              <a:prstGeom prst="line">
                <a:avLst/>
              </a:prstGeom>
              <a:ln w="25400">
                <a:solidFill>
                  <a:srgbClr val="D3D2D4"/>
                </a:solidFill>
                <a:miter lim="400000"/>
              </a:ln>
            </p:spPr>
            <p:txBody>
              <a:bodyPr lIns="71437" tIns="71437" rIns="71437" bIns="71437" anchor="ctr"/>
              <a:lstStyle/>
              <a:p>
                <a:pPr algn="ctr">
                  <a:defRPr sz="3200" cap="none">
                    <a:solidFill>
                      <a:srgbClr val="000000"/>
                    </a:solidFill>
                  </a:defRPr>
                </a:pPr>
                <a:endParaRPr/>
              </a:p>
            </p:txBody>
          </p:sp>
          <p:sp>
            <p:nvSpPr>
              <p:cNvPr id="38" name="ïṡľiḍè"/>
              <p:cNvSpPr/>
              <p:nvPr/>
            </p:nvSpPr>
            <p:spPr>
              <a:xfrm>
                <a:off x="7795486" y="4216013"/>
                <a:ext cx="801180" cy="713922"/>
              </a:xfrm>
              <a:custGeom>
                <a:avLst/>
                <a:gdLst/>
                <a:ahLst/>
                <a:cxnLst>
                  <a:cxn ang="0">
                    <a:pos x="wd2" y="hd2"/>
                  </a:cxn>
                  <a:cxn ang="5400000">
                    <a:pos x="wd2" y="hd2"/>
                  </a:cxn>
                  <a:cxn ang="10800000">
                    <a:pos x="wd2" y="hd2"/>
                  </a:cxn>
                  <a:cxn ang="16200000">
                    <a:pos x="wd2" y="hd2"/>
                  </a:cxn>
                </a:cxnLst>
                <a:rect l="0" t="0" r="r" b="b"/>
                <a:pathLst>
                  <a:path w="21600" h="21600" extrusionOk="0">
                    <a:moveTo>
                      <a:pt x="17411" y="798"/>
                    </a:moveTo>
                    <a:lnTo>
                      <a:pt x="3277" y="9980"/>
                    </a:lnTo>
                    <a:cubicBezTo>
                      <a:pt x="2213" y="10656"/>
                      <a:pt x="1341" y="11655"/>
                      <a:pt x="760" y="12863"/>
                    </a:cubicBezTo>
                    <a:cubicBezTo>
                      <a:pt x="317" y="13787"/>
                      <a:pt x="57" y="14807"/>
                      <a:pt x="0" y="15854"/>
                    </a:cubicBezTo>
                    <a:lnTo>
                      <a:pt x="0" y="20589"/>
                    </a:lnTo>
                    <a:cubicBezTo>
                      <a:pt x="27" y="20866"/>
                      <a:pt x="144" y="21123"/>
                      <a:pt x="330" y="21310"/>
                    </a:cubicBezTo>
                    <a:cubicBezTo>
                      <a:pt x="509" y="21491"/>
                      <a:pt x="741" y="21594"/>
                      <a:pt x="983" y="21600"/>
                    </a:cubicBezTo>
                    <a:lnTo>
                      <a:pt x="21600" y="14621"/>
                    </a:lnTo>
                    <a:lnTo>
                      <a:pt x="21600" y="0"/>
                    </a:lnTo>
                    <a:lnTo>
                      <a:pt x="17411" y="798"/>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39" name="îŝḷïḑê"/>
              <p:cNvSpPr/>
              <p:nvPr/>
            </p:nvSpPr>
            <p:spPr>
              <a:xfrm>
                <a:off x="8634958" y="4216013"/>
                <a:ext cx="801181" cy="713922"/>
              </a:xfrm>
              <a:custGeom>
                <a:avLst/>
                <a:gdLst/>
                <a:ahLst/>
                <a:cxnLst>
                  <a:cxn ang="0">
                    <a:pos x="wd2" y="hd2"/>
                  </a:cxn>
                  <a:cxn ang="5400000">
                    <a:pos x="wd2" y="hd2"/>
                  </a:cxn>
                  <a:cxn ang="10800000">
                    <a:pos x="wd2" y="hd2"/>
                  </a:cxn>
                  <a:cxn ang="16200000">
                    <a:pos x="wd2" y="hd2"/>
                  </a:cxn>
                </a:cxnLst>
                <a:rect l="0" t="0" r="r" b="b"/>
                <a:pathLst>
                  <a:path w="21600" h="21600" extrusionOk="0">
                    <a:moveTo>
                      <a:pt x="4189" y="798"/>
                    </a:moveTo>
                    <a:lnTo>
                      <a:pt x="18323" y="9980"/>
                    </a:lnTo>
                    <a:cubicBezTo>
                      <a:pt x="19387" y="10656"/>
                      <a:pt x="20259" y="11655"/>
                      <a:pt x="20840" y="12863"/>
                    </a:cubicBezTo>
                    <a:cubicBezTo>
                      <a:pt x="21283" y="13787"/>
                      <a:pt x="21543" y="14807"/>
                      <a:pt x="21600" y="15854"/>
                    </a:cubicBezTo>
                    <a:lnTo>
                      <a:pt x="21600" y="20589"/>
                    </a:lnTo>
                    <a:cubicBezTo>
                      <a:pt x="21573" y="20866"/>
                      <a:pt x="21456" y="21123"/>
                      <a:pt x="21270" y="21310"/>
                    </a:cubicBezTo>
                    <a:cubicBezTo>
                      <a:pt x="21091" y="21491"/>
                      <a:pt x="20859" y="21594"/>
                      <a:pt x="20617" y="21600"/>
                    </a:cubicBezTo>
                    <a:lnTo>
                      <a:pt x="0" y="14621"/>
                    </a:lnTo>
                    <a:lnTo>
                      <a:pt x="0" y="0"/>
                    </a:lnTo>
                    <a:lnTo>
                      <a:pt x="4189" y="798"/>
                    </a:lnTo>
                    <a:close/>
                  </a:path>
                </a:pathLst>
              </a:custGeom>
              <a:solidFill>
                <a:srgbClr val="C5C4C6"/>
              </a:solidFill>
              <a:ln w="12700">
                <a:miter lim="400000"/>
              </a:ln>
            </p:spPr>
            <p:txBody>
              <a:bodyPr lIns="71437" tIns="71437" rIns="71437" bIns="71437" anchor="ctr"/>
              <a:lstStyle/>
              <a:p>
                <a:pPr algn="ctr">
                  <a:defRPr sz="3200" cap="none">
                    <a:solidFill>
                      <a:srgbClr val="000000"/>
                    </a:solidFill>
                  </a:defRPr>
                </a:pPr>
                <a:endParaRPr/>
              </a:p>
            </p:txBody>
          </p:sp>
          <p:sp>
            <p:nvSpPr>
              <p:cNvPr id="40" name="iśľiḍé"/>
              <p:cNvSpPr/>
              <p:nvPr/>
            </p:nvSpPr>
            <p:spPr>
              <a:xfrm>
                <a:off x="7801877" y="4290712"/>
                <a:ext cx="672049" cy="45161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576" y="20037"/>
                      <a:pt x="1300" y="18605"/>
                      <a:pt x="2150" y="17349"/>
                    </a:cubicBezTo>
                    <a:cubicBezTo>
                      <a:pt x="3001" y="16092"/>
                      <a:pt x="3970" y="15024"/>
                      <a:pt x="5026" y="14178"/>
                    </a:cubicBezTo>
                    <a:lnTo>
                      <a:pt x="21600" y="0"/>
                    </a:lnTo>
                  </a:path>
                </a:pathLst>
              </a:custGeom>
              <a:ln w="25400">
                <a:solidFill>
                  <a:srgbClr val="B5B4B6"/>
                </a:solidFill>
                <a:miter lim="400000"/>
              </a:ln>
            </p:spPr>
            <p:txBody>
              <a:bodyPr lIns="71437" tIns="71437" rIns="71437" bIns="71437" anchor="ctr"/>
              <a:lstStyle/>
              <a:p>
                <a:pPr algn="ctr">
                  <a:defRPr sz="3200" cap="none">
                    <a:solidFill>
                      <a:srgbClr val="000000"/>
                    </a:solidFill>
                  </a:defRPr>
                </a:pPr>
                <a:endParaRPr/>
              </a:p>
            </p:txBody>
          </p:sp>
          <p:sp>
            <p:nvSpPr>
              <p:cNvPr id="41" name="íṡľîḑe"/>
              <p:cNvSpPr/>
              <p:nvPr/>
            </p:nvSpPr>
            <p:spPr>
              <a:xfrm>
                <a:off x="8754031" y="4290712"/>
                <a:ext cx="672118" cy="45161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024" y="20037"/>
                      <a:pt x="20300" y="18605"/>
                      <a:pt x="19450" y="17349"/>
                    </a:cubicBezTo>
                    <a:cubicBezTo>
                      <a:pt x="18599" y="16092"/>
                      <a:pt x="17630" y="15024"/>
                      <a:pt x="16574" y="14178"/>
                    </a:cubicBezTo>
                    <a:lnTo>
                      <a:pt x="0" y="0"/>
                    </a:lnTo>
                  </a:path>
                </a:pathLst>
              </a:custGeom>
              <a:ln w="25400">
                <a:solidFill>
                  <a:srgbClr val="B5B4B6"/>
                </a:solidFill>
                <a:miter lim="400000"/>
              </a:ln>
            </p:spPr>
            <p:txBody>
              <a:bodyPr lIns="71437" tIns="71437" rIns="71437" bIns="71437" anchor="ctr"/>
              <a:lstStyle/>
              <a:p>
                <a:pPr algn="ctr">
                  <a:defRPr sz="3200" cap="none">
                    <a:solidFill>
                      <a:srgbClr val="000000"/>
                    </a:solidFill>
                  </a:defRPr>
                </a:pPr>
                <a:endParaRPr/>
              </a:p>
            </p:txBody>
          </p:sp>
          <p:sp>
            <p:nvSpPr>
              <p:cNvPr id="42" name="ïṩḻïḓè"/>
              <p:cNvSpPr/>
              <p:nvPr/>
            </p:nvSpPr>
            <p:spPr>
              <a:xfrm>
                <a:off x="8399219" y="1028700"/>
                <a:ext cx="434745" cy="3504387"/>
              </a:xfrm>
              <a:custGeom>
                <a:avLst/>
                <a:gdLst/>
                <a:ahLst/>
                <a:cxnLst>
                  <a:cxn ang="0">
                    <a:pos x="wd2" y="hd2"/>
                  </a:cxn>
                  <a:cxn ang="5400000">
                    <a:pos x="wd2" y="hd2"/>
                  </a:cxn>
                  <a:cxn ang="10800000">
                    <a:pos x="wd2" y="hd2"/>
                  </a:cxn>
                  <a:cxn ang="16200000">
                    <a:pos x="wd2" y="hd2"/>
                  </a:cxn>
                </a:cxnLst>
                <a:rect l="0" t="0" r="r" b="b"/>
                <a:pathLst>
                  <a:path w="21089" h="21600" extrusionOk="0">
                    <a:moveTo>
                      <a:pt x="8804" y="100"/>
                    </a:moveTo>
                    <a:cubicBezTo>
                      <a:pt x="8060" y="166"/>
                      <a:pt x="7413" y="247"/>
                      <a:pt x="6794" y="331"/>
                    </a:cubicBezTo>
                    <a:cubicBezTo>
                      <a:pt x="5555" y="498"/>
                      <a:pt x="4420" y="677"/>
                      <a:pt x="3459" y="872"/>
                    </a:cubicBezTo>
                    <a:cubicBezTo>
                      <a:pt x="949" y="1383"/>
                      <a:pt x="-246" y="1981"/>
                      <a:pt x="42" y="2583"/>
                    </a:cubicBezTo>
                    <a:lnTo>
                      <a:pt x="42" y="18187"/>
                    </a:lnTo>
                    <a:cubicBezTo>
                      <a:pt x="7" y="18787"/>
                      <a:pt x="845" y="19383"/>
                      <a:pt x="2515" y="19945"/>
                    </a:cubicBezTo>
                    <a:cubicBezTo>
                      <a:pt x="4349" y="20561"/>
                      <a:pt x="7148" y="21125"/>
                      <a:pt x="10744" y="21600"/>
                    </a:cubicBezTo>
                    <a:cubicBezTo>
                      <a:pt x="14247" y="21129"/>
                      <a:pt x="16962" y="20572"/>
                      <a:pt x="18727" y="19964"/>
                    </a:cubicBezTo>
                    <a:cubicBezTo>
                      <a:pt x="20421" y="19380"/>
                      <a:pt x="21205" y="18760"/>
                      <a:pt x="21035" y="18138"/>
                    </a:cubicBezTo>
                    <a:lnTo>
                      <a:pt x="21035" y="2541"/>
                    </a:lnTo>
                    <a:cubicBezTo>
                      <a:pt x="21354" y="1955"/>
                      <a:pt x="20265" y="1369"/>
                      <a:pt x="17913" y="863"/>
                    </a:cubicBezTo>
                    <a:cubicBezTo>
                      <a:pt x="17038" y="675"/>
                      <a:pt x="15998" y="500"/>
                      <a:pt x="14879" y="334"/>
                    </a:cubicBezTo>
                    <a:cubicBezTo>
                      <a:pt x="14319" y="251"/>
                      <a:pt x="13737" y="169"/>
                      <a:pt x="13045" y="104"/>
                    </a:cubicBezTo>
                    <a:cubicBezTo>
                      <a:pt x="12412" y="45"/>
                      <a:pt x="11698" y="1"/>
                      <a:pt x="10935" y="0"/>
                    </a:cubicBezTo>
                    <a:cubicBezTo>
                      <a:pt x="10173" y="0"/>
                      <a:pt x="9452" y="43"/>
                      <a:pt x="8804" y="100"/>
                    </a:cubicBezTo>
                    <a:close/>
                  </a:path>
                </a:pathLst>
              </a:custGeom>
              <a:solidFill>
                <a:schemeClr val="tx2">
                  <a:lumMod val="20000"/>
                  <a:lumOff val="80000"/>
                </a:schemeClr>
              </a:solidFill>
              <a:ln w="12700">
                <a:miter lim="400000"/>
              </a:ln>
            </p:spPr>
            <p:txBody>
              <a:bodyPr lIns="71437" tIns="71437" rIns="71437" bIns="71437" anchor="ctr"/>
              <a:lstStyle/>
              <a:p>
                <a:pPr algn="ctr">
                  <a:defRPr sz="3200" cap="none">
                    <a:solidFill>
                      <a:srgbClr val="000000"/>
                    </a:solidFill>
                  </a:defRPr>
                </a:pPr>
                <a:endParaRPr/>
              </a:p>
            </p:txBody>
          </p:sp>
          <p:sp>
            <p:nvSpPr>
              <p:cNvPr id="43" name="ïṧḻíḍè"/>
              <p:cNvSpPr/>
              <p:nvPr/>
            </p:nvSpPr>
            <p:spPr>
              <a:xfrm>
                <a:off x="8583847" y="4044269"/>
                <a:ext cx="65506" cy="97417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3433" y="0"/>
                      <a:pt x="15079" y="0"/>
                      <a:pt x="16666" y="32"/>
                    </a:cubicBezTo>
                    <a:cubicBezTo>
                      <a:pt x="17724" y="55"/>
                      <a:pt x="18668" y="94"/>
                      <a:pt x="19433" y="146"/>
                    </a:cubicBezTo>
                    <a:cubicBezTo>
                      <a:pt x="20199" y="197"/>
                      <a:pt x="20786" y="261"/>
                      <a:pt x="21131" y="332"/>
                    </a:cubicBezTo>
                    <a:cubicBezTo>
                      <a:pt x="21365" y="385"/>
                      <a:pt x="21483" y="439"/>
                      <a:pt x="21541" y="503"/>
                    </a:cubicBezTo>
                    <a:cubicBezTo>
                      <a:pt x="21600" y="566"/>
                      <a:pt x="21600" y="638"/>
                      <a:pt x="21600" y="726"/>
                    </a:cubicBezTo>
                    <a:lnTo>
                      <a:pt x="21600" y="20874"/>
                    </a:lnTo>
                    <a:cubicBezTo>
                      <a:pt x="21600" y="20962"/>
                      <a:pt x="21600" y="21034"/>
                      <a:pt x="21541" y="21097"/>
                    </a:cubicBezTo>
                    <a:cubicBezTo>
                      <a:pt x="21483" y="21161"/>
                      <a:pt x="21365" y="21215"/>
                      <a:pt x="21131" y="21268"/>
                    </a:cubicBezTo>
                    <a:cubicBezTo>
                      <a:pt x="20786" y="21339"/>
                      <a:pt x="20199" y="21403"/>
                      <a:pt x="19433" y="21454"/>
                    </a:cubicBezTo>
                    <a:cubicBezTo>
                      <a:pt x="18668" y="21506"/>
                      <a:pt x="17724" y="21545"/>
                      <a:pt x="16666" y="21568"/>
                    </a:cubicBezTo>
                    <a:cubicBezTo>
                      <a:pt x="15079" y="21600"/>
                      <a:pt x="13433" y="21600"/>
                      <a:pt x="10800" y="21600"/>
                    </a:cubicBezTo>
                    <a:cubicBezTo>
                      <a:pt x="8167" y="21600"/>
                      <a:pt x="6521" y="21600"/>
                      <a:pt x="4934" y="21568"/>
                    </a:cubicBezTo>
                    <a:cubicBezTo>
                      <a:pt x="3876" y="21545"/>
                      <a:pt x="2932" y="21506"/>
                      <a:pt x="2167" y="21454"/>
                    </a:cubicBezTo>
                    <a:cubicBezTo>
                      <a:pt x="1401" y="21403"/>
                      <a:pt x="814" y="21339"/>
                      <a:pt x="469" y="21268"/>
                    </a:cubicBezTo>
                    <a:cubicBezTo>
                      <a:pt x="235" y="21215"/>
                      <a:pt x="117" y="21161"/>
                      <a:pt x="59" y="21097"/>
                    </a:cubicBezTo>
                    <a:cubicBezTo>
                      <a:pt x="0" y="21034"/>
                      <a:pt x="0" y="20962"/>
                      <a:pt x="0" y="20874"/>
                    </a:cubicBezTo>
                    <a:lnTo>
                      <a:pt x="0" y="726"/>
                    </a:lnTo>
                    <a:cubicBezTo>
                      <a:pt x="0" y="638"/>
                      <a:pt x="0" y="566"/>
                      <a:pt x="59" y="503"/>
                    </a:cubicBezTo>
                    <a:cubicBezTo>
                      <a:pt x="117" y="439"/>
                      <a:pt x="235" y="385"/>
                      <a:pt x="469" y="332"/>
                    </a:cubicBezTo>
                    <a:cubicBezTo>
                      <a:pt x="814" y="261"/>
                      <a:pt x="1401" y="197"/>
                      <a:pt x="2167" y="146"/>
                    </a:cubicBezTo>
                    <a:cubicBezTo>
                      <a:pt x="2932" y="94"/>
                      <a:pt x="3876" y="55"/>
                      <a:pt x="4934" y="32"/>
                    </a:cubicBezTo>
                    <a:cubicBezTo>
                      <a:pt x="6521" y="0"/>
                      <a:pt x="8167" y="0"/>
                      <a:pt x="10800" y="0"/>
                    </a:cubicBezTo>
                    <a:close/>
                  </a:path>
                </a:pathLst>
              </a:custGeom>
              <a:solidFill>
                <a:srgbClr val="E5E3E6"/>
              </a:solidFill>
              <a:ln w="12700">
                <a:miter lim="400000"/>
              </a:ln>
            </p:spPr>
            <p:txBody>
              <a:bodyPr lIns="71437" tIns="71437" rIns="71437" bIns="71437" anchor="ctr"/>
              <a:lstStyle/>
              <a:p>
                <a:pPr algn="ctr">
                  <a:defRPr sz="3200" cap="none">
                    <a:solidFill>
                      <a:srgbClr val="FFFFFF"/>
                    </a:solidFill>
                  </a:defRPr>
                </a:pPr>
                <a:endParaRPr/>
              </a:p>
            </p:txBody>
          </p:sp>
          <p:sp>
            <p:nvSpPr>
              <p:cNvPr id="44" name="íŝľíḓe"/>
              <p:cNvSpPr/>
              <p:nvPr/>
            </p:nvSpPr>
            <p:spPr>
              <a:xfrm>
                <a:off x="8440695" y="1186538"/>
                <a:ext cx="352400" cy="138652"/>
              </a:xfrm>
              <a:custGeom>
                <a:avLst/>
                <a:gdLst/>
                <a:ahLst/>
                <a:cxnLst>
                  <a:cxn ang="0">
                    <a:pos x="wd2" y="hd2"/>
                  </a:cxn>
                  <a:cxn ang="5400000">
                    <a:pos x="wd2" y="hd2"/>
                  </a:cxn>
                  <a:cxn ang="10800000">
                    <a:pos x="wd2" y="hd2"/>
                  </a:cxn>
                  <a:cxn ang="16200000">
                    <a:pos x="wd2" y="hd2"/>
                  </a:cxn>
                </a:cxnLst>
                <a:rect l="0" t="0" r="r" b="b"/>
                <a:pathLst>
                  <a:path w="21600" h="21483" extrusionOk="0">
                    <a:moveTo>
                      <a:pt x="0" y="21483"/>
                    </a:moveTo>
                    <a:cubicBezTo>
                      <a:pt x="1199" y="8970"/>
                      <a:pt x="5608" y="118"/>
                      <a:pt x="10701" y="1"/>
                    </a:cubicBezTo>
                    <a:cubicBezTo>
                      <a:pt x="15848" y="-117"/>
                      <a:pt x="20355" y="8701"/>
                      <a:pt x="21600" y="21324"/>
                    </a:cubicBezTo>
                    <a:cubicBezTo>
                      <a:pt x="18521" y="14939"/>
                      <a:pt x="14651" y="11495"/>
                      <a:pt x="10669" y="11594"/>
                    </a:cubicBezTo>
                    <a:cubicBezTo>
                      <a:pt x="6769" y="11691"/>
                      <a:pt x="3001" y="15183"/>
                      <a:pt x="0" y="21483"/>
                    </a:cubicBezTo>
                    <a:close/>
                  </a:path>
                </a:pathLst>
              </a:custGeom>
              <a:solidFill>
                <a:schemeClr val="tx2"/>
              </a:solidFill>
              <a:ln w="12700">
                <a:miter lim="400000"/>
              </a:ln>
            </p:spPr>
            <p:txBody>
              <a:bodyPr lIns="71437" tIns="71437" rIns="71437" bIns="71437" anchor="ctr"/>
              <a:lstStyle/>
              <a:p>
                <a:pPr algn="ctr">
                  <a:defRPr sz="3200" cap="none">
                    <a:solidFill>
                      <a:srgbClr val="000000"/>
                    </a:solidFill>
                  </a:defRPr>
                </a:pPr>
                <a:endParaRPr/>
              </a:p>
            </p:txBody>
          </p:sp>
          <p:grpSp>
            <p:nvGrpSpPr>
              <p:cNvPr id="45" name="îşļíḍè"/>
              <p:cNvGrpSpPr/>
              <p:nvPr/>
            </p:nvGrpSpPr>
            <p:grpSpPr>
              <a:xfrm>
                <a:off x="8440707" y="1564747"/>
                <a:ext cx="351038" cy="2262318"/>
                <a:chOff x="0" y="0"/>
                <a:chExt cx="543321" cy="3501526"/>
              </a:xfrm>
              <a:solidFill>
                <a:schemeClr val="bg1">
                  <a:lumMod val="65000"/>
                </a:schemeClr>
              </a:solidFill>
            </p:grpSpPr>
            <p:sp>
              <p:nvSpPr>
                <p:cNvPr id="53" name="îSļíďé"/>
                <p:cNvSpPr/>
                <p:nvPr/>
              </p:nvSpPr>
              <p:spPr>
                <a:xfrm>
                  <a:off x="0" y="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54" name="isḻíde"/>
                <p:cNvSpPr/>
                <p:nvPr/>
              </p:nvSpPr>
              <p:spPr>
                <a:xfrm>
                  <a:off x="0" y="117475"/>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55" name="i$ḷíḋê"/>
                <p:cNvSpPr/>
                <p:nvPr/>
              </p:nvSpPr>
              <p:spPr>
                <a:xfrm>
                  <a:off x="0" y="23495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56" name="íšḻídé"/>
                <p:cNvSpPr/>
                <p:nvPr/>
              </p:nvSpPr>
              <p:spPr>
                <a:xfrm>
                  <a:off x="0" y="352425"/>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57" name="ïṧḻiḑé"/>
                <p:cNvSpPr/>
                <p:nvPr/>
              </p:nvSpPr>
              <p:spPr>
                <a:xfrm>
                  <a:off x="0" y="46990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58" name="išḷidé"/>
                <p:cNvSpPr/>
                <p:nvPr/>
              </p:nvSpPr>
              <p:spPr>
                <a:xfrm>
                  <a:off x="0" y="587375"/>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59" name="îṥļíḑé"/>
                <p:cNvSpPr/>
                <p:nvPr/>
              </p:nvSpPr>
              <p:spPr>
                <a:xfrm>
                  <a:off x="0" y="70485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0" name="íṥḷîḋe"/>
                <p:cNvSpPr/>
                <p:nvPr/>
              </p:nvSpPr>
              <p:spPr>
                <a:xfrm>
                  <a:off x="0" y="822325"/>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1" name="îsľîďê"/>
                <p:cNvSpPr/>
                <p:nvPr/>
              </p:nvSpPr>
              <p:spPr>
                <a:xfrm>
                  <a:off x="0" y="93980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2" name="i$ḻïḍe"/>
                <p:cNvSpPr/>
                <p:nvPr/>
              </p:nvSpPr>
              <p:spPr>
                <a:xfrm>
                  <a:off x="485775" y="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3" name="î$ľíḋe"/>
                <p:cNvSpPr/>
                <p:nvPr/>
              </p:nvSpPr>
              <p:spPr>
                <a:xfrm>
                  <a:off x="485775" y="117475"/>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4" name="íṧ1iḓé"/>
                <p:cNvSpPr/>
                <p:nvPr/>
              </p:nvSpPr>
              <p:spPr>
                <a:xfrm>
                  <a:off x="485775" y="23495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5" name="íslídé"/>
                <p:cNvSpPr/>
                <p:nvPr/>
              </p:nvSpPr>
              <p:spPr>
                <a:xfrm>
                  <a:off x="485775" y="352425"/>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6" name="ïsļïḍè"/>
                <p:cNvSpPr/>
                <p:nvPr/>
              </p:nvSpPr>
              <p:spPr>
                <a:xfrm>
                  <a:off x="485775" y="46990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7" name="iṥ1ïdê"/>
                <p:cNvSpPr/>
                <p:nvPr/>
              </p:nvSpPr>
              <p:spPr>
                <a:xfrm>
                  <a:off x="485775" y="587375"/>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8" name="îŝ1îḓè"/>
                <p:cNvSpPr/>
                <p:nvPr/>
              </p:nvSpPr>
              <p:spPr>
                <a:xfrm>
                  <a:off x="485775" y="70485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69" name="işlîḋè"/>
                <p:cNvSpPr/>
                <p:nvPr/>
              </p:nvSpPr>
              <p:spPr>
                <a:xfrm>
                  <a:off x="485775" y="822325"/>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0" name="ïṥľîḋé"/>
                <p:cNvSpPr/>
                <p:nvPr/>
              </p:nvSpPr>
              <p:spPr>
                <a:xfrm>
                  <a:off x="485775" y="939800"/>
                  <a:ext cx="56394"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1" name="îš1íďè"/>
                <p:cNvSpPr/>
                <p:nvPr/>
              </p:nvSpPr>
              <p:spPr>
                <a:xfrm>
                  <a:off x="1151" y="124612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2" name="îšḷïdé"/>
                <p:cNvSpPr/>
                <p:nvPr/>
              </p:nvSpPr>
              <p:spPr>
                <a:xfrm>
                  <a:off x="1151" y="1363599"/>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3" name="iṣḷiḑê"/>
                <p:cNvSpPr/>
                <p:nvPr/>
              </p:nvSpPr>
              <p:spPr>
                <a:xfrm>
                  <a:off x="1151" y="148107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4" name="îṧľîde"/>
                <p:cNvSpPr/>
                <p:nvPr/>
              </p:nvSpPr>
              <p:spPr>
                <a:xfrm>
                  <a:off x="1151" y="1598549"/>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5" name="i$ḻiďê"/>
                <p:cNvSpPr/>
                <p:nvPr/>
              </p:nvSpPr>
              <p:spPr>
                <a:xfrm>
                  <a:off x="1151" y="171602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6" name="iṩľíḋe"/>
                <p:cNvSpPr/>
                <p:nvPr/>
              </p:nvSpPr>
              <p:spPr>
                <a:xfrm>
                  <a:off x="1151" y="1833499"/>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7" name="ï$ḻîďê"/>
                <p:cNvSpPr/>
                <p:nvPr/>
              </p:nvSpPr>
              <p:spPr>
                <a:xfrm>
                  <a:off x="1151" y="195097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8" name="î$ḷîḑé"/>
                <p:cNvSpPr/>
                <p:nvPr/>
              </p:nvSpPr>
              <p:spPr>
                <a:xfrm>
                  <a:off x="1151" y="2068449"/>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79" name="îŝ1ídè"/>
                <p:cNvSpPr/>
                <p:nvPr/>
              </p:nvSpPr>
              <p:spPr>
                <a:xfrm>
                  <a:off x="1151" y="218592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0" name="íşḷïdé"/>
                <p:cNvSpPr/>
                <p:nvPr/>
              </p:nvSpPr>
              <p:spPr>
                <a:xfrm>
                  <a:off x="486926" y="124612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1" name="íṥ1ïďé"/>
                <p:cNvSpPr/>
                <p:nvPr/>
              </p:nvSpPr>
              <p:spPr>
                <a:xfrm>
                  <a:off x="486926" y="1363599"/>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2" name="íṧľîḍè"/>
                <p:cNvSpPr/>
                <p:nvPr/>
              </p:nvSpPr>
              <p:spPr>
                <a:xfrm>
                  <a:off x="486926" y="148107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3" name="işḻîdê"/>
                <p:cNvSpPr/>
                <p:nvPr/>
              </p:nvSpPr>
              <p:spPr>
                <a:xfrm>
                  <a:off x="486926" y="1598549"/>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4" name="íṥļíḍe"/>
                <p:cNvSpPr/>
                <p:nvPr/>
              </p:nvSpPr>
              <p:spPr>
                <a:xfrm>
                  <a:off x="486926" y="171602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5" name="ïṣľïdè"/>
                <p:cNvSpPr/>
                <p:nvPr/>
              </p:nvSpPr>
              <p:spPr>
                <a:xfrm>
                  <a:off x="486926" y="1833499"/>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6" name="íş1iḋè"/>
                <p:cNvSpPr/>
                <p:nvPr/>
              </p:nvSpPr>
              <p:spPr>
                <a:xfrm>
                  <a:off x="486926" y="195097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7" name="ïṧliḍê"/>
                <p:cNvSpPr/>
                <p:nvPr/>
              </p:nvSpPr>
              <p:spPr>
                <a:xfrm>
                  <a:off x="486926" y="2068449"/>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8" name="isľîḍe"/>
                <p:cNvSpPr/>
                <p:nvPr/>
              </p:nvSpPr>
              <p:spPr>
                <a:xfrm>
                  <a:off x="486926" y="2185924"/>
                  <a:ext cx="56395" cy="56395"/>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89" name="îṣḻïḑé"/>
                <p:cNvSpPr/>
                <p:nvPr/>
              </p:nvSpPr>
              <p:spPr>
                <a:xfrm>
                  <a:off x="1151" y="250533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0" name="ï$1ïdè"/>
                <p:cNvSpPr/>
                <p:nvPr/>
              </p:nvSpPr>
              <p:spPr>
                <a:xfrm>
                  <a:off x="1151" y="2622807"/>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1" name="iṡḷiḋè"/>
                <p:cNvSpPr/>
                <p:nvPr/>
              </p:nvSpPr>
              <p:spPr>
                <a:xfrm>
                  <a:off x="1151" y="274028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2" name="išḷíďe"/>
                <p:cNvSpPr/>
                <p:nvPr/>
              </p:nvSpPr>
              <p:spPr>
                <a:xfrm>
                  <a:off x="1151" y="2857757"/>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3" name="î$1ïdè"/>
                <p:cNvSpPr/>
                <p:nvPr/>
              </p:nvSpPr>
              <p:spPr>
                <a:xfrm>
                  <a:off x="1151" y="297523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4" name="ï$líḋè"/>
                <p:cNvSpPr/>
                <p:nvPr/>
              </p:nvSpPr>
              <p:spPr>
                <a:xfrm>
                  <a:off x="1151" y="3092707"/>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5" name="íṥľíḋe"/>
                <p:cNvSpPr/>
                <p:nvPr/>
              </p:nvSpPr>
              <p:spPr>
                <a:xfrm>
                  <a:off x="1151" y="321018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6" name="íšḷïďe"/>
                <p:cNvSpPr/>
                <p:nvPr/>
              </p:nvSpPr>
              <p:spPr>
                <a:xfrm>
                  <a:off x="1151" y="3327657"/>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7" name="işḻïḍé"/>
                <p:cNvSpPr/>
                <p:nvPr/>
              </p:nvSpPr>
              <p:spPr>
                <a:xfrm>
                  <a:off x="1151" y="344513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8" name="í$ḷîḋè"/>
                <p:cNvSpPr/>
                <p:nvPr/>
              </p:nvSpPr>
              <p:spPr>
                <a:xfrm>
                  <a:off x="486926" y="250533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99" name="î$1ïdê"/>
                <p:cNvSpPr/>
                <p:nvPr/>
              </p:nvSpPr>
              <p:spPr>
                <a:xfrm>
                  <a:off x="486926" y="2622807"/>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100" name="iş1íḓé"/>
                <p:cNvSpPr/>
                <p:nvPr/>
              </p:nvSpPr>
              <p:spPr>
                <a:xfrm>
                  <a:off x="486926" y="274028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101" name="iṧļîdê"/>
                <p:cNvSpPr/>
                <p:nvPr/>
              </p:nvSpPr>
              <p:spPr>
                <a:xfrm>
                  <a:off x="486926" y="2857757"/>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102" name="íŝliḑe"/>
                <p:cNvSpPr/>
                <p:nvPr/>
              </p:nvSpPr>
              <p:spPr>
                <a:xfrm>
                  <a:off x="486926" y="297523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103" name="íšḷîďe"/>
                <p:cNvSpPr/>
                <p:nvPr/>
              </p:nvSpPr>
              <p:spPr>
                <a:xfrm>
                  <a:off x="486926" y="3092707"/>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104" name="îṣlïďe"/>
                <p:cNvSpPr/>
                <p:nvPr/>
              </p:nvSpPr>
              <p:spPr>
                <a:xfrm>
                  <a:off x="486926" y="321018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105" name="ïṡḷïďe"/>
                <p:cNvSpPr/>
                <p:nvPr/>
              </p:nvSpPr>
              <p:spPr>
                <a:xfrm>
                  <a:off x="486926" y="3327657"/>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106" name="ïṧ1iḓé"/>
                <p:cNvSpPr/>
                <p:nvPr/>
              </p:nvSpPr>
              <p:spPr>
                <a:xfrm>
                  <a:off x="486926" y="3445132"/>
                  <a:ext cx="56395" cy="56394"/>
                </a:xfrm>
                <a:prstGeom prst="ellipse">
                  <a:avLst/>
                </a:pr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grpSp>
          <p:grpSp>
            <p:nvGrpSpPr>
              <p:cNvPr id="46" name="íṧlîďê"/>
              <p:cNvGrpSpPr/>
              <p:nvPr/>
            </p:nvGrpSpPr>
            <p:grpSpPr>
              <a:xfrm>
                <a:off x="9189362" y="3615910"/>
                <a:ext cx="785931" cy="766320"/>
                <a:chOff x="0" y="0"/>
                <a:chExt cx="1216418" cy="1186066"/>
              </a:xfrm>
              <a:solidFill>
                <a:schemeClr val="tx2">
                  <a:lumMod val="20000"/>
                  <a:lumOff val="80000"/>
                </a:schemeClr>
              </a:solidFill>
            </p:grpSpPr>
            <p:sp>
              <p:nvSpPr>
                <p:cNvPr id="47" name="ïŝ1ïḋé"/>
                <p:cNvSpPr/>
                <p:nvPr/>
              </p:nvSpPr>
              <p:spPr>
                <a:xfrm>
                  <a:off x="0" y="0"/>
                  <a:ext cx="639801" cy="1186066"/>
                </a:xfrm>
                <a:custGeom>
                  <a:avLst/>
                  <a:gdLst/>
                  <a:ahLst/>
                  <a:cxnLst>
                    <a:cxn ang="0">
                      <a:pos x="wd2" y="hd2"/>
                    </a:cxn>
                    <a:cxn ang="5400000">
                      <a:pos x="wd2" y="hd2"/>
                    </a:cxn>
                    <a:cxn ang="10800000">
                      <a:pos x="wd2" y="hd2"/>
                    </a:cxn>
                    <a:cxn ang="16200000">
                      <a:pos x="wd2" y="hd2"/>
                    </a:cxn>
                  </a:cxnLst>
                  <a:rect l="0" t="0" r="r" b="b"/>
                  <a:pathLst>
                    <a:path w="21531" h="21600" extrusionOk="0">
                      <a:moveTo>
                        <a:pt x="24" y="14080"/>
                      </a:moveTo>
                      <a:lnTo>
                        <a:pt x="17802" y="11322"/>
                      </a:lnTo>
                      <a:lnTo>
                        <a:pt x="18217" y="16238"/>
                      </a:lnTo>
                      <a:cubicBezTo>
                        <a:pt x="18211" y="16598"/>
                        <a:pt x="18327" y="16957"/>
                        <a:pt x="18559" y="17295"/>
                      </a:cubicBezTo>
                      <a:cubicBezTo>
                        <a:pt x="18669" y="17455"/>
                        <a:pt x="18805" y="17611"/>
                        <a:pt x="18965" y="17759"/>
                      </a:cubicBezTo>
                      <a:lnTo>
                        <a:pt x="13465" y="19149"/>
                      </a:lnTo>
                      <a:cubicBezTo>
                        <a:pt x="13101" y="19317"/>
                        <a:pt x="12792" y="19518"/>
                        <a:pt x="12552" y="19742"/>
                      </a:cubicBezTo>
                      <a:cubicBezTo>
                        <a:pt x="12088" y="20177"/>
                        <a:pt x="11898" y="20681"/>
                        <a:pt x="12011" y="21180"/>
                      </a:cubicBezTo>
                      <a:lnTo>
                        <a:pt x="20037" y="19614"/>
                      </a:lnTo>
                      <a:lnTo>
                        <a:pt x="20459" y="21600"/>
                      </a:lnTo>
                      <a:cubicBezTo>
                        <a:pt x="21160" y="18155"/>
                        <a:pt x="21518" y="14692"/>
                        <a:pt x="21530" y="11226"/>
                      </a:cubicBezTo>
                      <a:cubicBezTo>
                        <a:pt x="21544" y="7475"/>
                        <a:pt x="21154" y="3726"/>
                        <a:pt x="20361" y="0"/>
                      </a:cubicBezTo>
                      <a:cubicBezTo>
                        <a:pt x="19847" y="140"/>
                        <a:pt x="19403" y="345"/>
                        <a:pt x="19067" y="598"/>
                      </a:cubicBezTo>
                      <a:cubicBezTo>
                        <a:pt x="18712" y="866"/>
                        <a:pt x="18491" y="1179"/>
                        <a:pt x="18424" y="1508"/>
                      </a:cubicBezTo>
                      <a:lnTo>
                        <a:pt x="18336" y="7431"/>
                      </a:lnTo>
                      <a:lnTo>
                        <a:pt x="1541" y="11966"/>
                      </a:lnTo>
                      <a:cubicBezTo>
                        <a:pt x="1038" y="12208"/>
                        <a:pt x="639" y="12507"/>
                        <a:pt x="374" y="12842"/>
                      </a:cubicBezTo>
                      <a:cubicBezTo>
                        <a:pt x="64" y="13232"/>
                        <a:pt x="-56" y="13658"/>
                        <a:pt x="24" y="14080"/>
                      </a:cubicBezTo>
                      <a:close/>
                    </a:path>
                  </a:pathLst>
                </a:custGeom>
                <a:grpFill/>
                <a:ln w="12700" cap="flat">
                  <a:noFill/>
                  <a:miter lim="400000"/>
                </a:ln>
                <a:effectLst/>
              </p:spPr>
              <p:txBody>
                <a:bodyPr wrap="square" lIns="71437" tIns="71437" rIns="71437" bIns="71437" numCol="1" anchor="ctr">
                  <a:noAutofit/>
                </a:bodyPr>
                <a:lstStyle/>
                <a:p>
                  <a:pPr algn="ctr">
                    <a:defRPr sz="3200" cap="none">
                      <a:solidFill>
                        <a:srgbClr val="000000"/>
                      </a:solidFill>
                    </a:defRPr>
                  </a:pPr>
                  <a:endParaRPr/>
                </a:p>
              </p:txBody>
            </p:sp>
            <p:sp>
              <p:nvSpPr>
                <p:cNvPr id="48" name="iṥļiḍè"/>
                <p:cNvSpPr/>
                <p:nvPr/>
              </p:nvSpPr>
              <p:spPr>
                <a:xfrm>
                  <a:off x="607141" y="0"/>
                  <a:ext cx="609277" cy="1183122"/>
                </a:xfrm>
                <a:custGeom>
                  <a:avLst/>
                  <a:gdLst/>
                  <a:ahLst/>
                  <a:cxnLst>
                    <a:cxn ang="0">
                      <a:pos x="wd2" y="hd2"/>
                    </a:cxn>
                    <a:cxn ang="5400000">
                      <a:pos x="wd2" y="hd2"/>
                    </a:cxn>
                    <a:cxn ang="10800000">
                      <a:pos x="wd2" y="hd2"/>
                    </a:cxn>
                    <a:cxn ang="16200000">
                      <a:pos x="wd2" y="hd2"/>
                    </a:cxn>
                  </a:cxnLst>
                  <a:rect l="0" t="0" r="r" b="b"/>
                  <a:pathLst>
                    <a:path w="21541" h="21600" extrusionOk="0">
                      <a:moveTo>
                        <a:pt x="21516" y="14115"/>
                      </a:moveTo>
                      <a:lnTo>
                        <a:pt x="2839" y="11350"/>
                      </a:lnTo>
                      <a:lnTo>
                        <a:pt x="2402" y="16278"/>
                      </a:lnTo>
                      <a:cubicBezTo>
                        <a:pt x="2409" y="16640"/>
                        <a:pt x="2287" y="16999"/>
                        <a:pt x="2044" y="17338"/>
                      </a:cubicBezTo>
                      <a:cubicBezTo>
                        <a:pt x="1928" y="17499"/>
                        <a:pt x="1785" y="17655"/>
                        <a:pt x="1616" y="17803"/>
                      </a:cubicBezTo>
                      <a:lnTo>
                        <a:pt x="7395" y="19196"/>
                      </a:lnTo>
                      <a:cubicBezTo>
                        <a:pt x="7778" y="19365"/>
                        <a:pt x="8102" y="19566"/>
                        <a:pt x="8354" y="19791"/>
                      </a:cubicBezTo>
                      <a:cubicBezTo>
                        <a:pt x="8841" y="20227"/>
                        <a:pt x="9041" y="20733"/>
                        <a:pt x="8922" y="21232"/>
                      </a:cubicBezTo>
                      <a:lnTo>
                        <a:pt x="490" y="19662"/>
                      </a:lnTo>
                      <a:lnTo>
                        <a:pt x="14" y="21600"/>
                      </a:lnTo>
                      <a:lnTo>
                        <a:pt x="0" y="0"/>
                      </a:lnTo>
                      <a:cubicBezTo>
                        <a:pt x="601" y="124"/>
                        <a:pt x="1123" y="331"/>
                        <a:pt x="1509" y="599"/>
                      </a:cubicBezTo>
                      <a:cubicBezTo>
                        <a:pt x="1892" y="866"/>
                        <a:pt x="2126" y="1181"/>
                        <a:pt x="2185" y="1511"/>
                      </a:cubicBezTo>
                      <a:lnTo>
                        <a:pt x="2277" y="7449"/>
                      </a:lnTo>
                      <a:lnTo>
                        <a:pt x="19922" y="11996"/>
                      </a:lnTo>
                      <a:cubicBezTo>
                        <a:pt x="20451" y="12238"/>
                        <a:pt x="20869" y="12538"/>
                        <a:pt x="21149" y="12874"/>
                      </a:cubicBezTo>
                      <a:cubicBezTo>
                        <a:pt x="21474" y="13265"/>
                        <a:pt x="21600" y="13692"/>
                        <a:pt x="21516" y="14115"/>
                      </a:cubicBezTo>
                      <a:close/>
                    </a:path>
                  </a:pathLst>
                </a:custGeom>
                <a:grpFill/>
                <a:ln w="12700" cap="flat">
                  <a:noFill/>
                  <a:miter lim="400000"/>
                </a:ln>
                <a:effectLst/>
              </p:spPr>
              <p:txBody>
                <a:bodyPr wrap="square" lIns="71437" tIns="71437" rIns="71437" bIns="71437" numCol="1" anchor="ctr">
                  <a:noAutofit/>
                </a:bodyPr>
                <a:lstStyle/>
                <a:p>
                  <a:pPr algn="ctr">
                    <a:defRPr sz="3200" cap="none">
                      <a:solidFill>
                        <a:srgbClr val="000000"/>
                      </a:solidFill>
                    </a:defRPr>
                  </a:pPr>
                  <a:endParaRPr/>
                </a:p>
              </p:txBody>
            </p:sp>
            <p:sp>
              <p:nvSpPr>
                <p:cNvPr id="49" name="iṡ1iḑe"/>
                <p:cNvSpPr/>
                <p:nvPr/>
              </p:nvSpPr>
              <p:spPr>
                <a:xfrm>
                  <a:off x="161377" y="507296"/>
                  <a:ext cx="68570" cy="16574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13782" y="0"/>
                        <a:pt x="16482" y="500"/>
                        <a:pt x="18437" y="1309"/>
                      </a:cubicBezTo>
                      <a:cubicBezTo>
                        <a:pt x="20391" y="2117"/>
                        <a:pt x="21600" y="3234"/>
                        <a:pt x="21600" y="4468"/>
                      </a:cubicBezTo>
                      <a:lnTo>
                        <a:pt x="21600" y="4468"/>
                      </a:lnTo>
                      <a:lnTo>
                        <a:pt x="21600" y="17132"/>
                      </a:lnTo>
                      <a:lnTo>
                        <a:pt x="21600" y="17132"/>
                      </a:lnTo>
                      <a:cubicBezTo>
                        <a:pt x="21600" y="18366"/>
                        <a:pt x="20391" y="19483"/>
                        <a:pt x="18437" y="20291"/>
                      </a:cubicBezTo>
                      <a:cubicBezTo>
                        <a:pt x="16482" y="21100"/>
                        <a:pt x="13782" y="21600"/>
                        <a:pt x="10800" y="21600"/>
                      </a:cubicBezTo>
                      <a:lnTo>
                        <a:pt x="10800" y="21600"/>
                      </a:lnTo>
                      <a:lnTo>
                        <a:pt x="10800" y="21600"/>
                      </a:lnTo>
                      <a:cubicBezTo>
                        <a:pt x="7818" y="21600"/>
                        <a:pt x="5118" y="21100"/>
                        <a:pt x="3163" y="20291"/>
                      </a:cubicBezTo>
                      <a:cubicBezTo>
                        <a:pt x="1209" y="19483"/>
                        <a:pt x="0" y="18366"/>
                        <a:pt x="0" y="17132"/>
                      </a:cubicBezTo>
                      <a:lnTo>
                        <a:pt x="0" y="17132"/>
                      </a:lnTo>
                      <a:lnTo>
                        <a:pt x="0" y="4468"/>
                      </a:lnTo>
                      <a:lnTo>
                        <a:pt x="0" y="4468"/>
                      </a:lnTo>
                      <a:cubicBezTo>
                        <a:pt x="0" y="3234"/>
                        <a:pt x="1209" y="2117"/>
                        <a:pt x="3163" y="1309"/>
                      </a:cubicBezTo>
                      <a:cubicBezTo>
                        <a:pt x="5118" y="500"/>
                        <a:pt x="7818" y="0"/>
                        <a:pt x="10800" y="0"/>
                      </a:cubicBezTo>
                      <a:lnTo>
                        <a:pt x="10800" y="0"/>
                      </a:lnTo>
                      <a:close/>
                    </a:path>
                  </a:pathLst>
                </a:cu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50" name="í$ḻîḓê"/>
                <p:cNvSpPr/>
                <p:nvPr/>
              </p:nvSpPr>
              <p:spPr>
                <a:xfrm>
                  <a:off x="358227" y="405696"/>
                  <a:ext cx="68570" cy="16574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13782" y="0"/>
                        <a:pt x="16482" y="500"/>
                        <a:pt x="18437" y="1309"/>
                      </a:cubicBezTo>
                      <a:cubicBezTo>
                        <a:pt x="20391" y="2117"/>
                        <a:pt x="21600" y="3234"/>
                        <a:pt x="21600" y="4468"/>
                      </a:cubicBezTo>
                      <a:lnTo>
                        <a:pt x="21600" y="4468"/>
                      </a:lnTo>
                      <a:lnTo>
                        <a:pt x="21600" y="17132"/>
                      </a:lnTo>
                      <a:lnTo>
                        <a:pt x="21600" y="17132"/>
                      </a:lnTo>
                      <a:cubicBezTo>
                        <a:pt x="21600" y="18366"/>
                        <a:pt x="20391" y="19483"/>
                        <a:pt x="18437" y="20291"/>
                      </a:cubicBezTo>
                      <a:cubicBezTo>
                        <a:pt x="16482" y="21100"/>
                        <a:pt x="13782" y="21600"/>
                        <a:pt x="10800" y="21600"/>
                      </a:cubicBezTo>
                      <a:lnTo>
                        <a:pt x="10800" y="21600"/>
                      </a:lnTo>
                      <a:lnTo>
                        <a:pt x="10800" y="21600"/>
                      </a:lnTo>
                      <a:cubicBezTo>
                        <a:pt x="7818" y="21600"/>
                        <a:pt x="5118" y="21100"/>
                        <a:pt x="3163" y="20291"/>
                      </a:cubicBezTo>
                      <a:cubicBezTo>
                        <a:pt x="1209" y="19483"/>
                        <a:pt x="0" y="18366"/>
                        <a:pt x="0" y="17132"/>
                      </a:cubicBezTo>
                      <a:lnTo>
                        <a:pt x="0" y="17132"/>
                      </a:lnTo>
                      <a:lnTo>
                        <a:pt x="0" y="4468"/>
                      </a:lnTo>
                      <a:lnTo>
                        <a:pt x="0" y="4468"/>
                      </a:lnTo>
                      <a:cubicBezTo>
                        <a:pt x="0" y="3234"/>
                        <a:pt x="1209" y="2117"/>
                        <a:pt x="3163" y="1309"/>
                      </a:cubicBezTo>
                      <a:cubicBezTo>
                        <a:pt x="5118" y="500"/>
                        <a:pt x="7818" y="0"/>
                        <a:pt x="10800" y="0"/>
                      </a:cubicBezTo>
                      <a:lnTo>
                        <a:pt x="10800" y="0"/>
                      </a:lnTo>
                      <a:close/>
                    </a:path>
                  </a:pathLst>
                </a:cu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51" name="íṩḻidê"/>
                <p:cNvSpPr/>
                <p:nvPr/>
              </p:nvSpPr>
              <p:spPr>
                <a:xfrm>
                  <a:off x="828760" y="405696"/>
                  <a:ext cx="68569" cy="16574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13782" y="0"/>
                        <a:pt x="16482" y="500"/>
                        <a:pt x="18437" y="1309"/>
                      </a:cubicBezTo>
                      <a:cubicBezTo>
                        <a:pt x="20391" y="2117"/>
                        <a:pt x="21600" y="3234"/>
                        <a:pt x="21600" y="4468"/>
                      </a:cubicBezTo>
                      <a:lnTo>
                        <a:pt x="21600" y="4468"/>
                      </a:lnTo>
                      <a:lnTo>
                        <a:pt x="21600" y="17132"/>
                      </a:lnTo>
                      <a:lnTo>
                        <a:pt x="21600" y="17132"/>
                      </a:lnTo>
                      <a:cubicBezTo>
                        <a:pt x="21600" y="18366"/>
                        <a:pt x="20391" y="19483"/>
                        <a:pt x="18437" y="20291"/>
                      </a:cubicBezTo>
                      <a:cubicBezTo>
                        <a:pt x="16482" y="21100"/>
                        <a:pt x="13782" y="21600"/>
                        <a:pt x="10800" y="21600"/>
                      </a:cubicBezTo>
                      <a:lnTo>
                        <a:pt x="10800" y="21600"/>
                      </a:lnTo>
                      <a:lnTo>
                        <a:pt x="10800" y="21600"/>
                      </a:lnTo>
                      <a:cubicBezTo>
                        <a:pt x="7818" y="21600"/>
                        <a:pt x="5118" y="21100"/>
                        <a:pt x="3163" y="20291"/>
                      </a:cubicBezTo>
                      <a:cubicBezTo>
                        <a:pt x="1209" y="19483"/>
                        <a:pt x="0" y="18366"/>
                        <a:pt x="0" y="17132"/>
                      </a:cubicBezTo>
                      <a:lnTo>
                        <a:pt x="0" y="17132"/>
                      </a:lnTo>
                      <a:lnTo>
                        <a:pt x="0" y="4468"/>
                      </a:lnTo>
                      <a:lnTo>
                        <a:pt x="0" y="4468"/>
                      </a:lnTo>
                      <a:cubicBezTo>
                        <a:pt x="0" y="3234"/>
                        <a:pt x="1209" y="2117"/>
                        <a:pt x="3163" y="1309"/>
                      </a:cubicBezTo>
                      <a:cubicBezTo>
                        <a:pt x="5118" y="500"/>
                        <a:pt x="7818" y="0"/>
                        <a:pt x="10800" y="0"/>
                      </a:cubicBezTo>
                      <a:lnTo>
                        <a:pt x="10800" y="0"/>
                      </a:lnTo>
                      <a:close/>
                    </a:path>
                  </a:pathLst>
                </a:cu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sp>
              <p:nvSpPr>
                <p:cNvPr id="52" name="ïś1iḓe"/>
                <p:cNvSpPr/>
                <p:nvPr/>
              </p:nvSpPr>
              <p:spPr>
                <a:xfrm>
                  <a:off x="1020581" y="509091"/>
                  <a:ext cx="68569" cy="16574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13782" y="0"/>
                        <a:pt x="16482" y="500"/>
                        <a:pt x="18437" y="1309"/>
                      </a:cubicBezTo>
                      <a:cubicBezTo>
                        <a:pt x="20391" y="2117"/>
                        <a:pt x="21600" y="3234"/>
                        <a:pt x="21600" y="4468"/>
                      </a:cubicBezTo>
                      <a:lnTo>
                        <a:pt x="21600" y="4468"/>
                      </a:lnTo>
                      <a:lnTo>
                        <a:pt x="21600" y="17132"/>
                      </a:lnTo>
                      <a:lnTo>
                        <a:pt x="21600" y="17132"/>
                      </a:lnTo>
                      <a:cubicBezTo>
                        <a:pt x="21600" y="18366"/>
                        <a:pt x="20391" y="19483"/>
                        <a:pt x="18437" y="20291"/>
                      </a:cubicBezTo>
                      <a:cubicBezTo>
                        <a:pt x="16482" y="21100"/>
                        <a:pt x="13782" y="21600"/>
                        <a:pt x="10800" y="21600"/>
                      </a:cubicBezTo>
                      <a:lnTo>
                        <a:pt x="10800" y="21600"/>
                      </a:lnTo>
                      <a:lnTo>
                        <a:pt x="10800" y="21600"/>
                      </a:lnTo>
                      <a:cubicBezTo>
                        <a:pt x="7818" y="21600"/>
                        <a:pt x="5118" y="21100"/>
                        <a:pt x="3163" y="20291"/>
                      </a:cubicBezTo>
                      <a:cubicBezTo>
                        <a:pt x="1209" y="19483"/>
                        <a:pt x="0" y="18366"/>
                        <a:pt x="0" y="17132"/>
                      </a:cubicBezTo>
                      <a:lnTo>
                        <a:pt x="0" y="17132"/>
                      </a:lnTo>
                      <a:lnTo>
                        <a:pt x="0" y="4468"/>
                      </a:lnTo>
                      <a:lnTo>
                        <a:pt x="0" y="4468"/>
                      </a:lnTo>
                      <a:cubicBezTo>
                        <a:pt x="0" y="3234"/>
                        <a:pt x="1209" y="2117"/>
                        <a:pt x="3163" y="1309"/>
                      </a:cubicBezTo>
                      <a:cubicBezTo>
                        <a:pt x="5118" y="500"/>
                        <a:pt x="7818" y="0"/>
                        <a:pt x="10800" y="0"/>
                      </a:cubicBezTo>
                      <a:lnTo>
                        <a:pt x="10800" y="0"/>
                      </a:lnTo>
                      <a:close/>
                    </a:path>
                  </a:pathLst>
                </a:custGeom>
                <a:grpFill/>
                <a:ln w="12700" cap="flat">
                  <a:noFill/>
                  <a:miter lim="400000"/>
                </a:ln>
                <a:effectLst/>
              </p:spPr>
              <p:txBody>
                <a:bodyPr wrap="square" lIns="71437" tIns="71437" rIns="71437" bIns="71437" numCol="1" anchor="ctr">
                  <a:noAutofit/>
                </a:bodyPr>
                <a:lstStyle/>
                <a:p>
                  <a:pPr algn="ctr">
                    <a:defRPr sz="3200" cap="none">
                      <a:solidFill>
                        <a:srgbClr val="FFFFFF"/>
                      </a:solidFill>
                    </a:defRPr>
                  </a:pPr>
                  <a:endParaRPr/>
                </a:p>
              </p:txBody>
            </p:sp>
          </p:grpSp>
        </p:grpSp>
        <p:sp>
          <p:nvSpPr>
            <p:cNvPr id="7" name="išľîḓè"/>
            <p:cNvSpPr/>
            <p:nvPr/>
          </p:nvSpPr>
          <p:spPr>
            <a:xfrm>
              <a:off x="0" y="4932518"/>
              <a:ext cx="12192000" cy="1925482"/>
            </a:xfrm>
            <a:custGeom>
              <a:avLst/>
              <a:gdLst/>
              <a:ahLst/>
              <a:cxnLst>
                <a:cxn ang="0">
                  <a:pos x="wd2" y="hd2"/>
                </a:cxn>
                <a:cxn ang="5400000">
                  <a:pos x="wd2" y="hd2"/>
                </a:cxn>
                <a:cxn ang="10800000">
                  <a:pos x="wd2" y="hd2"/>
                </a:cxn>
                <a:cxn ang="16200000">
                  <a:pos x="wd2" y="hd2"/>
                </a:cxn>
              </a:cxnLst>
              <a:rect l="0" t="0" r="r" b="b"/>
              <a:pathLst>
                <a:path w="21600" h="19765" extrusionOk="0">
                  <a:moveTo>
                    <a:pt x="21600" y="19633"/>
                  </a:moveTo>
                  <a:lnTo>
                    <a:pt x="21600" y="4678"/>
                  </a:lnTo>
                  <a:cubicBezTo>
                    <a:pt x="21519" y="5200"/>
                    <a:pt x="21450" y="5778"/>
                    <a:pt x="21394" y="6397"/>
                  </a:cubicBezTo>
                  <a:cubicBezTo>
                    <a:pt x="21326" y="7134"/>
                    <a:pt x="21278" y="7922"/>
                    <a:pt x="21250" y="8739"/>
                  </a:cubicBezTo>
                  <a:cubicBezTo>
                    <a:pt x="20732" y="6146"/>
                    <a:pt x="20024" y="5226"/>
                    <a:pt x="19365" y="6289"/>
                  </a:cubicBezTo>
                  <a:cubicBezTo>
                    <a:pt x="18691" y="7375"/>
                    <a:pt x="18159" y="10379"/>
                    <a:pt x="17955" y="14256"/>
                  </a:cubicBezTo>
                  <a:cubicBezTo>
                    <a:pt x="17634" y="12696"/>
                    <a:pt x="17199" y="12181"/>
                    <a:pt x="16798" y="12887"/>
                  </a:cubicBezTo>
                  <a:cubicBezTo>
                    <a:pt x="16407" y="13575"/>
                    <a:pt x="16100" y="15338"/>
                    <a:pt x="15978" y="17597"/>
                  </a:cubicBezTo>
                  <a:cubicBezTo>
                    <a:pt x="15803" y="16521"/>
                    <a:pt x="15571" y="15813"/>
                    <a:pt x="15318" y="15584"/>
                  </a:cubicBezTo>
                  <a:cubicBezTo>
                    <a:pt x="15024" y="15317"/>
                    <a:pt x="14722" y="15720"/>
                    <a:pt x="14477" y="16708"/>
                  </a:cubicBezTo>
                  <a:cubicBezTo>
                    <a:pt x="14291" y="14758"/>
                    <a:pt x="14004" y="13198"/>
                    <a:pt x="13655" y="12253"/>
                  </a:cubicBezTo>
                  <a:cubicBezTo>
                    <a:pt x="13039" y="10580"/>
                    <a:pt x="12315" y="10968"/>
                    <a:pt x="11762" y="13266"/>
                  </a:cubicBezTo>
                  <a:cubicBezTo>
                    <a:pt x="11578" y="11890"/>
                    <a:pt x="11312" y="10963"/>
                    <a:pt x="11015" y="10670"/>
                  </a:cubicBezTo>
                  <a:cubicBezTo>
                    <a:pt x="10742" y="10401"/>
                    <a:pt x="10462" y="10688"/>
                    <a:pt x="10221" y="11483"/>
                  </a:cubicBezTo>
                  <a:cubicBezTo>
                    <a:pt x="10170" y="7291"/>
                    <a:pt x="9751" y="3546"/>
                    <a:pt x="9112" y="1556"/>
                  </a:cubicBezTo>
                  <a:cubicBezTo>
                    <a:pt x="8023" y="-1835"/>
                    <a:pt x="6666" y="498"/>
                    <a:pt x="6072" y="6781"/>
                  </a:cubicBezTo>
                  <a:cubicBezTo>
                    <a:pt x="5812" y="5146"/>
                    <a:pt x="5436" y="4296"/>
                    <a:pt x="5053" y="4477"/>
                  </a:cubicBezTo>
                  <a:cubicBezTo>
                    <a:pt x="4640" y="4672"/>
                    <a:pt x="4271" y="6034"/>
                    <a:pt x="4065" y="8117"/>
                  </a:cubicBezTo>
                  <a:cubicBezTo>
                    <a:pt x="3794" y="6709"/>
                    <a:pt x="3446" y="5902"/>
                    <a:pt x="3082" y="5841"/>
                  </a:cubicBezTo>
                  <a:cubicBezTo>
                    <a:pt x="2707" y="5778"/>
                    <a:pt x="2342" y="6506"/>
                    <a:pt x="2053" y="7890"/>
                  </a:cubicBezTo>
                  <a:cubicBezTo>
                    <a:pt x="1856" y="5787"/>
                    <a:pt x="1565" y="4032"/>
                    <a:pt x="1210" y="2809"/>
                  </a:cubicBezTo>
                  <a:cubicBezTo>
                    <a:pt x="848" y="1560"/>
                    <a:pt x="433" y="914"/>
                    <a:pt x="11" y="942"/>
                  </a:cubicBezTo>
                  <a:lnTo>
                    <a:pt x="0" y="19765"/>
                  </a:lnTo>
                  <a:lnTo>
                    <a:pt x="21600" y="19633"/>
                  </a:lnTo>
                  <a:close/>
                </a:path>
              </a:pathLst>
            </a:custGeom>
            <a:solidFill>
              <a:schemeClr val="tx2">
                <a:lumMod val="20000"/>
                <a:lumOff val="80000"/>
              </a:schemeClr>
            </a:solidFill>
            <a:ln w="12700">
              <a:miter lim="400000"/>
            </a:ln>
          </p:spPr>
          <p:txBody>
            <a:bodyPr lIns="71437" tIns="71437" rIns="71437" bIns="71437" anchor="ctr"/>
            <a:lstStyle/>
            <a:p>
              <a:pPr algn="ctr">
                <a:defRPr sz="3200" cap="none">
                  <a:solidFill>
                    <a:srgbClr val="000000"/>
                  </a:solidFill>
                </a:defRPr>
              </a:pPr>
              <a:endParaRPr/>
            </a:p>
          </p:txBody>
        </p:sp>
        <p:grpSp>
          <p:nvGrpSpPr>
            <p:cNvPr id="8" name="ïṧḷîdé"/>
            <p:cNvGrpSpPr/>
            <p:nvPr/>
          </p:nvGrpSpPr>
          <p:grpSpPr>
            <a:xfrm>
              <a:off x="599882" y="1130300"/>
              <a:ext cx="7577951" cy="2569437"/>
              <a:chOff x="620109" y="2398652"/>
              <a:chExt cx="5823974" cy="2569437"/>
            </a:xfrm>
          </p:grpSpPr>
          <p:sp>
            <p:nvSpPr>
              <p:cNvPr id="14" name="îšḻíḓè"/>
              <p:cNvSpPr/>
              <p:nvPr/>
            </p:nvSpPr>
            <p:spPr>
              <a:xfrm>
                <a:off x="620109" y="2438463"/>
                <a:ext cx="5823974" cy="252962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0000" anchor="t" anchorCtr="0">
                <a:normAutofit/>
              </a:bodyPr>
              <a:lstStyle/>
              <a:p>
                <a:pPr>
                  <a:lnSpc>
                    <a:spcPct val="150000"/>
                  </a:lnSpc>
                  <a:spcBef>
                    <a:spcPct val="0"/>
                  </a:spcBef>
                </a:pPr>
                <a:r>
                  <a:rPr lang="zh-CN" altLang="en-US" sz="1700" b="1" dirty="0"/>
                  <a:t>以</a:t>
                </a:r>
                <a:r>
                  <a:rPr lang="zh-CN" altLang="en-US" sz="1700" b="1" dirty="0">
                    <a:hlinkClick r:id="rId3"/>
                  </a:rPr>
                  <a:t>汉考克</a:t>
                </a:r>
                <a:r>
                  <a:rPr lang="en-US" altLang="zh-CN" sz="1700" b="1" dirty="0">
                    <a:hlinkClick r:id="rId3"/>
                  </a:rPr>
                  <a:t>|</a:t>
                </a:r>
                <a:r>
                  <a:rPr lang="zh-CN" altLang="en-US" sz="1700" b="1" dirty="0">
                    <a:hlinkClick r:id="rId3"/>
                  </a:rPr>
                  <a:t>多模态头颈癌数据集</a:t>
                </a:r>
                <a:r>
                  <a:rPr lang="zh-CN" altLang="en-US" sz="1700" b="1" dirty="0"/>
                  <a:t>为基础，包含口腔癌、口咽癌（</a:t>
                </a:r>
                <a:r>
                  <a:rPr lang="en-US" altLang="zh-CN" sz="1700" b="1" dirty="0"/>
                  <a:t>p16</a:t>
                </a:r>
                <a:r>
                  <a:rPr lang="zh-CN" altLang="en-US" sz="1700" b="1" dirty="0"/>
                  <a:t>阴性</a:t>
                </a:r>
                <a:r>
                  <a:rPr lang="en-US" altLang="zh-CN" sz="1700" b="1" dirty="0"/>
                  <a:t>/</a:t>
                </a:r>
                <a:r>
                  <a:rPr lang="zh-CN" altLang="en-US" sz="1700" b="1" dirty="0"/>
                  <a:t>阳性）、下咽癌、声门喉癌、声门上喉癌 </a:t>
                </a:r>
                <a:r>
                  <a:rPr lang="zh-CN" altLang="en-US" sz="1300" dirty="0"/>
                  <a:t>。</a:t>
                </a:r>
                <a:endParaRPr lang="en-US" altLang="zh-CN" sz="1300" dirty="0"/>
              </a:p>
              <a:p>
                <a:pPr>
                  <a:lnSpc>
                    <a:spcPct val="150000"/>
                  </a:lnSpc>
                  <a:spcBef>
                    <a:spcPct val="0"/>
                  </a:spcBef>
                </a:pPr>
                <a:r>
                  <a:rPr lang="zh-CN" altLang="en-US" sz="1300" b="1" dirty="0"/>
                  <a:t>结构化临床追踪</a:t>
                </a:r>
                <a:r>
                  <a:rPr lang="zh-CN" altLang="en-US" sz="1300" dirty="0"/>
                  <a:t>：包含患者基线特征（年龄、吸烟史）、随访状态及详细的初始</a:t>
                </a:r>
                <a:r>
                  <a:rPr lang="en-US" altLang="zh-CN" sz="1300" dirty="0"/>
                  <a:t>/</a:t>
                </a:r>
                <a:r>
                  <a:rPr lang="zh-CN" altLang="en-US" sz="1300" dirty="0"/>
                  <a:t>辅助治疗方案记录。</a:t>
                </a:r>
                <a:endParaRPr lang="en-US" altLang="zh-CN" sz="1300" dirty="0"/>
              </a:p>
              <a:p>
                <a:pPr>
                  <a:lnSpc>
                    <a:spcPct val="150000"/>
                  </a:lnSpc>
                  <a:spcBef>
                    <a:spcPct val="0"/>
                  </a:spcBef>
                </a:pPr>
                <a:r>
                  <a:rPr lang="zh-CN" altLang="en-US" sz="1300" b="1" dirty="0"/>
                  <a:t>非结构化真实文本</a:t>
                </a:r>
                <a:r>
                  <a:rPr lang="zh-CN" altLang="en-US" sz="1300" dirty="0"/>
                  <a:t>：收录了长篇幅手术报告 </a:t>
                </a:r>
                <a:r>
                  <a:rPr lang="en-US" altLang="zh-CN" sz="1300" dirty="0"/>
                  <a:t>(Surgery Report) </a:t>
                </a:r>
                <a:r>
                  <a:rPr lang="zh-CN" altLang="en-US" sz="1300" dirty="0"/>
                  <a:t>与 大体病理报告 </a:t>
                </a:r>
                <a:r>
                  <a:rPr lang="en-US" altLang="zh-CN" sz="1300" dirty="0"/>
                  <a:t>(Pathology Report)</a:t>
                </a:r>
                <a:r>
                  <a:rPr lang="zh-CN" altLang="en-US" sz="1300" dirty="0"/>
                  <a:t>、微观不良病理特征数据，保留了真实医疗场景下的语言噪音与信息碎片。</a:t>
                </a:r>
                <a:endParaRPr lang="en-US" altLang="zh-CN" sz="1300" dirty="0"/>
              </a:p>
              <a:p>
                <a:pPr>
                  <a:lnSpc>
                    <a:spcPct val="150000"/>
                  </a:lnSpc>
                  <a:spcBef>
                    <a:spcPct val="0"/>
                  </a:spcBef>
                </a:pPr>
                <a:r>
                  <a:rPr lang="zh-CN" altLang="en-US" sz="1300" b="1" dirty="0"/>
                  <a:t>超高清微观图像</a:t>
                </a:r>
                <a:r>
                  <a:rPr lang="zh-CN" altLang="en-US" sz="1300" dirty="0"/>
                  <a:t>：包含 </a:t>
                </a:r>
                <a:r>
                  <a:rPr lang="en-US" altLang="zh-CN" sz="1300" dirty="0"/>
                  <a:t>701 </a:t>
                </a:r>
                <a:r>
                  <a:rPr lang="zh-CN" altLang="en-US" sz="1300" dirty="0"/>
                  <a:t>例患者的 </a:t>
                </a:r>
                <a:r>
                  <a:rPr lang="en-US" altLang="zh-CN" sz="1300" dirty="0"/>
                  <a:t>709 </a:t>
                </a:r>
                <a:r>
                  <a:rPr lang="zh-CN" altLang="en-US" sz="1300" dirty="0"/>
                  <a:t>张原发灶全切片图像 </a:t>
                </a:r>
                <a:r>
                  <a:rPr lang="en-US" altLang="zh-CN" sz="1300" dirty="0"/>
                  <a:t>(WSI) </a:t>
                </a:r>
                <a:r>
                  <a:rPr lang="zh-CN" altLang="en-US" sz="1300" dirty="0"/>
                  <a:t>及 </a:t>
                </a:r>
                <a:r>
                  <a:rPr lang="en-US" altLang="zh-CN" sz="1300" dirty="0"/>
                  <a:t>396 </a:t>
                </a:r>
                <a:r>
                  <a:rPr lang="zh-CN" altLang="en-US" sz="1300" dirty="0"/>
                  <a:t>张淋巴结转移灶 </a:t>
                </a:r>
                <a:r>
                  <a:rPr lang="en-US" altLang="zh-CN" sz="1300" dirty="0"/>
                  <a:t>WSI</a:t>
                </a:r>
              </a:p>
              <a:p>
                <a:pPr>
                  <a:lnSpc>
                    <a:spcPct val="150000"/>
                  </a:lnSpc>
                  <a:spcBef>
                    <a:spcPct val="0"/>
                  </a:spcBef>
                </a:pPr>
                <a:endParaRPr lang="en-US" altLang="zh-CN" sz="1100" dirty="0"/>
              </a:p>
            </p:txBody>
          </p:sp>
          <p:sp>
            <p:nvSpPr>
              <p:cNvPr id="15" name="ïṧ1iḑé"/>
              <p:cNvSpPr txBox="1"/>
              <p:nvPr/>
            </p:nvSpPr>
            <p:spPr bwMode="auto">
              <a:xfrm>
                <a:off x="687278" y="2398652"/>
                <a:ext cx="352477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endParaRPr lang="en-US" altLang="zh-CN" sz="2400" b="1" dirty="0"/>
              </a:p>
            </p:txBody>
          </p:sp>
        </p:grpSp>
        <p:cxnSp>
          <p:nvCxnSpPr>
            <p:cNvPr id="9" name="直接连接符 8"/>
            <p:cNvCxnSpPr/>
            <p:nvPr/>
          </p:nvCxnSpPr>
          <p:spPr>
            <a:xfrm>
              <a:off x="698965" y="4050764"/>
              <a:ext cx="5336075"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îṡḻiḑê"/>
            <p:cNvSpPr/>
            <p:nvPr/>
          </p:nvSpPr>
          <p:spPr bwMode="auto">
            <a:xfrm>
              <a:off x="1793775" y="4441181"/>
              <a:ext cx="4677851" cy="1026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spcBef>
                  <a:spcPct val="0"/>
                </a:spcBef>
                <a:buFont typeface="Arial" panose="020B0604020202020204" pitchFamily="34" charset="0"/>
                <a:buChar char="•"/>
              </a:pPr>
              <a:r>
                <a:rPr lang="zh-CN" altLang="en-US" sz="1400" dirty="0"/>
                <a:t>评估 </a:t>
              </a:r>
              <a:r>
                <a:rPr lang="en-US" altLang="zh-CN" sz="1400" dirty="0"/>
                <a:t>MLLM </a:t>
              </a:r>
              <a:r>
                <a:rPr lang="zh-CN" altLang="en-US" sz="1400" dirty="0"/>
                <a:t>在面对多模态数据（文本</a:t>
              </a:r>
              <a:r>
                <a:rPr lang="en-US" altLang="zh-CN" sz="1400" dirty="0"/>
                <a:t>+</a:t>
              </a:r>
              <a:r>
                <a:rPr lang="zh-CN" altLang="en-US" sz="1400" dirty="0"/>
                <a:t>高分辨病理图像）时的动态信息提取、自我纠错以及基于 </a:t>
              </a:r>
              <a:r>
                <a:rPr lang="en-US" altLang="zh-CN" sz="1400" dirty="0"/>
                <a:t>NCCN </a:t>
              </a:r>
              <a:r>
                <a:rPr lang="zh-CN" altLang="en-US" sz="1400" dirty="0"/>
                <a:t>指南的复杂临床决策能力 。</a:t>
              </a:r>
            </a:p>
          </p:txBody>
        </p:sp>
        <p:sp>
          <p:nvSpPr>
            <p:cNvPr id="11" name="îşľîde"/>
            <p:cNvSpPr txBox="1"/>
            <p:nvPr/>
          </p:nvSpPr>
          <p:spPr bwMode="auto">
            <a:xfrm>
              <a:off x="1774630" y="4068812"/>
              <a:ext cx="4093264" cy="391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t>核心目标</a:t>
              </a:r>
              <a:endParaRPr lang="en-US" altLang="zh-CN" sz="1800" b="1" dirty="0"/>
            </a:p>
          </p:txBody>
        </p:sp>
        <p:sp>
          <p:nvSpPr>
            <p:cNvPr id="12" name="ísļïdê"/>
            <p:cNvSpPr/>
            <p:nvPr/>
          </p:nvSpPr>
          <p:spPr bwMode="auto">
            <a:xfrm>
              <a:off x="681110" y="4260381"/>
              <a:ext cx="1024443" cy="1026520"/>
            </a:xfrm>
            <a:prstGeom prst="ellipse">
              <a:avLst/>
            </a:prstGeom>
            <a:solidFill>
              <a:schemeClr val="accent1"/>
            </a:solidFill>
            <a:ln w="57150">
              <a:no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eaLnBrk="1" hangingPunct="1">
                <a:spcBef>
                  <a:spcPct val="0"/>
                </a:spcBef>
                <a:buFontTx/>
                <a:buNone/>
              </a:pPr>
              <a:endParaRPr lang="zh-CN" altLang="en-US" sz="1700">
                <a:solidFill>
                  <a:schemeClr val="tx1"/>
                </a:solidFill>
              </a:endParaRPr>
            </a:p>
          </p:txBody>
        </p:sp>
        <p:sp>
          <p:nvSpPr>
            <p:cNvPr id="13" name="ïṧľîdê"/>
            <p:cNvSpPr/>
            <p:nvPr/>
          </p:nvSpPr>
          <p:spPr bwMode="auto">
            <a:xfrm>
              <a:off x="864194" y="4529775"/>
              <a:ext cx="609685" cy="598476"/>
            </a:xfrm>
            <a:custGeom>
              <a:avLst/>
              <a:gdLst>
                <a:gd name="connsiteX0" fmla="*/ 170608 w 607804"/>
                <a:gd name="connsiteY0" fmla="*/ 262009 h 596630"/>
                <a:gd name="connsiteX1" fmla="*/ 260792 w 607804"/>
                <a:gd name="connsiteY1" fmla="*/ 427304 h 596630"/>
                <a:gd name="connsiteX2" fmla="*/ 303865 w 607804"/>
                <a:gd name="connsiteY2" fmla="*/ 451493 h 596630"/>
                <a:gd name="connsiteX3" fmla="*/ 346938 w 607804"/>
                <a:gd name="connsiteY3" fmla="*/ 427304 h 596630"/>
                <a:gd name="connsiteX4" fmla="*/ 408855 w 607804"/>
                <a:gd name="connsiteY4" fmla="*/ 319795 h 596630"/>
                <a:gd name="connsiteX5" fmla="*/ 519229 w 607804"/>
                <a:gd name="connsiteY5" fmla="*/ 298293 h 596630"/>
                <a:gd name="connsiteX6" fmla="*/ 552880 w 607804"/>
                <a:gd name="connsiteY6" fmla="*/ 319795 h 596630"/>
                <a:gd name="connsiteX7" fmla="*/ 606721 w 607804"/>
                <a:gd name="connsiteY7" fmla="*/ 538844 h 596630"/>
                <a:gd name="connsiteX8" fmla="*/ 602683 w 607804"/>
                <a:gd name="connsiteY8" fmla="*/ 563034 h 596630"/>
                <a:gd name="connsiteX9" fmla="*/ 582493 w 607804"/>
                <a:gd name="connsiteY9" fmla="*/ 575128 h 596630"/>
                <a:gd name="connsiteX10" fmla="*/ 414239 w 607804"/>
                <a:gd name="connsiteY10" fmla="*/ 596630 h 596630"/>
                <a:gd name="connsiteX11" fmla="*/ 400779 w 607804"/>
                <a:gd name="connsiteY11" fmla="*/ 595286 h 596630"/>
                <a:gd name="connsiteX12" fmla="*/ 205605 w 607804"/>
                <a:gd name="connsiteY12" fmla="*/ 532125 h 596630"/>
                <a:gd name="connsiteX13" fmla="*/ 189453 w 607804"/>
                <a:gd name="connsiteY13" fmla="*/ 532125 h 596630"/>
                <a:gd name="connsiteX14" fmla="*/ 37352 w 607804"/>
                <a:gd name="connsiteY14" fmla="*/ 572441 h 596630"/>
                <a:gd name="connsiteX15" fmla="*/ 9085 w 607804"/>
                <a:gd name="connsiteY15" fmla="*/ 565721 h 596630"/>
                <a:gd name="connsiteX16" fmla="*/ 1009 w 607804"/>
                <a:gd name="connsiteY16" fmla="*/ 537500 h 596630"/>
                <a:gd name="connsiteX17" fmla="*/ 54850 w 607804"/>
                <a:gd name="connsiteY17" fmla="*/ 321139 h 596630"/>
                <a:gd name="connsiteX18" fmla="*/ 72348 w 607804"/>
                <a:gd name="connsiteY18" fmla="*/ 300981 h 596630"/>
                <a:gd name="connsiteX19" fmla="*/ 302554 w 607804"/>
                <a:gd name="connsiteY19" fmla="*/ 68530 h 596630"/>
                <a:gd name="connsiteX20" fmla="*/ 237945 w 607804"/>
                <a:gd name="connsiteY20" fmla="*/ 133029 h 596630"/>
                <a:gd name="connsiteX21" fmla="*/ 302554 w 607804"/>
                <a:gd name="connsiteY21" fmla="*/ 197528 h 596630"/>
                <a:gd name="connsiteX22" fmla="*/ 367164 w 607804"/>
                <a:gd name="connsiteY22" fmla="*/ 133029 h 596630"/>
                <a:gd name="connsiteX23" fmla="*/ 302554 w 607804"/>
                <a:gd name="connsiteY23" fmla="*/ 68530 h 596630"/>
                <a:gd name="connsiteX24" fmla="*/ 303901 w 607804"/>
                <a:gd name="connsiteY24" fmla="*/ 0 h 596630"/>
                <a:gd name="connsiteX25" fmla="*/ 438504 w 607804"/>
                <a:gd name="connsiteY25" fmla="*/ 134373 h 596630"/>
                <a:gd name="connsiteX26" fmla="*/ 313323 w 607804"/>
                <a:gd name="connsiteY26" fmla="*/ 407150 h 596630"/>
                <a:gd name="connsiteX27" fmla="*/ 303901 w 607804"/>
                <a:gd name="connsiteY27" fmla="*/ 412525 h 596630"/>
                <a:gd name="connsiteX28" fmla="*/ 294478 w 607804"/>
                <a:gd name="connsiteY28" fmla="*/ 407150 h 596630"/>
                <a:gd name="connsiteX29" fmla="*/ 169297 w 607804"/>
                <a:gd name="connsiteY29" fmla="*/ 134373 h 596630"/>
                <a:gd name="connsiteX30" fmla="*/ 303901 w 607804"/>
                <a:gd name="connsiteY30" fmla="*/ 0 h 59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804" h="596630">
                  <a:moveTo>
                    <a:pt x="170608" y="262009"/>
                  </a:moveTo>
                  <a:cubicBezTo>
                    <a:pt x="196183" y="317107"/>
                    <a:pt x="229834" y="376237"/>
                    <a:pt x="260792" y="427304"/>
                  </a:cubicBezTo>
                  <a:cubicBezTo>
                    <a:pt x="270214" y="442086"/>
                    <a:pt x="286367" y="451493"/>
                    <a:pt x="303865" y="451493"/>
                  </a:cubicBezTo>
                  <a:cubicBezTo>
                    <a:pt x="321363" y="451493"/>
                    <a:pt x="337516" y="442086"/>
                    <a:pt x="346938" y="427304"/>
                  </a:cubicBezTo>
                  <a:cubicBezTo>
                    <a:pt x="367128" y="393707"/>
                    <a:pt x="388665" y="357423"/>
                    <a:pt x="408855" y="319795"/>
                  </a:cubicBezTo>
                  <a:cubicBezTo>
                    <a:pt x="411547" y="319795"/>
                    <a:pt x="519229" y="298293"/>
                    <a:pt x="519229" y="298293"/>
                  </a:cubicBezTo>
                  <a:cubicBezTo>
                    <a:pt x="534036" y="295605"/>
                    <a:pt x="548842" y="305013"/>
                    <a:pt x="552880" y="319795"/>
                  </a:cubicBezTo>
                  <a:lnTo>
                    <a:pt x="606721" y="538844"/>
                  </a:lnTo>
                  <a:cubicBezTo>
                    <a:pt x="609413" y="546907"/>
                    <a:pt x="606721" y="556314"/>
                    <a:pt x="602683" y="563034"/>
                  </a:cubicBezTo>
                  <a:cubicBezTo>
                    <a:pt x="598645" y="569753"/>
                    <a:pt x="590569" y="573784"/>
                    <a:pt x="582493" y="575128"/>
                  </a:cubicBezTo>
                  <a:lnTo>
                    <a:pt x="414239" y="596630"/>
                  </a:lnTo>
                  <a:cubicBezTo>
                    <a:pt x="408855" y="596630"/>
                    <a:pt x="404817" y="596630"/>
                    <a:pt x="400779" y="595286"/>
                  </a:cubicBezTo>
                  <a:lnTo>
                    <a:pt x="205605" y="532125"/>
                  </a:lnTo>
                  <a:cubicBezTo>
                    <a:pt x="200221" y="530781"/>
                    <a:pt x="194837" y="530781"/>
                    <a:pt x="189453" y="532125"/>
                  </a:cubicBezTo>
                  <a:lnTo>
                    <a:pt x="37352" y="572441"/>
                  </a:lnTo>
                  <a:cubicBezTo>
                    <a:pt x="26584" y="575128"/>
                    <a:pt x="15815" y="572441"/>
                    <a:pt x="9085" y="565721"/>
                  </a:cubicBezTo>
                  <a:cubicBezTo>
                    <a:pt x="1009" y="557658"/>
                    <a:pt x="-1683" y="546907"/>
                    <a:pt x="1009" y="537500"/>
                  </a:cubicBezTo>
                  <a:lnTo>
                    <a:pt x="54850" y="321139"/>
                  </a:lnTo>
                  <a:cubicBezTo>
                    <a:pt x="57542" y="311732"/>
                    <a:pt x="64272" y="305013"/>
                    <a:pt x="72348" y="300981"/>
                  </a:cubicBezTo>
                  <a:close/>
                  <a:moveTo>
                    <a:pt x="302554" y="68530"/>
                  </a:moveTo>
                  <a:cubicBezTo>
                    <a:pt x="266212" y="68530"/>
                    <a:pt x="237945" y="98092"/>
                    <a:pt x="237945" y="133029"/>
                  </a:cubicBezTo>
                  <a:cubicBezTo>
                    <a:pt x="237945" y="169310"/>
                    <a:pt x="266212" y="197528"/>
                    <a:pt x="302554" y="197528"/>
                  </a:cubicBezTo>
                  <a:cubicBezTo>
                    <a:pt x="338897" y="197528"/>
                    <a:pt x="367164" y="167966"/>
                    <a:pt x="367164" y="133029"/>
                  </a:cubicBezTo>
                  <a:cubicBezTo>
                    <a:pt x="367164" y="96749"/>
                    <a:pt x="337551" y="68530"/>
                    <a:pt x="302554" y="68530"/>
                  </a:cubicBezTo>
                  <a:close/>
                  <a:moveTo>
                    <a:pt x="303901" y="0"/>
                  </a:moveTo>
                  <a:cubicBezTo>
                    <a:pt x="377932" y="0"/>
                    <a:pt x="438504" y="60468"/>
                    <a:pt x="438504" y="134373"/>
                  </a:cubicBezTo>
                  <a:cubicBezTo>
                    <a:pt x="438504" y="196185"/>
                    <a:pt x="344282" y="357432"/>
                    <a:pt x="313323" y="407150"/>
                  </a:cubicBezTo>
                  <a:cubicBezTo>
                    <a:pt x="310631" y="409838"/>
                    <a:pt x="307939" y="412525"/>
                    <a:pt x="303901" y="412525"/>
                  </a:cubicBezTo>
                  <a:cubicBezTo>
                    <a:pt x="301208" y="412525"/>
                    <a:pt x="297170" y="409838"/>
                    <a:pt x="294478" y="407150"/>
                  </a:cubicBezTo>
                  <a:cubicBezTo>
                    <a:pt x="263519" y="357432"/>
                    <a:pt x="169297" y="196185"/>
                    <a:pt x="169297" y="134373"/>
                  </a:cubicBezTo>
                  <a:cubicBezTo>
                    <a:pt x="169297" y="60468"/>
                    <a:pt x="229869" y="0"/>
                    <a:pt x="303901" y="0"/>
                  </a:cubicBezTo>
                  <a:close/>
                </a:path>
              </a:pathLst>
            </a:custGeom>
            <a:solidFill>
              <a:schemeClr val="bg1"/>
            </a:solidFill>
            <a:ln>
              <a:noFill/>
            </a:ln>
          </p:spPr>
          <p:txBody>
            <a:bodyPr/>
            <a:lstStyle/>
            <a:p>
              <a:endParaRPr lang="zh-CN" altLang="en-US"/>
            </a:p>
          </p:txBody>
        </p:sp>
      </p:grpSp>
      <p:pic>
        <p:nvPicPr>
          <p:cNvPr id="108" name="图片 107" descr="C:\Users\xin\Desktop\中科大.png中科大"/>
          <p:cNvPicPr>
            <a:picLocks noChangeAspect="1"/>
          </p:cNvPicPr>
          <p:nvPr/>
        </p:nvPicPr>
        <p:blipFill>
          <a:blip r:embed="rId4"/>
          <a:srcRect/>
          <a:stretch>
            <a:fillRect/>
          </a:stretch>
        </p:blipFill>
        <p:spPr>
          <a:xfrm>
            <a:off x="10857865" y="252730"/>
            <a:ext cx="878840" cy="879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Benchmark </a:t>
            </a:r>
            <a:r>
              <a:rPr lang="zh-CN" altLang="en-US" dirty="0"/>
              <a:t>核心数据设计</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t>9</a:t>
            </a:fld>
            <a:endParaRPr lang="zh-CN" altLang="en-US"/>
          </a:p>
        </p:txBody>
      </p:sp>
      <p:grpSp>
        <p:nvGrpSpPr>
          <p:cNvPr id="5" name="0740cb21-0181-4cf0-ac86-6a6e9487eae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67624" y="1161714"/>
            <a:ext cx="11624376" cy="5165750"/>
            <a:chOff x="568507" y="1202654"/>
            <a:chExt cx="11624376" cy="5165750"/>
          </a:xfrm>
        </p:grpSpPr>
        <p:sp>
          <p:nvSpPr>
            <p:cNvPr id="6" name="îṧľïḓé"/>
            <p:cNvSpPr/>
            <p:nvPr/>
          </p:nvSpPr>
          <p:spPr bwMode="auto">
            <a:xfrm flipH="1">
              <a:off x="5347037" y="4189385"/>
              <a:ext cx="1216619" cy="1954241"/>
            </a:xfrm>
            <a:custGeom>
              <a:avLst/>
              <a:gdLst>
                <a:gd name="connsiteX0" fmla="*/ 759198 w 1653886"/>
                <a:gd name="connsiteY0" fmla="*/ 850 h 2656618"/>
                <a:gd name="connsiteX1" fmla="*/ 763881 w 1653886"/>
                <a:gd name="connsiteY1" fmla="*/ 488839 h 2656618"/>
                <a:gd name="connsiteX2" fmla="*/ 459348 w 1653886"/>
                <a:gd name="connsiteY2" fmla="*/ 298375 h 2656618"/>
                <a:gd name="connsiteX3" fmla="*/ 233486 w 1653886"/>
                <a:gd name="connsiteY3" fmla="*/ 125688 h 2656618"/>
                <a:gd name="connsiteX4" fmla="*/ 502490 w 1653886"/>
                <a:gd name="connsiteY4" fmla="*/ 735172 h 2656618"/>
                <a:gd name="connsiteX5" fmla="*/ 55842 w 1653886"/>
                <a:gd name="connsiteY5" fmla="*/ 326310 h 2656618"/>
                <a:gd name="connsiteX6" fmla="*/ 48228 w 1653886"/>
                <a:gd name="connsiteY6" fmla="*/ 514234 h 2656618"/>
                <a:gd name="connsiteX7" fmla="*/ 411130 w 1653886"/>
                <a:gd name="connsiteY7" fmla="*/ 930715 h 2656618"/>
                <a:gd name="connsiteX8" fmla="*/ 65993 w 1653886"/>
                <a:gd name="connsiteY8" fmla="*/ 750409 h 2656618"/>
                <a:gd name="connsiteX9" fmla="*/ 170042 w 1653886"/>
                <a:gd name="connsiteY9" fmla="*/ 981505 h 2656618"/>
                <a:gd name="connsiteX10" fmla="*/ 723277 w 1653886"/>
                <a:gd name="connsiteY10" fmla="*/ 1641780 h 2656618"/>
                <a:gd name="connsiteX11" fmla="*/ 671256 w 1653886"/>
                <a:gd name="connsiteY11" fmla="*/ 2645894 h 2656618"/>
                <a:gd name="connsiteX12" fmla="*/ 670238 w 1653886"/>
                <a:gd name="connsiteY12" fmla="*/ 2656618 h 2656618"/>
                <a:gd name="connsiteX13" fmla="*/ 1288826 w 1653886"/>
                <a:gd name="connsiteY13" fmla="*/ 2656618 h 2656618"/>
                <a:gd name="connsiteX14" fmla="*/ 1277268 w 1653886"/>
                <a:gd name="connsiteY14" fmla="*/ 2583272 h 2656618"/>
                <a:gd name="connsiteX15" fmla="*/ 1266361 w 1653886"/>
                <a:gd name="connsiteY15" fmla="*/ 1331959 h 2656618"/>
                <a:gd name="connsiteX16" fmla="*/ 1652103 w 1653886"/>
                <a:gd name="connsiteY16" fmla="*/ 430430 h 2656618"/>
                <a:gd name="connsiteX17" fmla="*/ 1459232 w 1653886"/>
                <a:gd name="connsiteY17" fmla="*/ 471062 h 2656618"/>
                <a:gd name="connsiteX18" fmla="*/ 1098868 w 1653886"/>
                <a:gd name="connsiteY18" fmla="*/ 732633 h 2656618"/>
                <a:gd name="connsiteX19" fmla="*/ 794335 w 1653886"/>
                <a:gd name="connsiteY19" fmla="*/ 8870 h 2656618"/>
                <a:gd name="connsiteX20" fmla="*/ 759198 w 1653886"/>
                <a:gd name="connsiteY20" fmla="*/ 850 h 2656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53886" h="2656618">
                  <a:moveTo>
                    <a:pt x="759198" y="850"/>
                  </a:moveTo>
                  <a:cubicBezTo>
                    <a:pt x="692269" y="17203"/>
                    <a:pt x="726132" y="266631"/>
                    <a:pt x="763881" y="488839"/>
                  </a:cubicBezTo>
                  <a:cubicBezTo>
                    <a:pt x="807024" y="740251"/>
                    <a:pt x="593850" y="600578"/>
                    <a:pt x="459348" y="298375"/>
                  </a:cubicBezTo>
                  <a:cubicBezTo>
                    <a:pt x="324846" y="-3827"/>
                    <a:pt x="246175" y="82516"/>
                    <a:pt x="233486" y="125688"/>
                  </a:cubicBezTo>
                  <a:cubicBezTo>
                    <a:pt x="218259" y="168860"/>
                    <a:pt x="525330" y="707237"/>
                    <a:pt x="502490" y="735172"/>
                  </a:cubicBezTo>
                  <a:cubicBezTo>
                    <a:pt x="482188" y="760567"/>
                    <a:pt x="93908" y="313612"/>
                    <a:pt x="55842" y="326310"/>
                  </a:cubicBezTo>
                  <a:cubicBezTo>
                    <a:pt x="20313" y="339007"/>
                    <a:pt x="-45669" y="374561"/>
                    <a:pt x="48228" y="514234"/>
                  </a:cubicBezTo>
                  <a:cubicBezTo>
                    <a:pt x="139588" y="656447"/>
                    <a:pt x="428895" y="892622"/>
                    <a:pt x="411130" y="930715"/>
                  </a:cubicBezTo>
                  <a:cubicBezTo>
                    <a:pt x="393366" y="971347"/>
                    <a:pt x="152277" y="755488"/>
                    <a:pt x="65993" y="750409"/>
                  </a:cubicBezTo>
                  <a:cubicBezTo>
                    <a:pt x="-22829" y="745330"/>
                    <a:pt x="12700" y="869767"/>
                    <a:pt x="170042" y="981505"/>
                  </a:cubicBezTo>
                  <a:cubicBezTo>
                    <a:pt x="327384" y="1093244"/>
                    <a:pt x="710588" y="1217680"/>
                    <a:pt x="723277" y="1641780"/>
                  </a:cubicBezTo>
                  <a:cubicBezTo>
                    <a:pt x="732001" y="1933348"/>
                    <a:pt x="695144" y="2389360"/>
                    <a:pt x="671256" y="2645894"/>
                  </a:cubicBezTo>
                  <a:lnTo>
                    <a:pt x="670238" y="2656618"/>
                  </a:lnTo>
                  <a:lnTo>
                    <a:pt x="1288826" y="2656618"/>
                  </a:lnTo>
                  <a:lnTo>
                    <a:pt x="1277268" y="2583272"/>
                  </a:lnTo>
                  <a:cubicBezTo>
                    <a:pt x="1221841" y="2210562"/>
                    <a:pt x="1177856" y="1703363"/>
                    <a:pt x="1266361" y="1331959"/>
                  </a:cubicBezTo>
                  <a:cubicBezTo>
                    <a:pt x="1426241" y="669145"/>
                    <a:pt x="1677481" y="532011"/>
                    <a:pt x="1652103" y="430430"/>
                  </a:cubicBezTo>
                  <a:cubicBezTo>
                    <a:pt x="1629263" y="328849"/>
                    <a:pt x="1499836" y="377100"/>
                    <a:pt x="1459232" y="471062"/>
                  </a:cubicBezTo>
                  <a:cubicBezTo>
                    <a:pt x="1418628" y="562485"/>
                    <a:pt x="1253672" y="765646"/>
                    <a:pt x="1098868" y="732633"/>
                  </a:cubicBezTo>
                  <a:cubicBezTo>
                    <a:pt x="946601" y="699619"/>
                    <a:pt x="905997" y="69819"/>
                    <a:pt x="794335" y="8870"/>
                  </a:cubicBezTo>
                  <a:cubicBezTo>
                    <a:pt x="780377" y="934"/>
                    <a:pt x="768759" y="-1486"/>
                    <a:pt x="759198" y="850"/>
                  </a:cubicBezTo>
                  <a:close/>
                </a:path>
              </a:pathLst>
            </a:custGeom>
            <a:solidFill>
              <a:srgbClr val="64AE97"/>
            </a:solidFill>
            <a:ln>
              <a:noFill/>
            </a:ln>
            <a:effectLst/>
          </p:spPr>
          <p:txBody>
            <a:bodyPr vert="horz" wrap="square" lIns="91440" tIns="45720" rIns="91440" bIns="45720" numCol="1" anchor="t" anchorCtr="0" compatLnSpc="1">
              <a:noAutofit/>
            </a:bodyPr>
            <a:lstStyle/>
            <a:p>
              <a:endParaRPr lang="id-ID" sz="1800"/>
            </a:p>
          </p:txBody>
        </p:sp>
        <p:sp>
          <p:nvSpPr>
            <p:cNvPr id="7" name="ïṡļïdê"/>
            <p:cNvSpPr/>
            <p:nvPr/>
          </p:nvSpPr>
          <p:spPr bwMode="auto">
            <a:xfrm rot="1883109">
              <a:off x="3672847" y="3240158"/>
              <a:ext cx="1720360" cy="1715017"/>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rgbClr val="64AE97">
                <a:alpha val="80000"/>
              </a:srgbClr>
            </a:solidFill>
            <a:ln>
              <a:noFill/>
            </a:ln>
            <a:effectLst/>
          </p:spPr>
          <p:txBody>
            <a:bodyPr vert="horz" wrap="square" lIns="91440" tIns="45720" rIns="91440" bIns="45720" numCol="1" anchor="t" anchorCtr="0" compatLnSpc="1"/>
            <a:lstStyle/>
            <a:p>
              <a:endParaRPr lang="en-US" sz="1800"/>
            </a:p>
          </p:txBody>
        </p:sp>
        <p:sp>
          <p:nvSpPr>
            <p:cNvPr id="8" name="íslïḍè"/>
            <p:cNvSpPr/>
            <p:nvPr/>
          </p:nvSpPr>
          <p:spPr bwMode="auto">
            <a:xfrm rot="4961872">
              <a:off x="4427912" y="2338896"/>
              <a:ext cx="2087485" cy="2081002"/>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rgbClr val="64AE97"/>
            </a:solidFill>
            <a:ln>
              <a:noFill/>
            </a:ln>
            <a:effectLst/>
          </p:spPr>
          <p:txBody>
            <a:bodyPr vert="horz" wrap="square" lIns="91440" tIns="45720" rIns="91440" bIns="45720" numCol="1" anchor="t" anchorCtr="0" compatLnSpc="1"/>
            <a:lstStyle/>
            <a:p>
              <a:endParaRPr lang="en-US" sz="1800"/>
            </a:p>
          </p:txBody>
        </p:sp>
        <p:sp>
          <p:nvSpPr>
            <p:cNvPr id="9" name="ïşlîḑé"/>
            <p:cNvSpPr/>
            <p:nvPr/>
          </p:nvSpPr>
          <p:spPr bwMode="auto">
            <a:xfrm rot="7696778">
              <a:off x="5716770" y="2462648"/>
              <a:ext cx="1839213" cy="1833502"/>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rgbClr val="64AE97">
                <a:alpha val="70000"/>
              </a:srgbClr>
            </a:solidFill>
            <a:ln>
              <a:noFill/>
            </a:ln>
            <a:effectLst/>
          </p:spPr>
          <p:txBody>
            <a:bodyPr vert="horz" wrap="square" lIns="91440" tIns="45720" rIns="91440" bIns="45720" numCol="1" anchor="t" anchorCtr="0" compatLnSpc="1"/>
            <a:lstStyle/>
            <a:p>
              <a:endParaRPr lang="en-US" sz="1800"/>
            </a:p>
          </p:txBody>
        </p:sp>
        <p:sp>
          <p:nvSpPr>
            <p:cNvPr id="10" name="iSḷîḋé"/>
            <p:cNvSpPr/>
            <p:nvPr/>
          </p:nvSpPr>
          <p:spPr bwMode="auto">
            <a:xfrm rot="10345882">
              <a:off x="6568576" y="3404957"/>
              <a:ext cx="1672833" cy="1667638"/>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rgbClr val="64AE97">
                <a:alpha val="70000"/>
              </a:srgbClr>
            </a:solidFill>
            <a:ln>
              <a:noFill/>
            </a:ln>
            <a:effectLst/>
          </p:spPr>
          <p:txBody>
            <a:bodyPr vert="horz" wrap="square" lIns="91440" tIns="45720" rIns="91440" bIns="45720" numCol="1" anchor="t" anchorCtr="0" compatLnSpc="1"/>
            <a:lstStyle/>
            <a:p>
              <a:endParaRPr lang="en-US" sz="1800"/>
            </a:p>
          </p:txBody>
        </p:sp>
        <p:sp>
          <p:nvSpPr>
            <p:cNvPr id="11" name="îṡļiḑê"/>
            <p:cNvSpPr/>
            <p:nvPr/>
          </p:nvSpPr>
          <p:spPr bwMode="auto">
            <a:xfrm rot="12440007">
              <a:off x="6620987" y="4562732"/>
              <a:ext cx="1240331" cy="1236479"/>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rgbClr val="64AE97"/>
            </a:solidFill>
            <a:ln>
              <a:noFill/>
            </a:ln>
            <a:effectLst/>
          </p:spPr>
          <p:txBody>
            <a:bodyPr vert="horz" wrap="square" lIns="91440" tIns="45720" rIns="91440" bIns="45720" numCol="1" anchor="t" anchorCtr="0" compatLnSpc="1"/>
            <a:lstStyle/>
            <a:p>
              <a:endParaRPr lang="en-US" sz="1800"/>
            </a:p>
          </p:txBody>
        </p:sp>
        <p:sp>
          <p:nvSpPr>
            <p:cNvPr id="12" name="i$1îḑé"/>
            <p:cNvSpPr/>
            <p:nvPr/>
          </p:nvSpPr>
          <p:spPr bwMode="auto">
            <a:xfrm rot="20954305">
              <a:off x="4100176" y="4417769"/>
              <a:ext cx="1240331" cy="1236479"/>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rgbClr val="64AE97"/>
            </a:solidFill>
            <a:ln>
              <a:noFill/>
            </a:ln>
            <a:effectLst/>
          </p:spPr>
          <p:txBody>
            <a:bodyPr vert="horz" wrap="square" lIns="91440" tIns="45720" rIns="91440" bIns="45720" numCol="1" anchor="t" anchorCtr="0" compatLnSpc="1"/>
            <a:lstStyle/>
            <a:p>
              <a:endParaRPr lang="en-US" sz="1800"/>
            </a:p>
          </p:txBody>
        </p:sp>
        <p:sp>
          <p:nvSpPr>
            <p:cNvPr id="13" name="íṩļidé"/>
            <p:cNvSpPr/>
            <p:nvPr/>
          </p:nvSpPr>
          <p:spPr bwMode="auto">
            <a:xfrm rot="2241606">
              <a:off x="3687802" y="2655690"/>
              <a:ext cx="1034266" cy="1031055"/>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rgbClr val="64AE97">
                <a:alpha val="80000"/>
              </a:srgbClr>
            </a:solidFill>
            <a:ln>
              <a:noFill/>
            </a:ln>
            <a:effectLst/>
          </p:spPr>
          <p:txBody>
            <a:bodyPr vert="horz" wrap="square" lIns="91440" tIns="45720" rIns="91440" bIns="45720" numCol="1" anchor="t" anchorCtr="0" compatLnSpc="1"/>
            <a:lstStyle/>
            <a:p>
              <a:endParaRPr lang="en-US" sz="1800"/>
            </a:p>
          </p:txBody>
        </p:sp>
        <p:sp>
          <p:nvSpPr>
            <p:cNvPr id="14" name="íŝľïḋè"/>
            <p:cNvSpPr/>
            <p:nvPr/>
          </p:nvSpPr>
          <p:spPr bwMode="auto">
            <a:xfrm rot="6355571">
              <a:off x="5572850" y="2035606"/>
              <a:ext cx="1034266" cy="1031055"/>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rgbClr val="64AE97">
                <a:alpha val="40000"/>
              </a:srgbClr>
            </a:solidFill>
            <a:ln>
              <a:noFill/>
            </a:ln>
            <a:effectLst/>
          </p:spPr>
          <p:txBody>
            <a:bodyPr vert="horz" wrap="square" lIns="91440" tIns="45720" rIns="91440" bIns="45720" numCol="1" anchor="t" anchorCtr="0" compatLnSpc="1"/>
            <a:lstStyle/>
            <a:p>
              <a:endParaRPr lang="en-US" sz="1800"/>
            </a:p>
          </p:txBody>
        </p:sp>
        <p:sp>
          <p:nvSpPr>
            <p:cNvPr id="15" name="îşlïḑé"/>
            <p:cNvSpPr/>
            <p:nvPr/>
          </p:nvSpPr>
          <p:spPr bwMode="auto">
            <a:xfrm rot="9774375">
              <a:off x="7074053" y="2869645"/>
              <a:ext cx="1034266" cy="1031055"/>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rgbClr val="64AE97">
                <a:alpha val="20000"/>
              </a:srgbClr>
            </a:solidFill>
            <a:ln>
              <a:noFill/>
            </a:ln>
            <a:effectLst/>
          </p:spPr>
          <p:txBody>
            <a:bodyPr vert="horz" wrap="square" lIns="91440" tIns="45720" rIns="91440" bIns="45720" numCol="1" anchor="t" anchorCtr="0" compatLnSpc="1"/>
            <a:lstStyle/>
            <a:p>
              <a:endParaRPr lang="en-US" sz="1800"/>
            </a:p>
          </p:txBody>
        </p:sp>
        <p:sp>
          <p:nvSpPr>
            <p:cNvPr id="16" name="ïślïḋé"/>
            <p:cNvSpPr/>
            <p:nvPr/>
          </p:nvSpPr>
          <p:spPr bwMode="auto">
            <a:xfrm>
              <a:off x="7899285" y="1615535"/>
              <a:ext cx="3622790" cy="618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77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【模型推理】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guideline_reasoning_chain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recommended_primary_treatment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en-US"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clinical_treatment_decision_evidence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1100" dirty="0"/>
            </a:p>
          </p:txBody>
        </p:sp>
        <p:sp>
          <p:nvSpPr>
            <p:cNvPr id="17" name="íśļíďè"/>
            <p:cNvSpPr txBox="1"/>
            <p:nvPr/>
          </p:nvSpPr>
          <p:spPr bwMode="auto">
            <a:xfrm>
              <a:off x="7899285" y="1202654"/>
              <a:ext cx="3622790"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t>02.</a:t>
              </a:r>
              <a:r>
                <a:rPr lang="zh-CN" altLang="en-US" b="1" dirty="0"/>
                <a:t>根据临床分期给出初始治疗选项</a:t>
              </a:r>
              <a:r>
                <a:rPr lang="zh-CN" altLang="en-US" dirty="0"/>
                <a:t> </a:t>
              </a:r>
              <a:endParaRPr lang="en-US" altLang="zh-CN" sz="1800" b="1" dirty="0"/>
            </a:p>
          </p:txBody>
        </p:sp>
        <p:sp>
          <p:nvSpPr>
            <p:cNvPr id="18" name="í$lîḍe"/>
            <p:cNvSpPr/>
            <p:nvPr/>
          </p:nvSpPr>
          <p:spPr bwMode="auto">
            <a:xfrm>
              <a:off x="7899285" y="2914430"/>
              <a:ext cx="4107744" cy="196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400" b="1" dirty="0"/>
                <a:t>【</a:t>
              </a:r>
              <a:r>
                <a:rPr lang="zh-CN" altLang="en-US" sz="1400" b="1" dirty="0"/>
                <a:t>更新节点</a:t>
              </a:r>
              <a:r>
                <a:rPr lang="en-US" altLang="zh-CN" sz="1400" b="1" dirty="0"/>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"updated_pT_stage""updated_pN_stage""updated_resection_status""updated_histologic_type"</a:t>
              </a:r>
              <a:endParaRPr lang="en-US" altLang="zh-CN" sz="1100" b="1" dirty="0"/>
            </a:p>
            <a:p>
              <a:pPr marL="171450" indent="-171450">
                <a:lnSpc>
                  <a:spcPct val="150000"/>
                </a:lnSpc>
                <a:buFont typeface="Arial" panose="020B0604020202020204" pitchFamily="34" charset="0"/>
                <a:buChar char="•"/>
              </a:pPr>
              <a:r>
                <a:rPr lang="en-US" altLang="zh-CN" sz="1400" b="1" dirty="0"/>
                <a:t>【</a:t>
              </a:r>
              <a:r>
                <a:rPr lang="zh-CN" altLang="en-US" sz="1400" b="1" dirty="0"/>
                <a:t>切片提取</a:t>
              </a:r>
              <a:r>
                <a:rPr lang="en-US" altLang="zh-CN" sz="1400" b="1" dirty="0"/>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"perineural_invasion_</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lymphovascular_invasion_L</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"vascular_invasion_V""</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grading_hpv</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carcinoma_in_situ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resection_status_carcinoma_in_situ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infiltration_depth_in_mm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closest_resection_margin_in_cm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perinodal_invasion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1100" b="1" dirty="0"/>
            </a:p>
            <a:p>
              <a:pPr marL="171450" indent="-171450">
                <a:lnSpc>
                  <a:spcPct val="150000"/>
                </a:lnSpc>
                <a:buFont typeface="Arial" panose="020B0604020202020204" pitchFamily="34" charset="0"/>
                <a:buChar char="•"/>
              </a:pPr>
              <a:r>
                <a:rPr lang="en-US" altLang="zh-CN" sz="1400" b="1" dirty="0"/>
                <a:t>【</a:t>
              </a:r>
              <a:r>
                <a:rPr lang="zh-CN" altLang="en-US" sz="1400" b="1" dirty="0"/>
                <a:t>模型推理</a:t>
              </a:r>
              <a:r>
                <a:rPr lang="en-US" altLang="zh-CN" sz="1400" b="1" dirty="0"/>
                <a:t>】</a:t>
              </a:r>
              <a:r>
                <a:rPr lang="zh-CN" altLang="en-US" sz="1400" dirty="0"/>
                <a:t>上述四个的推理及其对应依据</a:t>
              </a:r>
              <a:endParaRPr lang="en-US" altLang="zh-CN" sz="1300" dirty="0"/>
            </a:p>
            <a:p>
              <a:pPr marL="171450" indent="-171450">
                <a:lnSpc>
                  <a:spcPct val="150000"/>
                </a:lnSpc>
                <a:buFont typeface="Arial" panose="020B0604020202020204" pitchFamily="34" charset="0"/>
                <a:buChar char="•"/>
              </a:pPr>
              <a:endParaRPr lang="en-US" altLang="zh-CN" sz="1100" b="1" dirty="0"/>
            </a:p>
            <a:p>
              <a:pPr marL="171450" indent="-171450">
                <a:lnSpc>
                  <a:spcPct val="150000"/>
                </a:lnSpc>
                <a:buFont typeface="Arial" panose="020B0604020202020204" pitchFamily="34" charset="0"/>
                <a:buChar char="•"/>
              </a:pPr>
              <a:endParaRPr lang="en-US" altLang="zh-CN" sz="1100" b="1" dirty="0"/>
            </a:p>
          </p:txBody>
        </p:sp>
        <p:sp>
          <p:nvSpPr>
            <p:cNvPr id="19" name="ïsḻidè"/>
            <p:cNvSpPr txBox="1"/>
            <p:nvPr/>
          </p:nvSpPr>
          <p:spPr bwMode="auto">
            <a:xfrm>
              <a:off x="7864616" y="2396933"/>
              <a:ext cx="3622790" cy="525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t>04.</a:t>
              </a:r>
              <a:r>
                <a:rPr lang="zh-CN" altLang="en-US" b="1" dirty="0"/>
                <a:t> </a:t>
              </a:r>
              <a:r>
                <a:rPr lang="en-US" altLang="zh-CN" b="1" dirty="0"/>
                <a:t>WSI</a:t>
              </a:r>
              <a:r>
                <a:rPr lang="zh-CN" altLang="en-US" b="1" dirty="0"/>
                <a:t>（全切片图像）</a:t>
              </a:r>
              <a:endParaRPr lang="en-US" altLang="zh-CN" b="1" dirty="0"/>
            </a:p>
            <a:p>
              <a:pPr eaLnBrk="1" hangingPunct="1">
                <a:lnSpc>
                  <a:spcPct val="100000"/>
                </a:lnSpc>
                <a:spcBef>
                  <a:spcPct val="0"/>
                </a:spcBef>
                <a:buFontTx/>
                <a:buNone/>
              </a:pPr>
              <a:r>
                <a:rPr lang="en-US" altLang="zh-CN" b="1" dirty="0"/>
                <a:t>      </a:t>
              </a:r>
              <a:r>
                <a:rPr lang="zh-CN" altLang="en-US" b="1" dirty="0"/>
                <a:t>微观病理信息更新</a:t>
              </a:r>
              <a:r>
                <a:rPr lang="zh-CN" altLang="en-US" dirty="0"/>
                <a:t> </a:t>
              </a:r>
              <a:endParaRPr lang="en-US" altLang="zh-CN" sz="1800" b="1" dirty="0"/>
            </a:p>
          </p:txBody>
        </p:sp>
        <p:sp>
          <p:nvSpPr>
            <p:cNvPr id="20" name="íŝ1íḓé"/>
            <p:cNvSpPr/>
            <p:nvPr/>
          </p:nvSpPr>
          <p:spPr bwMode="auto">
            <a:xfrm>
              <a:off x="7897651" y="5399011"/>
              <a:ext cx="4295232" cy="96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r>
                <a:rPr lang="en-US" altLang="zh-CN" sz="1100" dirty="0"/>
                <a:t>【</a:t>
              </a:r>
              <a:r>
                <a:rPr lang="zh-CN" altLang="en-US" sz="1100" dirty="0"/>
                <a:t>模型推理</a:t>
              </a:r>
              <a:r>
                <a:rPr lang="en-US" altLang="zh-CN" sz="1100" dirty="0"/>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dirty="0"/>
                <a:t>"</a:t>
              </a:r>
              <a:r>
                <a:rPr lang="en-US" altLang="zh-CN" sz="1800" dirty="0" err="1"/>
                <a:t>alignment_summary_narrative</a:t>
              </a:r>
              <a:r>
                <a:rPr lang="en-US" altLang="zh-CN" sz="1800" dirty="0"/>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adverse_features_check_reasoning</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"guideline_decision_chain“,"</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adjuvant_treatment_intent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"adjuvant_radiotherapy_y_n“,"</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adjuvant_radiotherapy_type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"adjuvant_systemic_therapy_y_n“,"adjuvant_systemic_therapy_mode“</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”adjuvant_chemoradiotherapy_y_n“,”analysis_reasoning_chain"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1" name="î$ļíḓè"/>
            <p:cNvSpPr txBox="1"/>
            <p:nvPr/>
          </p:nvSpPr>
          <p:spPr bwMode="auto">
            <a:xfrm>
              <a:off x="7915050" y="4953304"/>
              <a:ext cx="3622790"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t>05.</a:t>
              </a:r>
              <a:r>
                <a:rPr lang="zh-CN" altLang="en-US" b="1" dirty="0"/>
                <a:t>基于不良特征的辅助治疗指南决策</a:t>
              </a:r>
              <a:r>
                <a:rPr lang="zh-CN" altLang="en-US" dirty="0"/>
                <a:t> </a:t>
              </a:r>
              <a:endParaRPr lang="en-US" altLang="zh-CN" sz="1800" b="1" dirty="0"/>
            </a:p>
          </p:txBody>
        </p:sp>
        <p:cxnSp>
          <p:nvCxnSpPr>
            <p:cNvPr id="22" name="直接连接符 21"/>
            <p:cNvCxnSpPr/>
            <p:nvPr/>
          </p:nvCxnSpPr>
          <p:spPr>
            <a:xfrm>
              <a:off x="8020395" y="2211870"/>
              <a:ext cx="3444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8020395" y="4875181"/>
              <a:ext cx="3444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4" name="íṥ1ïḓê"/>
            <p:cNvSpPr/>
            <p:nvPr/>
          </p:nvSpPr>
          <p:spPr bwMode="auto">
            <a:xfrm>
              <a:off x="671691" y="1615535"/>
              <a:ext cx="4090167" cy="1361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100" dirty="0"/>
                <a:t>【</a:t>
              </a:r>
              <a:r>
                <a:rPr lang="zh-CN" altLang="en-US" sz="1100" dirty="0"/>
                <a:t>直接提供</a:t>
              </a:r>
              <a:r>
                <a:rPr lang="en-US" altLang="zh-CN" sz="1100" dirty="0"/>
                <a:t>】 “</a:t>
              </a:r>
              <a:r>
                <a:rPr lang="en-US" altLang="zh-CN" sz="1100" dirty="0" err="1"/>
                <a:t>diagnosed_year</a:t>
              </a:r>
              <a:r>
                <a:rPr lang="en-US" altLang="zh-CN" sz="1100" dirty="0"/>
                <a:t>   ”</a:t>
              </a:r>
              <a:r>
                <a:rPr lang="en-US" altLang="zh-CN" sz="1100" dirty="0" err="1"/>
                <a:t>age_at_diagnosis</a:t>
              </a:r>
              <a:r>
                <a:rPr lang="en-US" altLang="zh-CN" sz="1100" dirty="0"/>
                <a:t>“: ”“gender”: “”</a:t>
              </a:r>
              <a:r>
                <a:rPr lang="en-US" altLang="zh-CN" sz="1100" dirty="0" err="1"/>
                <a:t>smoking_status</a:t>
              </a:r>
              <a:r>
                <a:rPr lang="en-US" altLang="zh-CN" sz="1100" dirty="0"/>
                <a:t>“: ”“</a:t>
              </a:r>
              <a:r>
                <a:rPr lang="en-US" altLang="zh-CN" sz="1100" dirty="0" err="1"/>
                <a:t>primarily_metastasis</a:t>
              </a:r>
              <a:r>
                <a:rPr lang="en-US" altLang="zh-CN" sz="1100" dirty="0"/>
                <a:t>”: “primary_tumor_site”“hpv_association_p16 ”</a:t>
              </a:r>
              <a:r>
                <a:rPr lang="en-US" altLang="zh-CN" sz="1100" dirty="0" err="1"/>
                <a:t>icd_code</a:t>
              </a:r>
              <a:r>
                <a:rPr lang="en-US" altLang="zh-CN" sz="1100" dirty="0"/>
                <a:t> “</a:t>
              </a:r>
              <a:r>
                <a:rPr lang="en-US" altLang="zh-CN" sz="1100" dirty="0" err="1"/>
                <a:t>describe_focus</a:t>
              </a:r>
              <a:r>
                <a:rPr lang="zh-CN" altLang="en-US" sz="1100" dirty="0"/>
                <a:t> </a:t>
              </a:r>
              <a:r>
                <a:rPr lang="en-US" altLang="zh-CN" sz="1100" dirty="0"/>
                <a:t>”</a:t>
              </a:r>
            </a:p>
            <a:p>
              <a:pPr marL="171450" indent="-171450">
                <a:lnSpc>
                  <a:spcPct val="150000"/>
                </a:lnSpc>
                <a:buFont typeface="Arial" panose="020B0604020202020204" pitchFamily="34" charset="0"/>
                <a:buChar char="•"/>
              </a:pPr>
              <a:r>
                <a:rPr lang="en-US" altLang="zh-CN" sz="1100" dirty="0"/>
                <a:t>【</a:t>
              </a:r>
              <a:r>
                <a:rPr lang="zh-CN" altLang="en-US" sz="1100" dirty="0"/>
                <a:t>模型推理</a:t>
              </a:r>
              <a:r>
                <a:rPr lang="en-US" altLang="zh-CN" sz="1100" dirty="0"/>
                <a:t>】</a:t>
              </a:r>
              <a:r>
                <a:rPr lang="zh-CN" altLang="en-US" sz="1100" dirty="0"/>
                <a:t>：</a:t>
              </a:r>
              <a:r>
                <a:rPr lang="en-US" altLang="zh-CN" sz="1100" dirty="0"/>
                <a:t> "cT_stage":"</a:t>
              </a:r>
              <a:r>
                <a:rPr lang="en-US" altLang="zh-CN" sz="1100" dirty="0" err="1"/>
                <a:t>cT_stage_evidence"cN_stage</a:t>
              </a:r>
              <a:r>
                <a:rPr lang="en-US" altLang="zh-CN" sz="1100" dirty="0"/>
                <a:t>": "</a:t>
              </a:r>
              <a:r>
                <a:rPr lang="en-US" altLang="zh-CN" sz="1100" dirty="0" err="1"/>
                <a:t>cN_stage_evidence</a:t>
              </a:r>
              <a:r>
                <a:rPr lang="en-US" altLang="zh-CN" sz="1100" dirty="0"/>
                <a:t>":"</a:t>
              </a:r>
            </a:p>
          </p:txBody>
        </p:sp>
        <p:sp>
          <p:nvSpPr>
            <p:cNvPr id="25" name="ïsḷiḑe"/>
            <p:cNvSpPr txBox="1"/>
            <p:nvPr/>
          </p:nvSpPr>
          <p:spPr bwMode="auto">
            <a:xfrm>
              <a:off x="671692" y="1202654"/>
              <a:ext cx="3622790"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t>01.</a:t>
              </a:r>
              <a:r>
                <a:rPr lang="zh-CN" altLang="en-US" b="1" dirty="0"/>
                <a:t>患者基本信息输入</a:t>
              </a:r>
              <a:r>
                <a:rPr lang="zh-CN" altLang="en-US" dirty="0"/>
                <a:t> </a:t>
              </a:r>
              <a:endParaRPr lang="en-US" altLang="zh-CN" sz="1800" b="1" dirty="0"/>
            </a:p>
          </p:txBody>
        </p:sp>
        <p:sp>
          <p:nvSpPr>
            <p:cNvPr id="26" name="ïšļiďè"/>
            <p:cNvSpPr/>
            <p:nvPr/>
          </p:nvSpPr>
          <p:spPr bwMode="auto">
            <a:xfrm>
              <a:off x="671692" y="3394884"/>
              <a:ext cx="4043294" cy="133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endParaRPr lang="en-US" altLang="zh-CN" sz="1100" dirty="0"/>
            </a:p>
          </p:txBody>
        </p:sp>
        <p:sp>
          <p:nvSpPr>
            <p:cNvPr id="27" name="ïṧ1ïḍé"/>
            <p:cNvSpPr txBox="1"/>
            <p:nvPr/>
          </p:nvSpPr>
          <p:spPr bwMode="auto">
            <a:xfrm>
              <a:off x="666806" y="3507772"/>
              <a:ext cx="3622790"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t>03.</a:t>
              </a:r>
              <a:r>
                <a:rPr lang="zh-CN" altLang="en-US" sz="1800" b="1" dirty="0"/>
                <a:t>手术报告信息初步提取</a:t>
              </a:r>
              <a:endParaRPr lang="en-US" altLang="zh-CN" sz="1800" b="1" dirty="0"/>
            </a:p>
          </p:txBody>
        </p:sp>
        <p:sp>
          <p:nvSpPr>
            <p:cNvPr id="28" name="îşļiḓé"/>
            <p:cNvSpPr/>
            <p:nvPr/>
          </p:nvSpPr>
          <p:spPr bwMode="auto">
            <a:xfrm>
              <a:off x="693817" y="3960558"/>
              <a:ext cx="4277163" cy="2112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92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100" dirty="0"/>
                <a:t>【</a:t>
              </a:r>
              <a:r>
                <a:rPr lang="zh-CN" altLang="en-US" sz="1100" dirty="0"/>
                <a:t>直接提供</a:t>
              </a:r>
              <a:r>
                <a:rPr lang="en-US" altLang="zh-CN" sz="1100" dirty="0"/>
                <a:t>】</a:t>
              </a:r>
              <a:r>
                <a:rPr lang="zh-CN" altLang="en-US" sz="1100" dirty="0"/>
                <a:t>：</a:t>
              </a:r>
              <a:endParaRPr lang="en-US" altLang="zh-CN" sz="1100" dirty="0"/>
            </a:p>
            <a:p>
              <a:pPr marL="171450" indent="-171450">
                <a:lnSpc>
                  <a:spcPct val="150000"/>
                </a:lnSpc>
                <a:buFont typeface="Arial" panose="020B0604020202020204" pitchFamily="34" charset="0"/>
                <a:buChar char="•"/>
              </a:pP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“number_of_positive_lymph_nodes”“number_of_resected_lymph_nodes”“tests and treatments ”“medical history</a:t>
              </a:r>
              <a:r>
                <a:rPr lang="zh-CN" altLang="en-US" sz="1100" kern="100" dirty="0">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endParaRPr>
            </a:p>
            <a:p>
              <a:pPr marL="171450" indent="-171450">
                <a:lnSpc>
                  <a:spcPct val="150000"/>
                </a:lnSpc>
                <a:buFont typeface="Arial" panose="020B0604020202020204" pitchFamily="34" charset="0"/>
                <a:buChar char="•"/>
              </a:pP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"surgery </a:t>
              </a:r>
              <a:r>
                <a:rPr lang="en-US" altLang="zh-CN" sz="1100" kern="100" dirty="0" err="1">
                  <a:effectLst/>
                  <a:latin typeface="等线" panose="02010600030101010101" pitchFamily="2" charset="-122"/>
                  <a:ea typeface="等线" panose="02010600030101010101" pitchFamily="2" charset="-122"/>
                  <a:cs typeface="Times New Roman" panose="02020603050405020304" pitchFamily="18" charset="0"/>
                </a:rPr>
                <a:t>report""results</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of laboratory tests"</a:t>
              </a:r>
              <a:endParaRPr lang="en-US" altLang="zh-CN" sz="1100" dirty="0"/>
            </a:p>
            <a:p>
              <a:pPr marL="171450" indent="-171450">
                <a:lnSpc>
                  <a:spcPct val="150000"/>
                </a:lnSpc>
                <a:buFont typeface="Arial" panose="020B0604020202020204" pitchFamily="34" charset="0"/>
                <a:buChar char="•"/>
              </a:pPr>
              <a:r>
                <a:rPr lang="en-US" altLang="zh-CN" sz="1100" dirty="0"/>
                <a:t>【</a:t>
              </a:r>
              <a:r>
                <a:rPr lang="zh-CN" altLang="en-US" sz="1100" dirty="0"/>
                <a:t>模型推理</a:t>
              </a:r>
              <a:r>
                <a:rPr lang="en-US" altLang="zh-CN" sz="1100" dirty="0"/>
                <a:t>】</a:t>
              </a:r>
              <a:r>
                <a:rPr lang="zh-CN" altLang="en-US" sz="1100" dirty="0"/>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100" dirty="0"/>
                <a:t>"preliminary_pT_stage""</a:t>
              </a:r>
              <a:r>
                <a:rPr lang="en-US" altLang="zh-CN" sz="1100" dirty="0" err="1"/>
                <a:t>preliminary_pN_stage</a:t>
              </a:r>
              <a:r>
                <a:rPr lang="en-US" altLang="zh-CN" sz="1100" dirty="0"/>
                <a:t>“</a:t>
              </a:r>
            </a:p>
            <a:p>
              <a:pPr marL="171450" indent="-171450">
                <a:lnSpc>
                  <a:spcPct val="150000"/>
                </a:lnSpc>
                <a:buFont typeface="Arial" panose="020B0604020202020204" pitchFamily="34" charset="0"/>
                <a:buChar char="•"/>
              </a:pPr>
              <a:r>
                <a:rPr lang="en-US" altLang="zh-CN" sz="1100" dirty="0"/>
                <a:t>"preliminary_resection_status""preliminary_histologic_type“</a:t>
              </a:r>
            </a:p>
            <a:p>
              <a:pPr marL="171450" indent="-171450">
                <a:lnSpc>
                  <a:spcPct val="150000"/>
                </a:lnSpc>
                <a:buFont typeface="Arial" panose="020B0604020202020204" pitchFamily="34" charset="0"/>
                <a:buChar char="•"/>
              </a:pPr>
              <a:r>
                <a:rPr lang="en-US" altLang="zh-CN" sz="1100" dirty="0"/>
                <a:t>【</a:t>
              </a:r>
              <a:r>
                <a:rPr lang="zh-CN" altLang="en-US" sz="1100" dirty="0"/>
                <a:t>初步提取</a:t>
              </a:r>
              <a:r>
                <a:rPr lang="en-US" altLang="zh-CN" sz="1100" dirty="0"/>
                <a:t>】</a:t>
              </a:r>
              <a:r>
                <a:rPr lang="zh-CN" altLang="en-US" sz="1200" dirty="0"/>
                <a:t>：</a:t>
              </a:r>
              <a:r>
                <a:rPr lang="en-US" altLang="zh-CN" sz="1500" dirty="0"/>
                <a:t>.</a:t>
              </a:r>
              <a:r>
                <a:rPr lang="zh-CN" altLang="en-US" sz="1100" dirty="0"/>
                <a:t>上述四个的推理及其对应依据</a:t>
              </a:r>
              <a:endParaRPr lang="en-US" altLang="zh-CN" sz="1000" dirty="0"/>
            </a:p>
            <a:p>
              <a:pPr marL="171450" indent="-171450">
                <a:lnSpc>
                  <a:spcPct val="150000"/>
                </a:lnSpc>
                <a:buFont typeface="Arial" panose="020B0604020202020204" pitchFamily="34" charset="0"/>
                <a:buChar char="•"/>
              </a:pPr>
              <a:endParaRPr lang="en-US" altLang="zh-CN" sz="1100" dirty="0"/>
            </a:p>
          </p:txBody>
        </p:sp>
        <p:sp>
          <p:nvSpPr>
            <p:cNvPr id="29" name="îşļiḋê"/>
            <p:cNvSpPr txBox="1"/>
            <p:nvPr/>
          </p:nvSpPr>
          <p:spPr bwMode="auto">
            <a:xfrm>
              <a:off x="568507" y="5466015"/>
              <a:ext cx="3622790"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endParaRPr lang="en-US" altLang="zh-CN" sz="1800" b="1" dirty="0"/>
            </a:p>
          </p:txBody>
        </p:sp>
        <p:cxnSp>
          <p:nvCxnSpPr>
            <p:cNvPr id="30" name="直接连接符 29"/>
            <p:cNvCxnSpPr/>
            <p:nvPr/>
          </p:nvCxnSpPr>
          <p:spPr>
            <a:xfrm>
              <a:off x="954072" y="3065431"/>
              <a:ext cx="3444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46809" y="5464285"/>
              <a:ext cx="3444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pic>
        <p:nvPicPr>
          <p:cNvPr id="33" name="图片 32" descr="C:\Users\xin\Desktop\中科大.png中科大"/>
          <p:cNvPicPr>
            <a:picLocks noChangeAspect="1"/>
          </p:cNvPicPr>
          <p:nvPr/>
        </p:nvPicPr>
        <p:blipFill>
          <a:blip r:embed="rId3"/>
          <a:srcRect/>
          <a:stretch>
            <a:fillRect/>
          </a:stretch>
        </p:blipFill>
        <p:spPr>
          <a:xfrm>
            <a:off x="10857865" y="252730"/>
            <a:ext cx="878840" cy="8794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1997C6-436E-B022-AAA1-43D2F40D81E7}"/>
              </a:ext>
            </a:extLst>
          </p:cNvPr>
          <p:cNvSpPr>
            <a:spLocks noGrp="1"/>
          </p:cNvSpPr>
          <p:nvPr>
            <p:ph type="title"/>
          </p:nvPr>
        </p:nvSpPr>
        <p:spPr>
          <a:xfrm>
            <a:off x="171837" y="-337277"/>
            <a:ext cx="10850563" cy="1028699"/>
          </a:xfrm>
        </p:spPr>
        <p:txBody>
          <a:bodyPr/>
          <a:lstStyle/>
          <a:p>
            <a:r>
              <a:rPr lang="zh-CN" altLang="en-US" dirty="0"/>
              <a:t>评测任务</a:t>
            </a:r>
          </a:p>
        </p:txBody>
      </p:sp>
      <p:sp>
        <p:nvSpPr>
          <p:cNvPr id="4" name="灯片编号占位符 3">
            <a:extLst>
              <a:ext uri="{FF2B5EF4-FFF2-40B4-BE49-F238E27FC236}">
                <a16:creationId xmlns:a16="http://schemas.microsoft.com/office/drawing/2014/main" id="{CEFEEEF2-9556-05A5-E3F9-CAC8AC1F4FCC}"/>
              </a:ext>
            </a:extLst>
          </p:cNvPr>
          <p:cNvSpPr>
            <a:spLocks noGrp="1"/>
          </p:cNvSpPr>
          <p:nvPr>
            <p:ph type="sldNum" sz="quarter" idx="12"/>
          </p:nvPr>
        </p:nvSpPr>
        <p:spPr/>
        <p:txBody>
          <a:bodyPr/>
          <a:lstStyle/>
          <a:p>
            <a:fld id="{5DD3DB80-B894-403A-B48E-6FDC1A72010E}" type="slidenum">
              <a:rPr lang="zh-CN" altLang="en-US" smtClean="0"/>
              <a:t>10</a:t>
            </a:fld>
            <a:endParaRPr lang="zh-CN" altLang="en-US"/>
          </a:p>
        </p:txBody>
      </p:sp>
      <p:sp>
        <p:nvSpPr>
          <p:cNvPr id="8" name="文本框 7">
            <a:extLst>
              <a:ext uri="{FF2B5EF4-FFF2-40B4-BE49-F238E27FC236}">
                <a16:creationId xmlns:a16="http://schemas.microsoft.com/office/drawing/2014/main" id="{5F68E4EE-22D8-1270-F858-97211E2D8F55}"/>
              </a:ext>
            </a:extLst>
          </p:cNvPr>
          <p:cNvSpPr txBox="1"/>
          <p:nvPr/>
        </p:nvSpPr>
        <p:spPr>
          <a:xfrm>
            <a:off x="357622" y="606766"/>
            <a:ext cx="11430724" cy="5509200"/>
          </a:xfrm>
          <a:prstGeom prst="rect">
            <a:avLst/>
          </a:prstGeom>
          <a:noFill/>
        </p:spPr>
        <p:txBody>
          <a:bodyPr wrap="square">
            <a:spAutoFit/>
          </a:bodyPr>
          <a:lstStyle/>
          <a:p>
            <a:r>
              <a:rPr lang="en-US" altLang="zh-CN" sz="1600" dirty="0"/>
              <a:t>1 Guideline-Grounded Reasoning Evaluation</a:t>
            </a:r>
          </a:p>
          <a:p>
            <a:r>
              <a:rPr lang="zh-CN" altLang="en-US" sz="1600" b="1" dirty="0"/>
              <a:t>核心定义：</a:t>
            </a:r>
            <a:r>
              <a:rPr lang="zh-CN" altLang="en-US" sz="1600" dirty="0"/>
              <a:t> 这一评估层级构成了整个 </a:t>
            </a:r>
            <a:r>
              <a:rPr lang="en-US" altLang="zh-CN" sz="1600" dirty="0"/>
              <a:t>Benchmark </a:t>
            </a:r>
            <a:r>
              <a:rPr lang="zh-CN" altLang="en-US" sz="1600" dirty="0"/>
              <a:t>的医学知识底座。它主要作为一种“静态质控”手段，旨在测试大语言模型（</a:t>
            </a:r>
            <a:r>
              <a:rPr lang="en-US" altLang="zh-CN" sz="1600" dirty="0"/>
              <a:t>MLLM</a:t>
            </a:r>
            <a:r>
              <a:rPr lang="zh-CN" altLang="en-US" sz="1600" dirty="0"/>
              <a:t>）在面对结构化或半结构化的确切医疗数据时，是否具备主治医师级别的循证医学知识储备。本层级严格考察模型能否将极其复杂的头颈癌临床标准，确定性地映射到当前公认的权威肿瘤指南（如 </a:t>
            </a:r>
            <a:r>
              <a:rPr lang="en-US" altLang="zh-CN" sz="1600" dirty="0"/>
              <a:t>NCCN </a:t>
            </a:r>
            <a:r>
              <a:rPr lang="zh-CN" altLang="en-US" sz="1600" dirty="0"/>
              <a:t>指南）的特定节点与路径分支上。</a:t>
            </a:r>
          </a:p>
          <a:p>
            <a:r>
              <a:rPr lang="zh-CN" altLang="en-US" sz="1600" b="1" dirty="0"/>
              <a:t>多维评估维度：</a:t>
            </a:r>
            <a:r>
              <a:rPr lang="zh-CN" altLang="en-US" sz="1600" dirty="0"/>
              <a:t> 本层级通过以下四个关键切面，对模型的“指南依从性”进行切片化打分：</a:t>
            </a:r>
          </a:p>
          <a:p>
            <a:pPr lvl="1">
              <a:buFont typeface="Arial" panose="020B0604020202020204" pitchFamily="34" charset="0"/>
              <a:buChar char="•"/>
            </a:pPr>
            <a:r>
              <a:rPr lang="zh-CN" altLang="en-US" sz="1600" b="1" dirty="0"/>
              <a:t>当前属于哪个诊疗阶段 </a:t>
            </a:r>
            <a:r>
              <a:rPr lang="en-US" altLang="zh-CN" sz="1600" b="1" dirty="0"/>
              <a:t>(Phase Identification)</a:t>
            </a:r>
            <a:r>
              <a:rPr lang="zh-CN" altLang="en-US" sz="1600" b="1" dirty="0"/>
              <a:t>：</a:t>
            </a:r>
            <a:endParaRPr lang="zh-CN" altLang="en-US" sz="1600" dirty="0"/>
          </a:p>
          <a:p>
            <a:pPr marL="742950" lvl="1" indent="-285750">
              <a:buFont typeface="Arial" panose="020B0604020202020204" pitchFamily="34" charset="0"/>
              <a:buChar char="•"/>
            </a:pPr>
            <a:r>
              <a:rPr lang="zh-CN" altLang="en-US" sz="1600" dirty="0"/>
              <a:t>模型必须具备强烈的时间线和流程意识。它需要从提供的上下文中准确识别患者目前处于“初始临床评估 </a:t>
            </a:r>
            <a:r>
              <a:rPr lang="en-US" altLang="zh-CN" sz="1600" dirty="0"/>
              <a:t>(Workup)”</a:t>
            </a:r>
            <a:r>
              <a:rPr lang="zh-CN" altLang="en-US" sz="1600" dirty="0"/>
              <a:t>、“术后大体病理判读”、“微观 </a:t>
            </a:r>
            <a:r>
              <a:rPr lang="en-US" altLang="zh-CN" sz="1600" dirty="0"/>
              <a:t>WSI </a:t>
            </a:r>
            <a:r>
              <a:rPr lang="zh-CN" altLang="en-US" sz="1600" dirty="0"/>
              <a:t>切片确诊”还是“术后辅助治疗决断 </a:t>
            </a:r>
            <a:r>
              <a:rPr lang="en-US" altLang="zh-CN" sz="1600" dirty="0"/>
              <a:t>(Adjuvant Treatment)”</a:t>
            </a:r>
            <a:r>
              <a:rPr lang="zh-CN" altLang="en-US" sz="1600" dirty="0"/>
              <a:t>阶段。如果模型在术前阶段就急于开具术后化疗处方，将被判定为阶段认知错乱。</a:t>
            </a:r>
          </a:p>
          <a:p>
            <a:pPr lvl="1">
              <a:buFont typeface="Arial" panose="020B0604020202020204" pitchFamily="34" charset="0"/>
              <a:buChar char="•"/>
            </a:pPr>
            <a:r>
              <a:rPr lang="zh-CN" altLang="en-US" sz="1600" b="1" dirty="0"/>
              <a:t>应优先考虑哪些⻛险点</a:t>
            </a:r>
            <a:r>
              <a:rPr lang="en-US" altLang="zh-CN" sz="1600" b="1" dirty="0"/>
              <a:t>(Risk Factor Prioritization)</a:t>
            </a:r>
            <a:r>
              <a:rPr lang="zh-CN" altLang="en-US" sz="1600" b="1" dirty="0"/>
              <a:t>：</a:t>
            </a:r>
            <a:endParaRPr lang="zh-CN" altLang="en-US" sz="1600" dirty="0"/>
          </a:p>
          <a:p>
            <a:pPr marL="742950" lvl="1" indent="-285750">
              <a:buFont typeface="Arial" panose="020B0604020202020204" pitchFamily="34" charset="0"/>
              <a:buChar char="•"/>
            </a:pPr>
            <a:r>
              <a:rPr lang="zh-CN" altLang="en-US" sz="1600" dirty="0"/>
              <a:t>指南的分流往往取决于少数几个致命的“判别特征”。模型必须展示出对这些高危特征的敏锐嗅觉。例如，在阅读病理报告或切片后，模型能否精准锚定并提取出“淋巴结包膜外侵犯 </a:t>
            </a:r>
            <a:r>
              <a:rPr lang="en-US" altLang="zh-CN" sz="1600" dirty="0"/>
              <a:t>(Perinodal Invasion)”</a:t>
            </a:r>
            <a:r>
              <a:rPr lang="zh-CN" altLang="en-US" sz="1600" dirty="0"/>
              <a:t>、“极窄</a:t>
            </a:r>
            <a:r>
              <a:rPr lang="en-US" altLang="zh-CN" sz="1600" dirty="0"/>
              <a:t>/</a:t>
            </a:r>
            <a:r>
              <a:rPr lang="zh-CN" altLang="en-US" sz="1600" dirty="0"/>
              <a:t>阳性切缘 </a:t>
            </a:r>
            <a:r>
              <a:rPr lang="en-US" altLang="zh-CN" sz="1600" dirty="0"/>
              <a:t>(&lt;0.1cm)”</a:t>
            </a:r>
            <a:r>
              <a:rPr lang="zh-CN" altLang="en-US" sz="1600" dirty="0"/>
              <a:t>或“淋巴血管侵犯 </a:t>
            </a:r>
            <a:r>
              <a:rPr lang="en-US" altLang="zh-CN" sz="1600" dirty="0"/>
              <a:t>(LVI)”</a:t>
            </a:r>
            <a:r>
              <a:rPr lang="zh-CN" altLang="en-US" sz="1600" dirty="0"/>
              <a:t>等直接决定患者生死的关键不良病理特征。</a:t>
            </a:r>
            <a:endParaRPr lang="en-US" altLang="zh-CN" sz="1600" dirty="0"/>
          </a:p>
          <a:p>
            <a:pPr marL="742950" lvl="1" indent="-285750">
              <a:buFont typeface="Arial" panose="020B0604020202020204" pitchFamily="34" charset="0"/>
              <a:buChar char="•"/>
            </a:pPr>
            <a:r>
              <a:rPr lang="zh-CN" altLang="en-US" sz="1600" b="1" dirty="0"/>
              <a:t>下一步推荐进行什么检查或操作 </a:t>
            </a:r>
            <a:r>
              <a:rPr lang="en-US" altLang="zh-CN" sz="1600" b="1" dirty="0"/>
              <a:t>(Actionable Recommendation)</a:t>
            </a:r>
            <a:r>
              <a:rPr lang="zh-CN" altLang="en-US" sz="1600" b="1" dirty="0"/>
              <a:t>：</a:t>
            </a:r>
            <a:endParaRPr lang="zh-CN" altLang="en-US" sz="1600" dirty="0"/>
          </a:p>
          <a:p>
            <a:pPr marL="1200150" lvl="2" indent="-285750">
              <a:buFont typeface="Arial" panose="020B0604020202020204" pitchFamily="34" charset="0"/>
              <a:buChar char="•"/>
            </a:pPr>
            <a:r>
              <a:rPr lang="zh-CN" altLang="en-US" sz="1600" dirty="0"/>
              <a:t>基于前置的阶段和风险点，模型必须推演出唯一或最优的临床动作。例如，针对临床分期为 </a:t>
            </a:r>
            <a:r>
              <a:rPr lang="en-US" altLang="zh-CN" sz="1600" dirty="0"/>
              <a:t>cT3 cN2b </a:t>
            </a:r>
            <a:r>
              <a:rPr lang="zh-CN" altLang="en-US" sz="1600" dirty="0"/>
              <a:t>的下咽癌，模型应准确推演出需要“保留器官的综合方案或全喉下咽切除术</a:t>
            </a:r>
            <a:r>
              <a:rPr lang="en-US" altLang="zh-CN" sz="1600" dirty="0"/>
              <a:t>+</a:t>
            </a:r>
            <a:r>
              <a:rPr lang="zh-CN" altLang="en-US" sz="1600" dirty="0"/>
              <a:t>颈清扫”；在发现高危切缘后，应果断推荐“同步放化疗”。同时，本维度也考察模型“不做什么”的智慧（如：拒绝为下咽癌患者开具不符合指南的 </a:t>
            </a:r>
            <a:r>
              <a:rPr lang="en-US" altLang="zh-CN" sz="1600" dirty="0"/>
              <a:t>p16 </a:t>
            </a:r>
            <a:r>
              <a:rPr lang="zh-CN" altLang="en-US" sz="1600" dirty="0"/>
              <a:t>病毒检测）。</a:t>
            </a:r>
          </a:p>
          <a:p>
            <a:pPr lvl="1">
              <a:buFont typeface="Arial" panose="020B0604020202020204" pitchFamily="34" charset="0"/>
              <a:buChar char="•"/>
            </a:pPr>
            <a:r>
              <a:rPr lang="zh-CN" altLang="en-US" sz="1600" b="1" dirty="0"/>
              <a:t>该动作是否符合临床指南及证据等级 </a:t>
            </a:r>
            <a:r>
              <a:rPr lang="en-US" altLang="zh-CN" sz="1600" b="1" dirty="0"/>
              <a:t>(Guideline Compliance &amp; Evidence Categorization)</a:t>
            </a:r>
            <a:r>
              <a:rPr lang="zh-CN" altLang="en-US" sz="1600" b="1" dirty="0"/>
              <a:t>：</a:t>
            </a:r>
            <a:endParaRPr lang="zh-CN" altLang="en-US" sz="1600" dirty="0"/>
          </a:p>
          <a:p>
            <a:pPr marL="742950" lvl="1" indent="-285750">
              <a:buFont typeface="Arial" panose="020B0604020202020204" pitchFamily="34" charset="0"/>
              <a:buChar char="•"/>
            </a:pPr>
            <a:r>
              <a:rPr lang="zh-CN" altLang="en-US" sz="1600" dirty="0"/>
              <a:t>模型输出的方案不仅要在宏观方向上正确，还必须在证据分级上与指南（</a:t>
            </a:r>
            <a:r>
              <a:rPr lang="en-US" altLang="zh-CN" sz="1600" dirty="0"/>
              <a:t>Ground Truth</a:t>
            </a:r>
            <a:r>
              <a:rPr lang="zh-CN" altLang="en-US" sz="1600" dirty="0"/>
              <a:t>）绝对对齐。</a:t>
            </a:r>
            <a:endParaRPr lang="en-US" altLang="zh-CN" sz="1600" dirty="0"/>
          </a:p>
          <a:p>
            <a:pPr marL="742950" lvl="1" indent="-285750">
              <a:buFont typeface="Arial" panose="020B0604020202020204" pitchFamily="34" charset="0"/>
              <a:buChar char="•"/>
            </a:pPr>
            <a:r>
              <a:rPr lang="zh-CN" altLang="en-US" sz="1600" dirty="0"/>
              <a:t>同时系统将严格校验模型推荐的方案是属于“</a:t>
            </a:r>
            <a:r>
              <a:rPr lang="en-US" altLang="zh-CN" sz="1600" dirty="0"/>
              <a:t>1 </a:t>
            </a:r>
            <a:r>
              <a:rPr lang="zh-CN" altLang="en-US" sz="1600" dirty="0"/>
              <a:t>类推荐”（高水平证据</a:t>
            </a:r>
            <a:r>
              <a:rPr lang="en-US" altLang="zh-CN" sz="1600" dirty="0"/>
              <a:t>/</a:t>
            </a:r>
            <a:r>
              <a:rPr lang="zh-CN" altLang="en-US" sz="1600" dirty="0"/>
              <a:t>统一共识，必须执行）、“</a:t>
            </a:r>
            <a:r>
              <a:rPr lang="en-US" altLang="zh-CN" sz="1600" dirty="0"/>
              <a:t>2A/2B </a:t>
            </a:r>
            <a:r>
              <a:rPr lang="zh-CN" altLang="en-US" sz="1600" dirty="0"/>
              <a:t>类推荐”（常用或可选方案），还是“</a:t>
            </a:r>
            <a:r>
              <a:rPr lang="en-US" altLang="zh-CN" sz="1600" dirty="0"/>
              <a:t>3 </a:t>
            </a:r>
            <a:r>
              <a:rPr lang="zh-CN" altLang="en-US" sz="1600" dirty="0"/>
              <a:t>类推荐”（存在显著分歧）。</a:t>
            </a:r>
          </a:p>
        </p:txBody>
      </p:sp>
      <p:pic>
        <p:nvPicPr>
          <p:cNvPr id="9" name="图片 8" descr="C:\Users\xin\Desktop\中科大.png中科大">
            <a:extLst>
              <a:ext uri="{FF2B5EF4-FFF2-40B4-BE49-F238E27FC236}">
                <a16:creationId xmlns:a16="http://schemas.microsoft.com/office/drawing/2014/main" id="{86FA10A4-827B-28B4-6153-20124A298950}"/>
              </a:ext>
            </a:extLst>
          </p:cNvPr>
          <p:cNvPicPr>
            <a:picLocks noChangeAspect="1"/>
          </p:cNvPicPr>
          <p:nvPr/>
        </p:nvPicPr>
        <p:blipFill>
          <a:blip r:embed="rId2"/>
          <a:srcRect/>
          <a:stretch>
            <a:fillRect/>
          </a:stretch>
        </p:blipFill>
        <p:spPr>
          <a:xfrm>
            <a:off x="10857865" y="252730"/>
            <a:ext cx="878840" cy="879475"/>
          </a:xfrm>
          <a:prstGeom prst="rect">
            <a:avLst/>
          </a:prstGeom>
        </p:spPr>
      </p:pic>
    </p:spTree>
    <p:extLst>
      <p:ext uri="{BB962C8B-B14F-4D97-AF65-F5344CB8AC3E}">
        <p14:creationId xmlns:p14="http://schemas.microsoft.com/office/powerpoint/2010/main" val="1955141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A0996-AFB1-CBA9-CCEC-C23814EEBDBD}"/>
              </a:ext>
            </a:extLst>
          </p:cNvPr>
          <p:cNvSpPr>
            <a:spLocks noGrp="1"/>
          </p:cNvSpPr>
          <p:nvPr>
            <p:ph type="title"/>
          </p:nvPr>
        </p:nvSpPr>
        <p:spPr>
          <a:xfrm>
            <a:off x="1" y="0"/>
            <a:ext cx="2862146" cy="1028699"/>
          </a:xfrm>
        </p:spPr>
        <p:txBody>
          <a:bodyPr/>
          <a:lstStyle/>
          <a:p>
            <a:r>
              <a:rPr lang="en-US" altLang="zh-CN" dirty="0"/>
              <a:t>step_1_patient_basic_info</a:t>
            </a:r>
            <a:endParaRPr lang="zh-CN" altLang="en-US" dirty="0"/>
          </a:p>
        </p:txBody>
      </p:sp>
      <p:sp>
        <p:nvSpPr>
          <p:cNvPr id="4" name="灯片编号占位符 3">
            <a:extLst>
              <a:ext uri="{FF2B5EF4-FFF2-40B4-BE49-F238E27FC236}">
                <a16:creationId xmlns:a16="http://schemas.microsoft.com/office/drawing/2014/main" id="{1A59EAE3-D27C-A44B-811E-005F5BBB32D7}"/>
              </a:ext>
            </a:extLst>
          </p:cNvPr>
          <p:cNvSpPr>
            <a:spLocks noGrp="1"/>
          </p:cNvSpPr>
          <p:nvPr>
            <p:ph type="sldNum" sz="quarter" idx="12"/>
          </p:nvPr>
        </p:nvSpPr>
        <p:spPr/>
        <p:txBody>
          <a:bodyPr/>
          <a:lstStyle/>
          <a:p>
            <a:fld id="{5DD3DB80-B894-403A-B48E-6FDC1A72010E}" type="slidenum">
              <a:rPr lang="zh-CN" altLang="en-US" smtClean="0"/>
              <a:t>11</a:t>
            </a:fld>
            <a:endParaRPr lang="zh-CN" altLang="en-US"/>
          </a:p>
        </p:txBody>
      </p:sp>
      <p:pic>
        <p:nvPicPr>
          <p:cNvPr id="6" name="图片 5">
            <a:extLst>
              <a:ext uri="{FF2B5EF4-FFF2-40B4-BE49-F238E27FC236}">
                <a16:creationId xmlns:a16="http://schemas.microsoft.com/office/drawing/2014/main" id="{CB536213-CA0A-850B-9F39-DC325602B170}"/>
              </a:ext>
            </a:extLst>
          </p:cNvPr>
          <p:cNvPicPr>
            <a:picLocks noChangeAspect="1"/>
          </p:cNvPicPr>
          <p:nvPr/>
        </p:nvPicPr>
        <p:blipFill rotWithShape="1">
          <a:blip r:embed="rId2">
            <a:extLst>
              <a:ext uri="{28A0092B-C50C-407E-A947-70E740481C1C}">
                <a14:useLocalDpi xmlns:a14="http://schemas.microsoft.com/office/drawing/2010/main" val="0"/>
              </a:ext>
            </a:extLst>
          </a:blip>
          <a:srcRect t="12791" b="53387"/>
          <a:stretch/>
        </p:blipFill>
        <p:spPr>
          <a:xfrm>
            <a:off x="2111929" y="646143"/>
            <a:ext cx="8935213" cy="2319454"/>
          </a:xfrm>
          <a:prstGeom prst="rect">
            <a:avLst/>
          </a:prstGeom>
        </p:spPr>
      </p:pic>
      <p:sp>
        <p:nvSpPr>
          <p:cNvPr id="9" name="文本框 8">
            <a:extLst>
              <a:ext uri="{FF2B5EF4-FFF2-40B4-BE49-F238E27FC236}">
                <a16:creationId xmlns:a16="http://schemas.microsoft.com/office/drawing/2014/main" id="{FDA471DB-02F2-71ED-3EBA-38F62999D618}"/>
              </a:ext>
            </a:extLst>
          </p:cNvPr>
          <p:cNvSpPr txBox="1"/>
          <p:nvPr/>
        </p:nvSpPr>
        <p:spPr>
          <a:xfrm>
            <a:off x="449114" y="2682424"/>
            <a:ext cx="8722022" cy="4154984"/>
          </a:xfrm>
          <a:prstGeom prst="rect">
            <a:avLst/>
          </a:prstGeom>
          <a:noFill/>
        </p:spPr>
        <p:txBody>
          <a:bodyPr wrap="square">
            <a:spAutoFit/>
          </a:bodyPr>
          <a:lstStyle/>
          <a:p>
            <a:r>
              <a:rPr lang="en-US" altLang="zh-CN" sz="1200" dirty="0"/>
              <a:t>"step_1_patient_basic_info": {</a:t>
            </a:r>
          </a:p>
          <a:p>
            <a:r>
              <a:rPr lang="en-US" altLang="zh-CN" b="1" dirty="0"/>
              <a:t>        Input</a:t>
            </a:r>
            <a:r>
              <a:rPr lang="zh-CN" altLang="en-US" b="1" dirty="0"/>
              <a:t>：</a:t>
            </a:r>
            <a:endParaRPr lang="en-US" altLang="zh-CN" b="1" dirty="0"/>
          </a:p>
          <a:p>
            <a:r>
              <a:rPr lang="en-US" altLang="zh-CN" sz="1200" dirty="0"/>
              <a:t>        "</a:t>
            </a:r>
            <a:r>
              <a:rPr lang="en-US" altLang="zh-CN" sz="1200" dirty="0" err="1"/>
              <a:t>diagnosed_year</a:t>
            </a:r>
            <a:r>
              <a:rPr lang="en-US" altLang="zh-CN" sz="1200" dirty="0"/>
              <a:t>": "2015 ",</a:t>
            </a:r>
          </a:p>
          <a:p>
            <a:r>
              <a:rPr lang="en-US" altLang="zh-CN" sz="1200" dirty="0"/>
              <a:t>        "</a:t>
            </a:r>
            <a:r>
              <a:rPr lang="en-US" altLang="zh-CN" sz="1200" dirty="0" err="1"/>
              <a:t>age_at_diagnosis</a:t>
            </a:r>
            <a:r>
              <a:rPr lang="en-US" altLang="zh-CN" sz="1200" dirty="0"/>
              <a:t>": "65",</a:t>
            </a:r>
          </a:p>
          <a:p>
            <a:r>
              <a:rPr lang="en-US" altLang="zh-CN" sz="1200" dirty="0"/>
              <a:t>        "gender": "male",</a:t>
            </a:r>
          </a:p>
          <a:p>
            <a:r>
              <a:rPr lang="en-US" altLang="zh-CN" sz="1200" dirty="0"/>
              <a:t>        "</a:t>
            </a:r>
            <a:r>
              <a:rPr lang="en-US" altLang="zh-CN" sz="1200" dirty="0" err="1"/>
              <a:t>smoking_status</a:t>
            </a:r>
            <a:r>
              <a:rPr lang="en-US" altLang="zh-CN" sz="1200" dirty="0"/>
              <a:t>": "former",</a:t>
            </a:r>
          </a:p>
          <a:p>
            <a:r>
              <a:rPr lang="en-US" altLang="zh-CN" sz="1200" dirty="0"/>
              <a:t>        "</a:t>
            </a:r>
            <a:r>
              <a:rPr lang="en-US" altLang="zh-CN" sz="1200" dirty="0" err="1"/>
              <a:t>primarily_metastasis</a:t>
            </a:r>
            <a:r>
              <a:rPr lang="en-US" altLang="zh-CN" sz="1200" dirty="0"/>
              <a:t>": "no",</a:t>
            </a:r>
          </a:p>
          <a:p>
            <a:r>
              <a:rPr lang="en-US" altLang="zh-CN" sz="1200" dirty="0"/>
              <a:t>        "</a:t>
            </a:r>
            <a:r>
              <a:rPr lang="en-US" altLang="zh-CN" sz="1200" dirty="0" err="1"/>
              <a:t>primary_tumor_site</a:t>
            </a:r>
            <a:r>
              <a:rPr lang="en-US" altLang="zh-CN" sz="1200" dirty="0"/>
              <a:t>": "Hypopharynx",</a:t>
            </a:r>
          </a:p>
          <a:p>
            <a:r>
              <a:rPr lang="en-US" altLang="zh-CN" sz="1200" dirty="0"/>
              <a:t>        "hpv_association_p16": "</a:t>
            </a:r>
            <a:r>
              <a:rPr lang="en-US" altLang="zh-CN" sz="1200" dirty="0" err="1"/>
              <a:t>not_tested</a:t>
            </a:r>
            <a:r>
              <a:rPr lang="en-US" altLang="zh-CN" sz="1200" dirty="0"/>
              <a:t> ",</a:t>
            </a:r>
          </a:p>
          <a:p>
            <a:r>
              <a:rPr lang="en-US" altLang="zh-CN" sz="1200" dirty="0"/>
              <a:t>        "</a:t>
            </a:r>
            <a:r>
              <a:rPr lang="en-US" altLang="zh-CN" sz="1200" dirty="0" err="1"/>
              <a:t>icd_code</a:t>
            </a:r>
            <a:r>
              <a:rPr lang="en-US" altLang="zh-CN" sz="1200" dirty="0"/>
              <a:t>": "C13.9, C32.9, C77.0 B",</a:t>
            </a:r>
          </a:p>
          <a:p>
            <a:r>
              <a:rPr lang="en-US" altLang="zh-CN" sz="1200" dirty="0"/>
              <a:t>        "</a:t>
            </a:r>
            <a:r>
              <a:rPr lang="en-US" altLang="zh-CN" sz="1200" dirty="0" err="1"/>
              <a:t>describe_focus</a:t>
            </a:r>
            <a:r>
              <a:rPr lang="en-US" altLang="zh-CN" sz="1200" dirty="0"/>
              <a:t>": "CT</a:t>
            </a:r>
            <a:r>
              <a:rPr lang="zh-CN" altLang="en-US" sz="1200" dirty="0"/>
              <a:t>示原发灶侵犯声门旁间隙或推挤软骨，伴同侧颈部多发肿大淋巴结（最大径≤</a:t>
            </a:r>
            <a:r>
              <a:rPr lang="en-US" altLang="zh-CN" sz="1200" dirty="0"/>
              <a:t>6cm</a:t>
            </a:r>
            <a:r>
              <a:rPr lang="zh-CN" altLang="en-US" sz="1200" dirty="0"/>
              <a:t>）；超声可见淋巴结皮髓质分界不清，血流信号紊乱，提示局部晚期病变。</a:t>
            </a:r>
            <a:r>
              <a:rPr lang="en-US" altLang="zh-CN" sz="1200" dirty="0"/>
              <a:t>",</a:t>
            </a:r>
          </a:p>
          <a:p>
            <a:r>
              <a:rPr lang="en-US" altLang="zh-CN" sz="1200" dirty="0"/>
              <a:t>         </a:t>
            </a:r>
          </a:p>
          <a:p>
            <a:r>
              <a:rPr lang="en-US" altLang="zh-CN" b="1" dirty="0"/>
              <a:t>        OUTPPUT</a:t>
            </a:r>
            <a:r>
              <a:rPr lang="zh-CN" altLang="en-US" b="1" dirty="0"/>
              <a:t>：</a:t>
            </a:r>
            <a:endParaRPr lang="en-US" altLang="zh-CN" b="1" dirty="0"/>
          </a:p>
          <a:p>
            <a:r>
              <a:rPr lang="en-US" altLang="zh-CN" sz="1200" dirty="0"/>
              <a:t>        "</a:t>
            </a:r>
            <a:r>
              <a:rPr lang="en-US" altLang="zh-CN" sz="1200" dirty="0" err="1"/>
              <a:t>cT_stage</a:t>
            </a:r>
            <a:r>
              <a:rPr lang="en-US" altLang="zh-CN" sz="1200" dirty="0"/>
              <a:t>": "cT3",</a:t>
            </a:r>
          </a:p>
          <a:p>
            <a:r>
              <a:rPr lang="en-US" altLang="zh-CN" sz="1200" dirty="0"/>
              <a:t>        "</a:t>
            </a:r>
            <a:r>
              <a:rPr lang="en-US" altLang="zh-CN" sz="1200" dirty="0" err="1"/>
              <a:t>cT_stage_evidence</a:t>
            </a:r>
            <a:r>
              <a:rPr lang="en-US" altLang="zh-CN" sz="1200" dirty="0"/>
              <a:t>": " “【</a:t>
            </a:r>
            <a:r>
              <a:rPr lang="zh-CN" altLang="en-US" sz="1200" dirty="0"/>
              <a:t>模型生成</a:t>
            </a:r>
            <a:r>
              <a:rPr lang="en-US" altLang="zh-CN" sz="1200" dirty="0"/>
              <a:t>】</a:t>
            </a:r>
            <a:r>
              <a:rPr lang="zh-CN" altLang="en-US" sz="1200" dirty="0"/>
              <a:t>：影像学描述指出原发灶侵犯声门旁间隙，这符合</a:t>
            </a:r>
            <a:r>
              <a:rPr lang="en-US" altLang="zh-CN" sz="1200" dirty="0"/>
              <a:t>T3</a:t>
            </a:r>
            <a:r>
              <a:rPr lang="zh-CN" altLang="en-US" sz="1200" dirty="0"/>
              <a:t>分期的诊断标准。</a:t>
            </a:r>
            <a:r>
              <a:rPr lang="en-US" altLang="zh-CN" sz="1200" dirty="0"/>
              <a:t>",</a:t>
            </a:r>
          </a:p>
          <a:p>
            <a:r>
              <a:rPr lang="en-US" altLang="zh-CN" sz="1200" dirty="0"/>
              <a:t>        </a:t>
            </a:r>
          </a:p>
          <a:p>
            <a:r>
              <a:rPr lang="en-US" altLang="zh-CN" sz="1200" dirty="0"/>
              <a:t>        "</a:t>
            </a:r>
            <a:r>
              <a:rPr lang="en-US" altLang="zh-CN" sz="1200" dirty="0" err="1"/>
              <a:t>cN_stage</a:t>
            </a:r>
            <a:r>
              <a:rPr lang="en-US" altLang="zh-CN" sz="1200" dirty="0"/>
              <a:t>": "cN2b ",</a:t>
            </a:r>
          </a:p>
          <a:p>
            <a:r>
              <a:rPr lang="en-US" altLang="zh-CN" sz="1200" dirty="0"/>
              <a:t>    "   </a:t>
            </a:r>
            <a:r>
              <a:rPr lang="en-US" altLang="zh-CN" sz="1200" dirty="0" err="1"/>
              <a:t>cN_stage_evidence</a:t>
            </a:r>
            <a:r>
              <a:rPr lang="en-US" altLang="zh-CN" sz="1200" dirty="0"/>
              <a:t>": " “【</a:t>
            </a:r>
            <a:r>
              <a:rPr lang="zh-CN" altLang="en-US" sz="1200" dirty="0"/>
              <a:t>模型生成</a:t>
            </a:r>
            <a:r>
              <a:rPr lang="en-US" altLang="zh-CN" sz="1200" dirty="0"/>
              <a:t>】</a:t>
            </a:r>
            <a:r>
              <a:rPr lang="zh-CN" altLang="en-US" sz="1200" dirty="0"/>
              <a:t>：超声与</a:t>
            </a:r>
            <a:r>
              <a:rPr lang="en-US" altLang="zh-CN" sz="1200" dirty="0"/>
              <a:t>CT</a:t>
            </a:r>
            <a:r>
              <a:rPr lang="zh-CN" altLang="en-US" sz="1200" dirty="0"/>
              <a:t>提示同侧颈部存在多发肿大且形态异常的淋巴结，且最大径≤</a:t>
            </a:r>
            <a:r>
              <a:rPr lang="en-US" altLang="zh-CN" sz="1200" dirty="0"/>
              <a:t>6cm</a:t>
            </a:r>
            <a:r>
              <a:rPr lang="zh-CN" altLang="en-US" sz="1200" dirty="0"/>
              <a:t>，符合</a:t>
            </a:r>
            <a:r>
              <a:rPr lang="en-US" altLang="zh-CN" sz="1200" dirty="0"/>
              <a:t>N2b</a:t>
            </a:r>
            <a:r>
              <a:rPr lang="zh-CN" altLang="en-US" sz="1200" dirty="0"/>
              <a:t>的分期特征。</a:t>
            </a:r>
            <a:r>
              <a:rPr lang="en-US" altLang="zh-CN" sz="1200" dirty="0"/>
              <a:t>"</a:t>
            </a:r>
          </a:p>
          <a:p>
            <a:r>
              <a:rPr lang="en-US" altLang="zh-CN" sz="1200" dirty="0"/>
              <a:t>    },</a:t>
            </a:r>
            <a:endParaRPr lang="zh-CN" altLang="en-US" sz="1200" dirty="0"/>
          </a:p>
        </p:txBody>
      </p:sp>
      <p:sp>
        <p:nvSpPr>
          <p:cNvPr id="10" name="文本框 9">
            <a:extLst>
              <a:ext uri="{FF2B5EF4-FFF2-40B4-BE49-F238E27FC236}">
                <a16:creationId xmlns:a16="http://schemas.microsoft.com/office/drawing/2014/main" id="{86FF90B9-1883-4A3E-544D-1DEF9D751608}"/>
              </a:ext>
            </a:extLst>
          </p:cNvPr>
          <p:cNvSpPr txBox="1"/>
          <p:nvPr/>
        </p:nvSpPr>
        <p:spPr>
          <a:xfrm>
            <a:off x="6187846" y="2918362"/>
            <a:ext cx="6177543" cy="1200329"/>
          </a:xfrm>
          <a:prstGeom prst="rect">
            <a:avLst/>
          </a:prstGeom>
          <a:noFill/>
        </p:spPr>
        <p:txBody>
          <a:bodyPr wrap="square" rtlCol="0">
            <a:spAutoFit/>
          </a:bodyPr>
          <a:lstStyle/>
          <a:p>
            <a:r>
              <a:rPr lang="zh-CN" altLang="en-US" dirty="0"/>
              <a:t>给出患者基本信息与诊断，及检查报告</a:t>
            </a:r>
            <a:endParaRPr lang="en-US" altLang="zh-CN" dirty="0"/>
          </a:p>
          <a:p>
            <a:r>
              <a:rPr lang="en-US" altLang="zh-CN" dirty="0"/>
              <a:t>Task1:</a:t>
            </a:r>
            <a:r>
              <a:rPr lang="zh-CN" altLang="en-US" dirty="0"/>
              <a:t>当前属于哪个诊疗阶段 </a:t>
            </a:r>
            <a:endParaRPr lang="en-US" altLang="zh-CN" dirty="0"/>
          </a:p>
          <a:p>
            <a:r>
              <a:rPr lang="en-US" altLang="zh-CN" dirty="0"/>
              <a:t>Task2:</a:t>
            </a:r>
            <a:r>
              <a:rPr lang="zh-CN" altLang="en-US" dirty="0"/>
              <a:t>模型需要指出术前患者临床分期与依据</a:t>
            </a:r>
            <a:endParaRPr lang="en-US" altLang="zh-CN" dirty="0"/>
          </a:p>
          <a:p>
            <a:r>
              <a:rPr lang="en-US" altLang="zh-CN" dirty="0"/>
              <a:t>Task3:</a:t>
            </a:r>
            <a:r>
              <a:rPr lang="zh-CN" altLang="en-US" dirty="0"/>
              <a:t>下一步需要什么操作</a:t>
            </a:r>
            <a:endParaRPr lang="en-US" altLang="zh-CN" dirty="0"/>
          </a:p>
        </p:txBody>
      </p:sp>
      <p:pic>
        <p:nvPicPr>
          <p:cNvPr id="11" name="图片 10" descr="C:\Users\xin\Desktop\中科大.png中科大">
            <a:extLst>
              <a:ext uri="{FF2B5EF4-FFF2-40B4-BE49-F238E27FC236}">
                <a16:creationId xmlns:a16="http://schemas.microsoft.com/office/drawing/2014/main" id="{DAA3B242-A256-D302-683D-AB12D9CFE375}"/>
              </a:ext>
            </a:extLst>
          </p:cNvPr>
          <p:cNvPicPr>
            <a:picLocks noChangeAspect="1"/>
          </p:cNvPicPr>
          <p:nvPr/>
        </p:nvPicPr>
        <p:blipFill>
          <a:blip r:embed="rId3"/>
          <a:srcRect/>
          <a:stretch>
            <a:fillRect/>
          </a:stretch>
        </p:blipFill>
        <p:spPr>
          <a:xfrm>
            <a:off x="10857865" y="252730"/>
            <a:ext cx="878840" cy="879475"/>
          </a:xfrm>
          <a:prstGeom prst="rect">
            <a:avLst/>
          </a:prstGeom>
        </p:spPr>
      </p:pic>
    </p:spTree>
    <p:extLst>
      <p:ext uri="{BB962C8B-B14F-4D97-AF65-F5344CB8AC3E}">
        <p14:creationId xmlns:p14="http://schemas.microsoft.com/office/powerpoint/2010/main" val="2473494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A0996-AFB1-CBA9-CCEC-C23814EEBDBD}"/>
              </a:ext>
            </a:extLst>
          </p:cNvPr>
          <p:cNvSpPr>
            <a:spLocks noGrp="1"/>
          </p:cNvSpPr>
          <p:nvPr>
            <p:ph type="title"/>
          </p:nvPr>
        </p:nvSpPr>
        <p:spPr>
          <a:xfrm>
            <a:off x="1" y="0"/>
            <a:ext cx="2453267" cy="1028699"/>
          </a:xfrm>
        </p:spPr>
        <p:txBody>
          <a:bodyPr>
            <a:normAutofit fontScale="90000"/>
          </a:bodyPr>
          <a:lstStyle/>
          <a:p>
            <a:r>
              <a:rPr lang="en-US" altLang="zh-CN" dirty="0"/>
              <a:t>step_2_clinical</a:t>
            </a:r>
            <a:br>
              <a:rPr lang="en-US" altLang="zh-CN" dirty="0"/>
            </a:br>
            <a:r>
              <a:rPr lang="en-US" altLang="zh-CN" dirty="0"/>
              <a:t>_treatment_decision</a:t>
            </a:r>
            <a:endParaRPr lang="zh-CN" altLang="en-US" dirty="0"/>
          </a:p>
        </p:txBody>
      </p:sp>
      <p:sp>
        <p:nvSpPr>
          <p:cNvPr id="3" name="页脚占位符 2">
            <a:extLst>
              <a:ext uri="{FF2B5EF4-FFF2-40B4-BE49-F238E27FC236}">
                <a16:creationId xmlns:a16="http://schemas.microsoft.com/office/drawing/2014/main" id="{F8F512AE-6882-B7E0-1D79-17720FEF2FF0}"/>
              </a:ext>
            </a:extLst>
          </p:cNvPr>
          <p:cNvSpPr>
            <a:spLocks noGrp="1"/>
          </p:cNvSpPr>
          <p:nvPr>
            <p:ph type="ftr" sz="quarter" idx="11"/>
          </p:nvPr>
        </p:nvSpPr>
        <p:spPr/>
        <p:txBody>
          <a:bodyPr/>
          <a:lstStyle/>
          <a:p>
            <a:r>
              <a:rPr lang="en-US" altLang="zh-CN"/>
              <a:t>www.islide.cc</a:t>
            </a:r>
            <a:endParaRPr lang="zh-CN" altLang="en-US" dirty="0"/>
          </a:p>
        </p:txBody>
      </p:sp>
      <p:sp>
        <p:nvSpPr>
          <p:cNvPr id="4" name="灯片编号占位符 3">
            <a:extLst>
              <a:ext uri="{FF2B5EF4-FFF2-40B4-BE49-F238E27FC236}">
                <a16:creationId xmlns:a16="http://schemas.microsoft.com/office/drawing/2014/main" id="{1A59EAE3-D27C-A44B-811E-005F5BBB32D7}"/>
              </a:ext>
            </a:extLst>
          </p:cNvPr>
          <p:cNvSpPr>
            <a:spLocks noGrp="1"/>
          </p:cNvSpPr>
          <p:nvPr>
            <p:ph type="sldNum" sz="quarter" idx="12"/>
          </p:nvPr>
        </p:nvSpPr>
        <p:spPr/>
        <p:txBody>
          <a:bodyPr/>
          <a:lstStyle/>
          <a:p>
            <a:fld id="{5DD3DB80-B894-403A-B48E-6FDC1A72010E}" type="slidenum">
              <a:rPr lang="zh-CN" altLang="en-US" smtClean="0"/>
              <a:t>12</a:t>
            </a:fld>
            <a:endParaRPr lang="zh-CN" altLang="en-US"/>
          </a:p>
        </p:txBody>
      </p:sp>
      <p:pic>
        <p:nvPicPr>
          <p:cNvPr id="6" name="图片 5">
            <a:extLst>
              <a:ext uri="{FF2B5EF4-FFF2-40B4-BE49-F238E27FC236}">
                <a16:creationId xmlns:a16="http://schemas.microsoft.com/office/drawing/2014/main" id="{CB536213-CA0A-850B-9F39-DC325602B170}"/>
              </a:ext>
            </a:extLst>
          </p:cNvPr>
          <p:cNvPicPr>
            <a:picLocks noChangeAspect="1"/>
          </p:cNvPicPr>
          <p:nvPr/>
        </p:nvPicPr>
        <p:blipFill rotWithShape="1">
          <a:blip r:embed="rId2">
            <a:extLst>
              <a:ext uri="{28A0092B-C50C-407E-A947-70E740481C1C}">
                <a14:useLocalDpi xmlns:a14="http://schemas.microsoft.com/office/drawing/2010/main" val="0"/>
              </a:ext>
            </a:extLst>
          </a:blip>
          <a:srcRect t="12791" b="53387"/>
          <a:stretch/>
        </p:blipFill>
        <p:spPr>
          <a:xfrm>
            <a:off x="2303191" y="270846"/>
            <a:ext cx="8935213" cy="2319454"/>
          </a:xfrm>
          <a:prstGeom prst="rect">
            <a:avLst/>
          </a:prstGeom>
        </p:spPr>
      </p:pic>
      <p:sp>
        <p:nvSpPr>
          <p:cNvPr id="9" name="文本框 8">
            <a:extLst>
              <a:ext uri="{FF2B5EF4-FFF2-40B4-BE49-F238E27FC236}">
                <a16:creationId xmlns:a16="http://schemas.microsoft.com/office/drawing/2014/main" id="{FDA471DB-02F2-71ED-3EBA-38F62999D618}"/>
              </a:ext>
            </a:extLst>
          </p:cNvPr>
          <p:cNvSpPr txBox="1"/>
          <p:nvPr/>
        </p:nvSpPr>
        <p:spPr>
          <a:xfrm>
            <a:off x="4282069" y="3100643"/>
            <a:ext cx="6175917" cy="2215991"/>
          </a:xfrm>
          <a:prstGeom prst="rect">
            <a:avLst/>
          </a:prstGeom>
          <a:noFill/>
        </p:spPr>
        <p:txBody>
          <a:bodyPr wrap="square">
            <a:spAutoFit/>
          </a:bodyPr>
          <a:lstStyle/>
          <a:p>
            <a:r>
              <a:rPr lang="en-US" altLang="zh-CN" sz="1200" dirty="0"/>
              <a:t>"step_2_clinical_treatment_decision": {</a:t>
            </a:r>
          </a:p>
          <a:p>
            <a:r>
              <a:rPr lang="en-US" altLang="zh-CN" b="1" dirty="0"/>
              <a:t>OUTPUT</a:t>
            </a:r>
          </a:p>
          <a:p>
            <a:r>
              <a:rPr lang="en-US" altLang="zh-CN" sz="1200" dirty="0"/>
              <a:t>        "</a:t>
            </a:r>
            <a:r>
              <a:rPr lang="en-US" altLang="zh-CN" sz="1200" dirty="0" err="1"/>
              <a:t>guideline_reasoning_chain</a:t>
            </a:r>
            <a:r>
              <a:rPr lang="en-US" altLang="zh-CN" sz="1200" dirty="0"/>
              <a:t>": " “【</a:t>
            </a:r>
            <a:r>
              <a:rPr lang="zh-CN" altLang="en-US" sz="1200" dirty="0"/>
              <a:t>模型生成</a:t>
            </a:r>
            <a:r>
              <a:rPr lang="en-US" altLang="zh-CN" sz="1200" dirty="0"/>
              <a:t>】</a:t>
            </a:r>
            <a:r>
              <a:rPr lang="zh-CN" altLang="en-US" sz="1200" dirty="0"/>
              <a:t>：患者为下咽癌，临床分期 </a:t>
            </a:r>
            <a:r>
              <a:rPr lang="en-US" altLang="zh-CN" sz="1200" dirty="0"/>
              <a:t>cT3 cN2b</a:t>
            </a:r>
            <a:r>
              <a:rPr lang="zh-CN" altLang="en-US" sz="1200" dirty="0"/>
              <a:t>。根据 </a:t>
            </a:r>
            <a:r>
              <a:rPr lang="en-US" altLang="zh-CN" sz="1200" dirty="0"/>
              <a:t>NCCN </a:t>
            </a:r>
            <a:r>
              <a:rPr lang="zh-CN" altLang="en-US" sz="1200" dirty="0"/>
              <a:t>指南，对应 </a:t>
            </a:r>
            <a:r>
              <a:rPr lang="en-US" altLang="zh-CN" sz="1200" dirty="0"/>
              <a:t>HYPO-5 </a:t>
            </a:r>
            <a:r>
              <a:rPr lang="zh-CN" altLang="en-US" sz="1200" dirty="0"/>
              <a:t>决策路径。</a:t>
            </a:r>
            <a:r>
              <a:rPr lang="en-US" altLang="zh-CN" sz="1200" dirty="0"/>
              <a:t>",</a:t>
            </a:r>
          </a:p>
          <a:p>
            <a:r>
              <a:rPr lang="en-US" altLang="zh-CN" sz="1200" dirty="0"/>
              <a:t>        "</a:t>
            </a:r>
            <a:r>
              <a:rPr lang="en-US" altLang="zh-CN" sz="1200" dirty="0" err="1"/>
              <a:t>recommended_primary_treatment</a:t>
            </a:r>
            <a:r>
              <a:rPr lang="en-US" altLang="zh-CN" sz="1200" dirty="0"/>
              <a:t>": " “【</a:t>
            </a:r>
            <a:r>
              <a:rPr lang="zh-CN" altLang="en-US" sz="1200" dirty="0"/>
              <a:t>模型生成</a:t>
            </a:r>
            <a:r>
              <a:rPr lang="en-US" altLang="zh-CN" sz="1200" dirty="0"/>
              <a:t>】</a:t>
            </a:r>
            <a:r>
              <a:rPr lang="zh-CN" altLang="en-US" sz="1200" dirty="0"/>
              <a:t>：放疗或同步全身治疗</a:t>
            </a:r>
            <a:r>
              <a:rPr lang="en-US" altLang="zh-CN" sz="1200" dirty="0"/>
              <a:t>/</a:t>
            </a:r>
            <a:r>
              <a:rPr lang="zh-CN" altLang="en-US" sz="1200" dirty="0"/>
              <a:t>放疗；部分或全喉下咽切除术 </a:t>
            </a:r>
            <a:r>
              <a:rPr lang="en-US" altLang="zh-CN" sz="1200" dirty="0"/>
              <a:t>+ </a:t>
            </a:r>
            <a:r>
              <a:rPr lang="zh-CN" altLang="en-US" sz="1200" dirty="0"/>
              <a:t>同侧或双侧颈清扫术 </a:t>
            </a:r>
            <a:r>
              <a:rPr lang="en-US" altLang="zh-CN" sz="1200" dirty="0"/>
              <a:t>± </a:t>
            </a:r>
            <a:r>
              <a:rPr lang="zh-CN" altLang="en-US" sz="1200" dirty="0"/>
              <a:t>甲状腺切除术，以及气管前和同侧气管旁淋巴结清扫；诱导化疗；临床试验</a:t>
            </a:r>
            <a:r>
              <a:rPr lang="en-US" altLang="zh-CN" sz="1200" dirty="0"/>
              <a:t>",</a:t>
            </a:r>
          </a:p>
          <a:p>
            <a:r>
              <a:rPr lang="en-US" altLang="zh-CN" sz="1200" dirty="0"/>
              <a:t>        "</a:t>
            </a:r>
            <a:r>
              <a:rPr lang="en-US" altLang="zh-CN" sz="1200" dirty="0" err="1"/>
              <a:t>clinical_treatment_decision_evidence</a:t>
            </a:r>
            <a:r>
              <a:rPr lang="en-US" altLang="zh-CN" sz="1200" dirty="0"/>
              <a:t>": " “【</a:t>
            </a:r>
            <a:r>
              <a:rPr lang="zh-CN" altLang="en-US" sz="1200" dirty="0"/>
              <a:t>模型生成</a:t>
            </a:r>
            <a:r>
              <a:rPr lang="en-US" altLang="zh-CN" sz="1200" dirty="0"/>
              <a:t>】</a:t>
            </a:r>
            <a:r>
              <a:rPr lang="zh-CN" altLang="en-US" sz="1200" dirty="0"/>
              <a:t>：根据下咽癌局部晚期（</a:t>
            </a:r>
            <a:r>
              <a:rPr lang="en-US" altLang="zh-CN" sz="1200" dirty="0"/>
              <a:t>cT3 cN2b</a:t>
            </a:r>
            <a:r>
              <a:rPr lang="zh-CN" altLang="en-US" sz="1200" dirty="0"/>
              <a:t>）的临床分期 ，临床指南推荐采用保留器官的综合方案或进行根治性手术切除及淋巴结清扫 。</a:t>
            </a:r>
            <a:r>
              <a:rPr lang="en-US" altLang="zh-CN" sz="1200" dirty="0"/>
              <a:t>"</a:t>
            </a:r>
          </a:p>
          <a:p>
            <a:r>
              <a:rPr lang="en-US" altLang="zh-CN" sz="1200" dirty="0"/>
              <a:t>    },</a:t>
            </a:r>
            <a:endParaRPr lang="zh-CN" altLang="en-US" sz="1200" dirty="0"/>
          </a:p>
        </p:txBody>
      </p:sp>
      <p:pic>
        <p:nvPicPr>
          <p:cNvPr id="7" name="图片 6">
            <a:extLst>
              <a:ext uri="{FF2B5EF4-FFF2-40B4-BE49-F238E27FC236}">
                <a16:creationId xmlns:a16="http://schemas.microsoft.com/office/drawing/2014/main" id="{1203305B-9FA6-A9D1-1A57-DDB40306D2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595" y="2474854"/>
            <a:ext cx="3186649" cy="4383146"/>
          </a:xfrm>
          <a:prstGeom prst="rect">
            <a:avLst/>
          </a:prstGeom>
        </p:spPr>
      </p:pic>
      <p:sp>
        <p:nvSpPr>
          <p:cNvPr id="8" name="文本框 7">
            <a:extLst>
              <a:ext uri="{FF2B5EF4-FFF2-40B4-BE49-F238E27FC236}">
                <a16:creationId xmlns:a16="http://schemas.microsoft.com/office/drawing/2014/main" id="{2FB06CDB-23BC-8ED9-302B-56F931FCF822}"/>
              </a:ext>
            </a:extLst>
          </p:cNvPr>
          <p:cNvSpPr txBox="1"/>
          <p:nvPr/>
        </p:nvSpPr>
        <p:spPr>
          <a:xfrm>
            <a:off x="4810125" y="5144429"/>
            <a:ext cx="6177543" cy="1477328"/>
          </a:xfrm>
          <a:prstGeom prst="rect">
            <a:avLst/>
          </a:prstGeom>
          <a:noFill/>
        </p:spPr>
        <p:txBody>
          <a:bodyPr wrap="square" rtlCol="0">
            <a:spAutoFit/>
          </a:bodyPr>
          <a:lstStyle/>
          <a:p>
            <a:r>
              <a:rPr lang="en-US" altLang="zh-CN" dirty="0"/>
              <a:t>Task1:</a:t>
            </a:r>
            <a:r>
              <a:rPr lang="zh-CN" altLang="en-US" dirty="0"/>
              <a:t>当前属于哪个诊疗阶段 </a:t>
            </a:r>
            <a:endParaRPr lang="en-US" altLang="zh-CN" dirty="0"/>
          </a:p>
          <a:p>
            <a:r>
              <a:rPr lang="en-US" altLang="zh-CN" dirty="0"/>
              <a:t>Task3:</a:t>
            </a:r>
            <a:r>
              <a:rPr lang="zh-CN" altLang="en-US" dirty="0"/>
              <a:t>模型需要根据</a:t>
            </a:r>
            <a:r>
              <a:rPr lang="en-US" altLang="zh-CN" dirty="0" err="1"/>
              <a:t>nccn</a:t>
            </a:r>
            <a:r>
              <a:rPr lang="zh-CN" altLang="en-US" dirty="0"/>
              <a:t>指南要求与</a:t>
            </a:r>
            <a:r>
              <a:rPr lang="en-US" altLang="zh-CN" dirty="0"/>
              <a:t>step_1</a:t>
            </a:r>
            <a:r>
              <a:rPr lang="zh-CN" altLang="en-US" dirty="0"/>
              <a:t>基本信息给出准确的治疗路径、治疗内容。同时给出推理及其依据。</a:t>
            </a:r>
            <a:endParaRPr lang="en-US" altLang="zh-CN" dirty="0"/>
          </a:p>
          <a:p>
            <a:r>
              <a:rPr lang="en-US" altLang="zh-CN" dirty="0"/>
              <a:t>Task4</a:t>
            </a:r>
            <a:r>
              <a:rPr lang="zh-CN" altLang="en-US" dirty="0"/>
              <a:t>：模型需说明给出的方案是否为指南明确指出的哪一类推荐等级</a:t>
            </a:r>
          </a:p>
        </p:txBody>
      </p:sp>
      <p:pic>
        <p:nvPicPr>
          <p:cNvPr id="10" name="图片 9" descr="C:\Users\xin\Desktop\中科大.png中科大">
            <a:extLst>
              <a:ext uri="{FF2B5EF4-FFF2-40B4-BE49-F238E27FC236}">
                <a16:creationId xmlns:a16="http://schemas.microsoft.com/office/drawing/2014/main" id="{0AEE59C1-80CA-2258-C551-A5B63B8B6EF8}"/>
              </a:ext>
            </a:extLst>
          </p:cNvPr>
          <p:cNvPicPr>
            <a:picLocks noChangeAspect="1"/>
          </p:cNvPicPr>
          <p:nvPr/>
        </p:nvPicPr>
        <p:blipFill>
          <a:blip r:embed="rId4"/>
          <a:srcRect/>
          <a:stretch>
            <a:fillRect/>
          </a:stretch>
        </p:blipFill>
        <p:spPr>
          <a:xfrm>
            <a:off x="11081067" y="270846"/>
            <a:ext cx="878840" cy="879475"/>
          </a:xfrm>
          <a:prstGeom prst="rect">
            <a:avLst/>
          </a:prstGeom>
        </p:spPr>
      </p:pic>
    </p:spTree>
    <p:extLst>
      <p:ext uri="{BB962C8B-B14F-4D97-AF65-F5344CB8AC3E}">
        <p14:creationId xmlns:p14="http://schemas.microsoft.com/office/powerpoint/2010/main" val="2579346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A0996-AFB1-CBA9-CCEC-C23814EEBDBD}"/>
              </a:ext>
            </a:extLst>
          </p:cNvPr>
          <p:cNvSpPr>
            <a:spLocks noGrp="1"/>
          </p:cNvSpPr>
          <p:nvPr>
            <p:ph type="title"/>
          </p:nvPr>
        </p:nvSpPr>
        <p:spPr>
          <a:xfrm>
            <a:off x="0" y="0"/>
            <a:ext cx="4282069" cy="1028699"/>
          </a:xfrm>
        </p:spPr>
        <p:txBody>
          <a:bodyPr>
            <a:normAutofit/>
          </a:bodyPr>
          <a:lstStyle/>
          <a:p>
            <a:r>
              <a:rPr lang="en-US" altLang="zh-CN" dirty="0"/>
              <a:t>step_3_surgery_report_extraction</a:t>
            </a:r>
            <a:endParaRPr lang="zh-CN" altLang="en-US" dirty="0"/>
          </a:p>
        </p:txBody>
      </p:sp>
      <p:sp>
        <p:nvSpPr>
          <p:cNvPr id="3" name="页脚占位符 2">
            <a:extLst>
              <a:ext uri="{FF2B5EF4-FFF2-40B4-BE49-F238E27FC236}">
                <a16:creationId xmlns:a16="http://schemas.microsoft.com/office/drawing/2014/main" id="{F8F512AE-6882-B7E0-1D79-17720FEF2FF0}"/>
              </a:ext>
            </a:extLst>
          </p:cNvPr>
          <p:cNvSpPr>
            <a:spLocks noGrp="1"/>
          </p:cNvSpPr>
          <p:nvPr>
            <p:ph type="ftr" sz="quarter" idx="11"/>
          </p:nvPr>
        </p:nvSpPr>
        <p:spPr/>
        <p:txBody>
          <a:bodyPr/>
          <a:lstStyle/>
          <a:p>
            <a:r>
              <a:rPr lang="en-US" altLang="zh-CN"/>
              <a:t>www.islide.cc</a:t>
            </a:r>
            <a:endParaRPr lang="zh-CN" altLang="en-US" dirty="0"/>
          </a:p>
        </p:txBody>
      </p:sp>
      <p:sp>
        <p:nvSpPr>
          <p:cNvPr id="4" name="灯片编号占位符 3">
            <a:extLst>
              <a:ext uri="{FF2B5EF4-FFF2-40B4-BE49-F238E27FC236}">
                <a16:creationId xmlns:a16="http://schemas.microsoft.com/office/drawing/2014/main" id="{1A59EAE3-D27C-A44B-811E-005F5BBB32D7}"/>
              </a:ext>
            </a:extLst>
          </p:cNvPr>
          <p:cNvSpPr>
            <a:spLocks noGrp="1"/>
          </p:cNvSpPr>
          <p:nvPr>
            <p:ph type="sldNum" sz="quarter" idx="12"/>
          </p:nvPr>
        </p:nvSpPr>
        <p:spPr/>
        <p:txBody>
          <a:bodyPr/>
          <a:lstStyle/>
          <a:p>
            <a:fld id="{5DD3DB80-B894-403A-B48E-6FDC1A72010E}" type="slidenum">
              <a:rPr lang="zh-CN" altLang="en-US" smtClean="0"/>
              <a:t>13</a:t>
            </a:fld>
            <a:endParaRPr lang="zh-CN" altLang="en-US"/>
          </a:p>
        </p:txBody>
      </p:sp>
      <p:sp>
        <p:nvSpPr>
          <p:cNvPr id="9" name="文本框 8">
            <a:extLst>
              <a:ext uri="{FF2B5EF4-FFF2-40B4-BE49-F238E27FC236}">
                <a16:creationId xmlns:a16="http://schemas.microsoft.com/office/drawing/2014/main" id="{FDA471DB-02F2-71ED-3EBA-38F62999D618}"/>
              </a:ext>
            </a:extLst>
          </p:cNvPr>
          <p:cNvSpPr txBox="1"/>
          <p:nvPr/>
        </p:nvSpPr>
        <p:spPr>
          <a:xfrm>
            <a:off x="4709632" y="-51395"/>
            <a:ext cx="7370026" cy="5632311"/>
          </a:xfrm>
          <a:prstGeom prst="rect">
            <a:avLst/>
          </a:prstGeom>
          <a:noFill/>
        </p:spPr>
        <p:txBody>
          <a:bodyPr wrap="square">
            <a:spAutoFit/>
          </a:bodyPr>
          <a:lstStyle/>
          <a:p>
            <a:r>
              <a:rPr lang="en-US" altLang="zh-CN" sz="1200" dirty="0"/>
              <a:t>"step_3_surgery_report_extraction": {</a:t>
            </a:r>
          </a:p>
          <a:p>
            <a:r>
              <a:rPr lang="en-US" altLang="zh-CN" b="1" dirty="0"/>
              <a:t>INTPUT</a:t>
            </a:r>
          </a:p>
          <a:p>
            <a:r>
              <a:rPr lang="en-US" altLang="zh-CN" sz="1200" dirty="0"/>
              <a:t>        "</a:t>
            </a:r>
            <a:r>
              <a:rPr lang="en-US" altLang="zh-CN" sz="1200" dirty="0" err="1"/>
              <a:t>number_of_positive_lymph_nodes</a:t>
            </a:r>
            <a:r>
              <a:rPr lang="en-US" altLang="zh-CN" sz="1200" dirty="0"/>
              <a:t>": "3 ",</a:t>
            </a:r>
          </a:p>
          <a:p>
            <a:r>
              <a:rPr lang="en-US" altLang="zh-CN" sz="1200" dirty="0"/>
              <a:t>        "</a:t>
            </a:r>
            <a:r>
              <a:rPr lang="en-US" altLang="zh-CN" sz="1200" dirty="0" err="1"/>
              <a:t>number_of_resected_lymph_nodes</a:t>
            </a:r>
            <a:r>
              <a:rPr lang="en-US" altLang="zh-CN" sz="1200" dirty="0"/>
              <a:t>": "61",</a:t>
            </a:r>
          </a:p>
          <a:p>
            <a:r>
              <a:rPr lang="en-US" altLang="zh-CN" sz="1200" dirty="0"/>
              <a:t>        "</a:t>
            </a:r>
            <a:r>
              <a:rPr lang="en-US" altLang="zh-CN" sz="1200" dirty="0" err="1"/>
              <a:t>tests_and_treatments</a:t>
            </a:r>
            <a:r>
              <a:rPr lang="en-US" altLang="zh-CN" sz="1200" dirty="0"/>
              <a:t>": "5-303.2x, 5-403.04 B, 5-312.2, 1-610.0, 1-611.x, 1-631.0",</a:t>
            </a:r>
          </a:p>
          <a:p>
            <a:r>
              <a:rPr lang="en-US" altLang="zh-CN" sz="1200" dirty="0"/>
              <a:t>        "</a:t>
            </a:r>
            <a:r>
              <a:rPr lang="en-US" altLang="zh-CN" sz="1200" dirty="0" err="1"/>
              <a:t>medical_history</a:t>
            </a:r>
            <a:r>
              <a:rPr lang="en-US" altLang="zh-CN" sz="1200" dirty="0"/>
              <a:t>": "</a:t>
            </a:r>
            <a:r>
              <a:rPr lang="zh-CN" altLang="en-US" sz="1200" dirty="0"/>
              <a:t>该患者于</a:t>
            </a:r>
            <a:r>
              <a:rPr lang="en-US" altLang="zh-CN" sz="1200" dirty="0"/>
              <a:t>2015</a:t>
            </a:r>
            <a:r>
              <a:rPr lang="zh-CN" altLang="en-US" sz="1200" dirty="0"/>
              <a:t>年经组织学检查确诊为右侧下咽喉癌，</a:t>
            </a:r>
            <a:r>
              <a:rPr lang="en-US" altLang="zh-CN" sz="1200" dirty="0"/>
              <a:t>G3</a:t>
            </a:r>
            <a:r>
              <a:rPr lang="zh-CN" altLang="en-US" sz="1200" dirty="0"/>
              <a:t>分化。此外，双侧甲状腺肿大，淋巴结均大于</a:t>
            </a:r>
            <a:r>
              <a:rPr lang="en-US" altLang="zh-CN" sz="1200" dirty="0"/>
              <a:t>2 cm</a:t>
            </a:r>
            <a:r>
              <a:rPr lang="zh-CN" altLang="en-US" sz="1200" dirty="0"/>
              <a:t>。术前已与患者详细讨论了所有常见的治疗方案（手术或以放化疗为主）。目前已确定患者适合行手术治疗，包括喉切除术、部分咽切除术、双侧颈部淋巴结清扫术及甲状腺半切除术。术前，患者有充足的时间询问有关手术的问题</a:t>
            </a:r>
            <a:r>
              <a:rPr lang="en-US" altLang="zh-CN" sz="1200" dirty="0"/>
              <a:t>",</a:t>
            </a:r>
          </a:p>
          <a:p>
            <a:r>
              <a:rPr lang="en-US" altLang="zh-CN" sz="1200" dirty="0"/>
              <a:t>        "</a:t>
            </a:r>
            <a:r>
              <a:rPr lang="en-US" altLang="zh-CN" sz="1200" dirty="0" err="1"/>
              <a:t>surgery_report</a:t>
            </a:r>
            <a:r>
              <a:rPr lang="en-US" altLang="zh-CN" sz="1200" dirty="0"/>
              <a:t>": "</a:t>
            </a:r>
            <a:r>
              <a:rPr lang="zh-CN" altLang="en-US" sz="1200" dirty="0"/>
              <a:t>实施了喉全切除术伴部分咽切除、双侧颈淋巴结清扫和左侧半甲状腺切除术。术中见右侧梨状窝肿瘤扩展至咽部。在 </a:t>
            </a:r>
            <a:r>
              <a:rPr lang="en-US" altLang="zh-CN" sz="1200" dirty="0"/>
              <a:t>II </a:t>
            </a:r>
            <a:r>
              <a:rPr lang="zh-CN" altLang="en-US" sz="1200" dirty="0"/>
              <a:t>区和 </a:t>
            </a:r>
            <a:r>
              <a:rPr lang="en-US" altLang="zh-CN" sz="1200" dirty="0"/>
              <a:t>III </a:t>
            </a:r>
            <a:r>
              <a:rPr lang="zh-CN" altLang="en-US" sz="1200" dirty="0"/>
              <a:t>区至 </a:t>
            </a:r>
            <a:r>
              <a:rPr lang="en-US" altLang="zh-CN" sz="1200" dirty="0"/>
              <a:t>IV </a:t>
            </a:r>
            <a:r>
              <a:rPr lang="zh-CN" altLang="en-US" sz="1200" dirty="0"/>
              <a:t>区可见广泛的转移性淋巴结融合成团，与周围组织紧密粘连，并到达迷走神经。冰冻切片显示切缘无肿瘤。</a:t>
            </a:r>
            <a:r>
              <a:rPr lang="en-US" altLang="zh-CN" sz="1200" dirty="0"/>
              <a:t>",</a:t>
            </a:r>
          </a:p>
          <a:p>
            <a:r>
              <a:rPr lang="en-US" altLang="zh-CN" sz="1200" dirty="0"/>
              <a:t>        "</a:t>
            </a:r>
            <a:r>
              <a:rPr lang="en-US" altLang="zh-CN" sz="1200" dirty="0" err="1"/>
              <a:t>results_of_laboratory_tests</a:t>
            </a:r>
            <a:r>
              <a:rPr lang="en-US" altLang="zh-CN" sz="1200" dirty="0"/>
              <a:t>": "</a:t>
            </a:r>
            <a:r>
              <a:rPr lang="zh-CN" altLang="en-US" sz="1200" dirty="0"/>
              <a:t>包含 </a:t>
            </a:r>
            <a:r>
              <a:rPr lang="en-US" altLang="zh-CN" sz="1200" dirty="0"/>
              <a:t>aPPT 25.6s, </a:t>
            </a:r>
            <a:r>
              <a:rPr lang="zh-CN" altLang="en-US" sz="1200" dirty="0"/>
              <a:t>白细胞 </a:t>
            </a:r>
            <a:r>
              <a:rPr lang="en-US" altLang="zh-CN" sz="1200" dirty="0"/>
              <a:t>6.75x10^3/µl, </a:t>
            </a:r>
            <a:r>
              <a:rPr lang="zh-CN" altLang="en-US" sz="1200" dirty="0"/>
              <a:t>血红蛋白 </a:t>
            </a:r>
            <a:r>
              <a:rPr lang="en-US" altLang="zh-CN" sz="1200" dirty="0"/>
              <a:t>15.4 g/dl, </a:t>
            </a:r>
            <a:r>
              <a:rPr lang="zh-CN" altLang="en-US" sz="1200" dirty="0"/>
              <a:t>钾 </a:t>
            </a:r>
            <a:r>
              <a:rPr lang="en-US" altLang="zh-CN" sz="1200" dirty="0"/>
              <a:t>4.3 mmol/l </a:t>
            </a:r>
            <a:r>
              <a:rPr lang="zh-CN" altLang="en-US" sz="1200" dirty="0"/>
              <a:t>等常规手术期血液检测结果 </a:t>
            </a:r>
            <a:r>
              <a:rPr lang="en-US" altLang="zh-CN" sz="1200" dirty="0"/>
              <a:t>[cite: 392]</a:t>
            </a:r>
            <a:r>
              <a:rPr lang="zh-CN" altLang="en-US" sz="1200" dirty="0"/>
              <a:t>。</a:t>
            </a:r>
            <a:r>
              <a:rPr lang="en-US" altLang="zh-CN" sz="1200" dirty="0"/>
              <a:t>",</a:t>
            </a:r>
          </a:p>
          <a:p>
            <a:r>
              <a:rPr lang="en-US" altLang="zh-CN" b="1" dirty="0"/>
              <a:t>OUTPUT</a:t>
            </a:r>
          </a:p>
          <a:p>
            <a:r>
              <a:rPr lang="en-US" altLang="zh-CN" sz="1200" dirty="0"/>
              <a:t>        "</a:t>
            </a:r>
            <a:r>
              <a:rPr lang="en-US" altLang="zh-CN" sz="1200" dirty="0" err="1"/>
              <a:t>preliminary_pT_stage</a:t>
            </a:r>
            <a:r>
              <a:rPr lang="en-US" altLang="zh-CN" sz="1200" dirty="0"/>
              <a:t>": "</a:t>
            </a:r>
            <a:r>
              <a:rPr lang="zh-CN" altLang="en-US" sz="1200" dirty="0"/>
              <a:t>至少 </a:t>
            </a:r>
            <a:r>
              <a:rPr lang="en-US" altLang="zh-CN" sz="1200" dirty="0"/>
              <a:t>pT3 </a:t>
            </a:r>
            <a:r>
              <a:rPr lang="zh-CN" altLang="en-US" sz="1200" dirty="0"/>
              <a:t>或 </a:t>
            </a:r>
            <a:r>
              <a:rPr lang="en-US" altLang="zh-CN" sz="1200" dirty="0"/>
              <a:t>pT4a",</a:t>
            </a:r>
          </a:p>
          <a:p>
            <a:r>
              <a:rPr lang="en-US" altLang="zh-CN" sz="1200" dirty="0"/>
              <a:t>        "</a:t>
            </a:r>
            <a:r>
              <a:rPr lang="en-US" altLang="zh-CN" sz="1200" dirty="0" err="1"/>
              <a:t>preliminary_pT_stage_evidence</a:t>
            </a:r>
            <a:r>
              <a:rPr lang="en-US" altLang="zh-CN" sz="1200" dirty="0"/>
              <a:t>": "</a:t>
            </a:r>
            <a:r>
              <a:rPr lang="zh-CN" altLang="en-US" sz="1200" dirty="0"/>
              <a:t>手术切除了整个喉部和右侧梨状窝 ，且需进行部分咽切除，提示肿瘤范围广泛，深度浸润，至少达到 </a:t>
            </a:r>
            <a:r>
              <a:rPr lang="en-US" altLang="zh-CN" sz="1200" dirty="0"/>
              <a:t>pT3</a:t>
            </a:r>
            <a:r>
              <a:rPr lang="zh-CN" altLang="en-US" sz="1200" dirty="0"/>
              <a:t>，可能侵及周围组织达到 </a:t>
            </a:r>
            <a:r>
              <a:rPr lang="en-US" altLang="zh-CN" sz="1200" dirty="0"/>
              <a:t>pT4a</a:t>
            </a:r>
            <a:r>
              <a:rPr lang="zh-CN" altLang="en-US" sz="1200" dirty="0"/>
              <a:t>。</a:t>
            </a:r>
            <a:r>
              <a:rPr lang="en-US" altLang="zh-CN" sz="1200" dirty="0"/>
              <a:t>",</a:t>
            </a:r>
          </a:p>
          <a:p>
            <a:r>
              <a:rPr lang="en-US" altLang="zh-CN" sz="1200" dirty="0"/>
              <a:t>        "</a:t>
            </a:r>
            <a:r>
              <a:rPr lang="en-US" altLang="zh-CN" sz="1200" dirty="0" err="1"/>
              <a:t>preliminary_pN_stage</a:t>
            </a:r>
            <a:r>
              <a:rPr lang="en-US" altLang="zh-CN" sz="1200" dirty="0"/>
              <a:t>": "</a:t>
            </a:r>
            <a:r>
              <a:rPr lang="zh-CN" altLang="en-US" sz="1200" dirty="0"/>
              <a:t>至少 </a:t>
            </a:r>
            <a:r>
              <a:rPr lang="en-US" altLang="zh-CN" sz="1200" dirty="0"/>
              <a:t>pN2",</a:t>
            </a:r>
          </a:p>
          <a:p>
            <a:r>
              <a:rPr lang="en-US" altLang="zh-CN" sz="1200" dirty="0"/>
              <a:t>        "</a:t>
            </a:r>
            <a:r>
              <a:rPr lang="en-US" altLang="zh-CN" sz="1200" dirty="0" err="1"/>
              <a:t>preliminary_pN_stage_evidence</a:t>
            </a:r>
            <a:r>
              <a:rPr lang="en-US" altLang="zh-CN" sz="1200" dirty="0"/>
              <a:t>": "</a:t>
            </a:r>
            <a:r>
              <a:rPr lang="zh-CN" altLang="en-US" sz="1200" dirty="0"/>
              <a:t>手术记录明确描述了双侧颈淋巴结清扫 ，且术中发现 </a:t>
            </a:r>
            <a:r>
              <a:rPr lang="en-US" altLang="zh-CN" sz="1200" dirty="0"/>
              <a:t>II </a:t>
            </a:r>
            <a:r>
              <a:rPr lang="zh-CN" altLang="en-US" sz="1200" dirty="0"/>
              <a:t>到 </a:t>
            </a:r>
            <a:r>
              <a:rPr lang="en-US" altLang="zh-CN" sz="1200" dirty="0"/>
              <a:t>IV </a:t>
            </a:r>
            <a:r>
              <a:rPr lang="zh-CN" altLang="en-US" sz="1200" dirty="0"/>
              <a:t>区有广泛的转移性淋巴结融合成团并与静脉和神经紧密粘连，临床和肉眼高度提示多发</a:t>
            </a:r>
            <a:r>
              <a:rPr lang="en-US" altLang="zh-CN" sz="1200" dirty="0"/>
              <a:t>/</a:t>
            </a:r>
            <a:r>
              <a:rPr lang="zh-CN" altLang="en-US" sz="1200" dirty="0"/>
              <a:t>大体积转移。</a:t>
            </a:r>
            <a:r>
              <a:rPr lang="en-US" altLang="zh-CN" sz="1200" dirty="0"/>
              <a:t>",</a:t>
            </a:r>
          </a:p>
          <a:p>
            <a:r>
              <a:rPr lang="en-US" altLang="zh-CN" sz="1200" dirty="0"/>
              <a:t>        "</a:t>
            </a:r>
            <a:r>
              <a:rPr lang="en-US" altLang="zh-CN" sz="1200" dirty="0" err="1"/>
              <a:t>preliminary_resection_status</a:t>
            </a:r>
            <a:r>
              <a:rPr lang="en-US" altLang="zh-CN" sz="1200" dirty="0"/>
              <a:t>": "R0",</a:t>
            </a:r>
          </a:p>
          <a:p>
            <a:r>
              <a:rPr lang="en-US" altLang="zh-CN" sz="1200" dirty="0"/>
              <a:t>        "</a:t>
            </a:r>
            <a:r>
              <a:rPr lang="en-US" altLang="zh-CN" sz="1200" dirty="0" err="1"/>
              <a:t>preliminary_resection_status_evidence</a:t>
            </a:r>
            <a:r>
              <a:rPr lang="en-US" altLang="zh-CN" sz="1200" dirty="0"/>
              <a:t>": "</a:t>
            </a:r>
            <a:r>
              <a:rPr lang="zh-CN" altLang="en-US" sz="1200" dirty="0"/>
              <a:t>手术报告明确指出，术中冰冻切片显示切缘无肿瘤，初步判断为 </a:t>
            </a:r>
            <a:r>
              <a:rPr lang="en-US" altLang="zh-CN" sz="1200" dirty="0"/>
              <a:t>R0 </a:t>
            </a:r>
            <a:r>
              <a:rPr lang="zh-CN" altLang="en-US" sz="1200" dirty="0"/>
              <a:t>状态。</a:t>
            </a:r>
            <a:r>
              <a:rPr lang="en-US" altLang="zh-CN" sz="1200" dirty="0"/>
              <a:t>",</a:t>
            </a:r>
          </a:p>
          <a:p>
            <a:r>
              <a:rPr lang="en-US" altLang="zh-CN" sz="1200" dirty="0"/>
              <a:t>        "</a:t>
            </a:r>
            <a:r>
              <a:rPr lang="en-US" altLang="zh-CN" sz="1200" dirty="0" err="1"/>
              <a:t>preliminary_histologic_type</a:t>
            </a:r>
            <a:r>
              <a:rPr lang="en-US" altLang="zh-CN" sz="1200" dirty="0"/>
              <a:t>": "</a:t>
            </a:r>
            <a:r>
              <a:rPr lang="zh-CN" altLang="en-US" sz="1200" dirty="0"/>
              <a:t>鳞状细胞癌</a:t>
            </a:r>
            <a:r>
              <a:rPr lang="en-US" altLang="zh-CN" sz="1200" dirty="0"/>
              <a:t>",</a:t>
            </a:r>
          </a:p>
          <a:p>
            <a:r>
              <a:rPr lang="en-US" altLang="zh-CN" sz="1200" dirty="0"/>
              <a:t>        "</a:t>
            </a:r>
            <a:r>
              <a:rPr lang="en-US" altLang="zh-CN" sz="1200" dirty="0" err="1"/>
              <a:t>preliminary_histologic_type_evidence</a:t>
            </a:r>
            <a:r>
              <a:rPr lang="en-US" altLang="zh-CN" sz="1200" dirty="0"/>
              <a:t>": "</a:t>
            </a:r>
            <a:r>
              <a:rPr lang="zh-CN" altLang="en-US" sz="1200" dirty="0"/>
              <a:t>病史中提及患者确诊为 </a:t>
            </a:r>
            <a:r>
              <a:rPr lang="en-US" altLang="zh-CN" sz="1200" dirty="0"/>
              <a:t>G3 </a:t>
            </a:r>
            <a:r>
              <a:rPr lang="zh-CN" altLang="en-US" sz="1200" dirty="0"/>
              <a:t>分化的下咽癌，下咽部绝大多数为鳞状细胞癌。</a:t>
            </a:r>
            <a:r>
              <a:rPr lang="en-US" altLang="zh-CN" sz="1200" dirty="0"/>
              <a:t>"</a:t>
            </a:r>
          </a:p>
          <a:p>
            <a:r>
              <a:rPr lang="en-US" altLang="zh-CN" sz="1200" dirty="0"/>
              <a:t>    },</a:t>
            </a:r>
            <a:endParaRPr lang="zh-CN" altLang="en-US" sz="1200" dirty="0"/>
          </a:p>
        </p:txBody>
      </p:sp>
      <p:pic>
        <p:nvPicPr>
          <p:cNvPr id="7" name="图片 6">
            <a:extLst>
              <a:ext uri="{FF2B5EF4-FFF2-40B4-BE49-F238E27FC236}">
                <a16:creationId xmlns:a16="http://schemas.microsoft.com/office/drawing/2014/main" id="{1203305B-9FA6-A9D1-1A57-DDB40306D2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595" y="1189463"/>
            <a:ext cx="4121158" cy="5668537"/>
          </a:xfrm>
          <a:prstGeom prst="rect">
            <a:avLst/>
          </a:prstGeom>
        </p:spPr>
      </p:pic>
      <p:sp>
        <p:nvSpPr>
          <p:cNvPr id="8" name="文本框 7">
            <a:extLst>
              <a:ext uri="{FF2B5EF4-FFF2-40B4-BE49-F238E27FC236}">
                <a16:creationId xmlns:a16="http://schemas.microsoft.com/office/drawing/2014/main" id="{6F36B2C6-C606-942B-5E41-D56328BB5680}"/>
              </a:ext>
            </a:extLst>
          </p:cNvPr>
          <p:cNvSpPr txBox="1"/>
          <p:nvPr/>
        </p:nvSpPr>
        <p:spPr>
          <a:xfrm>
            <a:off x="5078458" y="5143324"/>
            <a:ext cx="7211566" cy="2031325"/>
          </a:xfrm>
          <a:prstGeom prst="rect">
            <a:avLst/>
          </a:prstGeom>
          <a:noFill/>
        </p:spPr>
        <p:txBody>
          <a:bodyPr wrap="square" rtlCol="0">
            <a:spAutoFit/>
          </a:bodyPr>
          <a:lstStyle/>
          <a:p>
            <a:r>
              <a:rPr lang="zh-CN" altLang="en-US" dirty="0"/>
              <a:t>给出患者诊断后的初步治疗手术信息</a:t>
            </a:r>
            <a:endParaRPr lang="en-US" altLang="zh-CN" dirty="0"/>
          </a:p>
          <a:p>
            <a:r>
              <a:rPr lang="en-US" altLang="zh-CN" dirty="0"/>
              <a:t>Task1:</a:t>
            </a:r>
            <a:r>
              <a:rPr lang="zh-CN" altLang="en-US" dirty="0"/>
              <a:t>当前属于哪个诊疗阶段 </a:t>
            </a:r>
            <a:endParaRPr lang="en-US" altLang="zh-CN" dirty="0"/>
          </a:p>
          <a:p>
            <a:r>
              <a:rPr lang="en-US" altLang="zh-CN" dirty="0"/>
              <a:t>Task2:</a:t>
            </a:r>
            <a:r>
              <a:rPr lang="zh-CN" altLang="en-US" dirty="0"/>
              <a:t>模型需要指出可以得出的病理特征信息，并提供相关的推理及依据</a:t>
            </a:r>
            <a:endParaRPr lang="en-US" altLang="zh-CN" dirty="0"/>
          </a:p>
          <a:p>
            <a:r>
              <a:rPr lang="en-US" altLang="zh-CN" dirty="0"/>
              <a:t>Task3</a:t>
            </a:r>
            <a:r>
              <a:rPr lang="zh-CN" altLang="en-US" dirty="0"/>
              <a:t>：模型说明下一步需要什么检测以提供证据</a:t>
            </a:r>
            <a:endParaRPr lang="en-US" altLang="zh-CN" dirty="0"/>
          </a:p>
          <a:p>
            <a:r>
              <a:rPr lang="en-US" altLang="zh-CN" dirty="0"/>
              <a:t>Task4</a:t>
            </a:r>
            <a:r>
              <a:rPr lang="zh-CN" altLang="en-US" dirty="0"/>
              <a:t>：模型需说明给出的方案是否为指南明确指出的哪一类推荐等级</a:t>
            </a:r>
          </a:p>
          <a:p>
            <a:endParaRPr lang="zh-CN" altLang="en-US" dirty="0"/>
          </a:p>
        </p:txBody>
      </p:sp>
      <p:pic>
        <p:nvPicPr>
          <p:cNvPr id="10" name="图片 9" descr="C:\Users\xin\Desktop\中科大.png中科大">
            <a:extLst>
              <a:ext uri="{FF2B5EF4-FFF2-40B4-BE49-F238E27FC236}">
                <a16:creationId xmlns:a16="http://schemas.microsoft.com/office/drawing/2014/main" id="{2CD122FE-D865-3DFE-6B30-CC835B2D5845}"/>
              </a:ext>
            </a:extLst>
          </p:cNvPr>
          <p:cNvPicPr>
            <a:picLocks noChangeAspect="1"/>
          </p:cNvPicPr>
          <p:nvPr/>
        </p:nvPicPr>
        <p:blipFill>
          <a:blip r:embed="rId3"/>
          <a:srcRect/>
          <a:stretch>
            <a:fillRect/>
          </a:stretch>
        </p:blipFill>
        <p:spPr>
          <a:xfrm>
            <a:off x="11081067" y="74611"/>
            <a:ext cx="878840" cy="879475"/>
          </a:xfrm>
          <a:prstGeom prst="rect">
            <a:avLst/>
          </a:prstGeom>
        </p:spPr>
      </p:pic>
    </p:spTree>
    <p:extLst>
      <p:ext uri="{BB962C8B-B14F-4D97-AF65-F5344CB8AC3E}">
        <p14:creationId xmlns:p14="http://schemas.microsoft.com/office/powerpoint/2010/main" val="2316525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多模态病理图像 </a:t>
            </a:r>
            <a:r>
              <a:rPr lang="en-US" altLang="zh-CN" dirty="0"/>
              <a:t>(WSI) </a:t>
            </a:r>
            <a:r>
              <a:rPr lang="zh-CN" altLang="en-US" dirty="0"/>
              <a:t>的引入与处理</a:t>
            </a:r>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t>14</a:t>
            </a:fld>
            <a:endParaRPr lang="zh-CN" altLang="en-US"/>
          </a:p>
        </p:txBody>
      </p:sp>
      <p:grpSp>
        <p:nvGrpSpPr>
          <p:cNvPr id="5" name="6bdf9583-8ae2-462c-8c75-8bdbdaf1d26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588" y="1282254"/>
            <a:ext cx="12188825" cy="5575746"/>
            <a:chOff x="3175" y="1282250"/>
            <a:chExt cx="12188825" cy="5575746"/>
          </a:xfrm>
        </p:grpSpPr>
        <p:cxnSp>
          <p:nvCxnSpPr>
            <p:cNvPr id="6" name="肘形连接符 5"/>
            <p:cNvCxnSpPr>
              <a:cxnSpLocks/>
              <a:stCxn id="28" idx="6"/>
              <a:endCxn id="23" idx="0"/>
            </p:cNvCxnSpPr>
            <p:nvPr/>
          </p:nvCxnSpPr>
          <p:spPr>
            <a:xfrm>
              <a:off x="6718300" y="1904548"/>
              <a:ext cx="3610846" cy="1269195"/>
            </a:xfrm>
            <a:prstGeom prst="bentConnector2">
              <a:avLst/>
            </a:prstGeom>
            <a:ln w="3175" cap="rnd">
              <a:solidFill>
                <a:schemeClr val="bg1">
                  <a:lumMod val="75000"/>
                </a:schemeClr>
              </a:solidFill>
              <a:round/>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7" name="肘形连接符 6"/>
            <p:cNvCxnSpPr>
              <a:cxnSpLocks/>
              <a:stCxn id="28" idx="2"/>
              <a:endCxn id="11" idx="0"/>
            </p:cNvCxnSpPr>
            <p:nvPr/>
          </p:nvCxnSpPr>
          <p:spPr>
            <a:xfrm rot="10800000" flipV="1">
              <a:off x="1862850" y="1904547"/>
              <a:ext cx="3610850" cy="1269195"/>
            </a:xfrm>
            <a:prstGeom prst="bentConnector2">
              <a:avLst/>
            </a:prstGeom>
            <a:ln w="3175" cap="rnd">
              <a:solidFill>
                <a:schemeClr val="bg1">
                  <a:lumMod val="75000"/>
                </a:schemeClr>
              </a:solidFill>
              <a:round/>
              <a:headEnd type="none"/>
              <a:tailEnd type="triangle" w="med" len="med"/>
            </a:ln>
          </p:spPr>
          <p:style>
            <a:lnRef idx="1">
              <a:schemeClr val="accent1"/>
            </a:lnRef>
            <a:fillRef idx="0">
              <a:schemeClr val="accent1"/>
            </a:fillRef>
            <a:effectRef idx="0">
              <a:schemeClr val="accent1"/>
            </a:effectRef>
            <a:fontRef idx="minor">
              <a:schemeClr val="tx1"/>
            </a:fontRef>
          </p:style>
        </p:cxnSp>
        <p:grpSp>
          <p:nvGrpSpPr>
            <p:cNvPr id="8" name="iṡlïḋe"/>
            <p:cNvGrpSpPr/>
            <p:nvPr/>
          </p:nvGrpSpPr>
          <p:grpSpPr>
            <a:xfrm>
              <a:off x="3175" y="3245920"/>
              <a:ext cx="12188825" cy="3612076"/>
              <a:chOff x="3175" y="2656396"/>
              <a:chExt cx="12188825" cy="4201604"/>
            </a:xfrm>
          </p:grpSpPr>
          <p:sp>
            <p:nvSpPr>
              <p:cNvPr id="30" name="ïṣļiḑe"/>
              <p:cNvSpPr/>
              <p:nvPr/>
            </p:nvSpPr>
            <p:spPr bwMode="auto">
              <a:xfrm>
                <a:off x="10164502" y="5375511"/>
                <a:ext cx="2027498" cy="1482489"/>
              </a:xfrm>
              <a:custGeom>
                <a:avLst/>
                <a:gdLst>
                  <a:gd name="T0" fmla="*/ 1230 w 1276"/>
                  <a:gd name="T1" fmla="*/ 748 h 933"/>
                  <a:gd name="T2" fmla="*/ 1221 w 1276"/>
                  <a:gd name="T3" fmla="*/ 748 h 933"/>
                  <a:gd name="T4" fmla="*/ 1206 w 1276"/>
                  <a:gd name="T5" fmla="*/ 748 h 933"/>
                  <a:gd name="T6" fmla="*/ 1211 w 1276"/>
                  <a:gd name="T7" fmla="*/ 216 h 933"/>
                  <a:gd name="T8" fmla="*/ 1218 w 1276"/>
                  <a:gd name="T9" fmla="*/ 216 h 933"/>
                  <a:gd name="T10" fmla="*/ 1221 w 1276"/>
                  <a:gd name="T11" fmla="*/ 214 h 933"/>
                  <a:gd name="T12" fmla="*/ 1218 w 1276"/>
                  <a:gd name="T13" fmla="*/ 185 h 933"/>
                  <a:gd name="T14" fmla="*/ 1206 w 1276"/>
                  <a:gd name="T15" fmla="*/ 182 h 933"/>
                  <a:gd name="T16" fmla="*/ 1192 w 1276"/>
                  <a:gd name="T17" fmla="*/ 180 h 933"/>
                  <a:gd name="T18" fmla="*/ 1182 w 1276"/>
                  <a:gd name="T19" fmla="*/ 0 h 933"/>
                  <a:gd name="T20" fmla="*/ 1172 w 1276"/>
                  <a:gd name="T21" fmla="*/ 180 h 933"/>
                  <a:gd name="T22" fmla="*/ 1158 w 1276"/>
                  <a:gd name="T23" fmla="*/ 180 h 933"/>
                  <a:gd name="T24" fmla="*/ 1143 w 1276"/>
                  <a:gd name="T25" fmla="*/ 182 h 933"/>
                  <a:gd name="T26" fmla="*/ 1141 w 1276"/>
                  <a:gd name="T27" fmla="*/ 212 h 933"/>
                  <a:gd name="T28" fmla="*/ 1143 w 1276"/>
                  <a:gd name="T29" fmla="*/ 214 h 933"/>
                  <a:gd name="T30" fmla="*/ 1151 w 1276"/>
                  <a:gd name="T31" fmla="*/ 214 h 933"/>
                  <a:gd name="T32" fmla="*/ 1071 w 1276"/>
                  <a:gd name="T33" fmla="*/ 659 h 933"/>
                  <a:gd name="T34" fmla="*/ 659 w 1276"/>
                  <a:gd name="T35" fmla="*/ 496 h 933"/>
                  <a:gd name="T36" fmla="*/ 666 w 1276"/>
                  <a:gd name="T37" fmla="*/ 491 h 933"/>
                  <a:gd name="T38" fmla="*/ 611 w 1276"/>
                  <a:gd name="T39" fmla="*/ 430 h 933"/>
                  <a:gd name="T40" fmla="*/ 620 w 1276"/>
                  <a:gd name="T41" fmla="*/ 425 h 933"/>
                  <a:gd name="T42" fmla="*/ 606 w 1276"/>
                  <a:gd name="T43" fmla="*/ 420 h 933"/>
                  <a:gd name="T44" fmla="*/ 608 w 1276"/>
                  <a:gd name="T45" fmla="*/ 406 h 933"/>
                  <a:gd name="T46" fmla="*/ 606 w 1276"/>
                  <a:gd name="T47" fmla="*/ 389 h 933"/>
                  <a:gd name="T48" fmla="*/ 594 w 1276"/>
                  <a:gd name="T49" fmla="*/ 379 h 933"/>
                  <a:gd name="T50" fmla="*/ 586 w 1276"/>
                  <a:gd name="T51" fmla="*/ 377 h 933"/>
                  <a:gd name="T52" fmla="*/ 569 w 1276"/>
                  <a:gd name="T53" fmla="*/ 377 h 933"/>
                  <a:gd name="T54" fmla="*/ 562 w 1276"/>
                  <a:gd name="T55" fmla="*/ 379 h 933"/>
                  <a:gd name="T56" fmla="*/ 552 w 1276"/>
                  <a:gd name="T57" fmla="*/ 391 h 933"/>
                  <a:gd name="T58" fmla="*/ 548 w 1276"/>
                  <a:gd name="T59" fmla="*/ 399 h 933"/>
                  <a:gd name="T60" fmla="*/ 548 w 1276"/>
                  <a:gd name="T61" fmla="*/ 413 h 933"/>
                  <a:gd name="T62" fmla="*/ 552 w 1276"/>
                  <a:gd name="T63" fmla="*/ 423 h 933"/>
                  <a:gd name="T64" fmla="*/ 538 w 1276"/>
                  <a:gd name="T65" fmla="*/ 425 h 933"/>
                  <a:gd name="T66" fmla="*/ 548 w 1276"/>
                  <a:gd name="T67" fmla="*/ 430 h 933"/>
                  <a:gd name="T68" fmla="*/ 519 w 1276"/>
                  <a:gd name="T69" fmla="*/ 491 h 933"/>
                  <a:gd name="T70" fmla="*/ 412 w 1276"/>
                  <a:gd name="T71" fmla="*/ 491 h 933"/>
                  <a:gd name="T72" fmla="*/ 402 w 1276"/>
                  <a:gd name="T73" fmla="*/ 491 h 933"/>
                  <a:gd name="T74" fmla="*/ 359 w 1276"/>
                  <a:gd name="T75" fmla="*/ 464 h 933"/>
                  <a:gd name="T76" fmla="*/ 366 w 1276"/>
                  <a:gd name="T77" fmla="*/ 459 h 933"/>
                  <a:gd name="T78" fmla="*/ 204 w 1276"/>
                  <a:gd name="T79" fmla="*/ 447 h 933"/>
                  <a:gd name="T80" fmla="*/ 194 w 1276"/>
                  <a:gd name="T81" fmla="*/ 416 h 933"/>
                  <a:gd name="T82" fmla="*/ 177 w 1276"/>
                  <a:gd name="T83" fmla="*/ 391 h 933"/>
                  <a:gd name="T84" fmla="*/ 155 w 1276"/>
                  <a:gd name="T85" fmla="*/ 369 h 933"/>
                  <a:gd name="T86" fmla="*/ 141 w 1276"/>
                  <a:gd name="T87" fmla="*/ 360 h 933"/>
                  <a:gd name="T88" fmla="*/ 114 w 1276"/>
                  <a:gd name="T89" fmla="*/ 350 h 933"/>
                  <a:gd name="T90" fmla="*/ 112 w 1276"/>
                  <a:gd name="T91" fmla="*/ 348 h 933"/>
                  <a:gd name="T92" fmla="*/ 97 w 1276"/>
                  <a:gd name="T93" fmla="*/ 345 h 933"/>
                  <a:gd name="T94" fmla="*/ 92 w 1276"/>
                  <a:gd name="T95" fmla="*/ 345 h 933"/>
                  <a:gd name="T96" fmla="*/ 88 w 1276"/>
                  <a:gd name="T97" fmla="*/ 345 h 933"/>
                  <a:gd name="T98" fmla="*/ 78 w 1276"/>
                  <a:gd name="T99" fmla="*/ 263 h 933"/>
                  <a:gd name="T100" fmla="*/ 73 w 1276"/>
                  <a:gd name="T101" fmla="*/ 345 h 933"/>
                  <a:gd name="T102" fmla="*/ 68 w 1276"/>
                  <a:gd name="T103" fmla="*/ 345 h 933"/>
                  <a:gd name="T104" fmla="*/ 51 w 1276"/>
                  <a:gd name="T105" fmla="*/ 348 h 933"/>
                  <a:gd name="T106" fmla="*/ 51 w 1276"/>
                  <a:gd name="T107" fmla="*/ 348 h 933"/>
                  <a:gd name="T108" fmla="*/ 37 w 1276"/>
                  <a:gd name="T109" fmla="*/ 355 h 933"/>
                  <a:gd name="T110" fmla="*/ 22 w 1276"/>
                  <a:gd name="T111" fmla="*/ 360 h 933"/>
                  <a:gd name="T112" fmla="*/ 0 w 1276"/>
                  <a:gd name="T113" fmla="*/ 374 h 933"/>
                  <a:gd name="T114" fmla="*/ 1276 w 1276"/>
                  <a:gd name="T115" fmla="*/ 933 h 933"/>
                  <a:gd name="T116" fmla="*/ 1233 w 1276"/>
                  <a:gd name="T117" fmla="*/ 739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6" h="933">
                    <a:moveTo>
                      <a:pt x="1233" y="746"/>
                    </a:moveTo>
                    <a:lnTo>
                      <a:pt x="1230" y="748"/>
                    </a:lnTo>
                    <a:lnTo>
                      <a:pt x="1228" y="748"/>
                    </a:lnTo>
                    <a:lnTo>
                      <a:pt x="1221" y="748"/>
                    </a:lnTo>
                    <a:lnTo>
                      <a:pt x="1216" y="748"/>
                    </a:lnTo>
                    <a:lnTo>
                      <a:pt x="1206" y="748"/>
                    </a:lnTo>
                    <a:lnTo>
                      <a:pt x="1206" y="741"/>
                    </a:lnTo>
                    <a:lnTo>
                      <a:pt x="1211" y="216"/>
                    </a:lnTo>
                    <a:lnTo>
                      <a:pt x="1213" y="216"/>
                    </a:lnTo>
                    <a:lnTo>
                      <a:pt x="1218" y="216"/>
                    </a:lnTo>
                    <a:lnTo>
                      <a:pt x="1221" y="214"/>
                    </a:lnTo>
                    <a:lnTo>
                      <a:pt x="1221" y="214"/>
                    </a:lnTo>
                    <a:lnTo>
                      <a:pt x="1221" y="185"/>
                    </a:lnTo>
                    <a:lnTo>
                      <a:pt x="1218" y="185"/>
                    </a:lnTo>
                    <a:lnTo>
                      <a:pt x="1213" y="182"/>
                    </a:lnTo>
                    <a:lnTo>
                      <a:pt x="1206" y="182"/>
                    </a:lnTo>
                    <a:lnTo>
                      <a:pt x="1197" y="180"/>
                    </a:lnTo>
                    <a:lnTo>
                      <a:pt x="1192" y="180"/>
                    </a:lnTo>
                    <a:lnTo>
                      <a:pt x="1192" y="93"/>
                    </a:lnTo>
                    <a:lnTo>
                      <a:pt x="1182" y="0"/>
                    </a:lnTo>
                    <a:lnTo>
                      <a:pt x="1175" y="90"/>
                    </a:lnTo>
                    <a:lnTo>
                      <a:pt x="1172" y="180"/>
                    </a:lnTo>
                    <a:lnTo>
                      <a:pt x="1165" y="180"/>
                    </a:lnTo>
                    <a:lnTo>
                      <a:pt x="1158" y="180"/>
                    </a:lnTo>
                    <a:lnTo>
                      <a:pt x="1151" y="180"/>
                    </a:lnTo>
                    <a:lnTo>
                      <a:pt x="1143" y="182"/>
                    </a:lnTo>
                    <a:lnTo>
                      <a:pt x="1141" y="182"/>
                    </a:lnTo>
                    <a:lnTo>
                      <a:pt x="1141" y="212"/>
                    </a:lnTo>
                    <a:lnTo>
                      <a:pt x="1141" y="212"/>
                    </a:lnTo>
                    <a:lnTo>
                      <a:pt x="1143" y="214"/>
                    </a:lnTo>
                    <a:lnTo>
                      <a:pt x="1148" y="214"/>
                    </a:lnTo>
                    <a:lnTo>
                      <a:pt x="1151" y="214"/>
                    </a:lnTo>
                    <a:lnTo>
                      <a:pt x="1146" y="714"/>
                    </a:lnTo>
                    <a:lnTo>
                      <a:pt x="1071" y="659"/>
                    </a:lnTo>
                    <a:lnTo>
                      <a:pt x="661" y="651"/>
                    </a:lnTo>
                    <a:lnTo>
                      <a:pt x="659" y="496"/>
                    </a:lnTo>
                    <a:lnTo>
                      <a:pt x="666" y="496"/>
                    </a:lnTo>
                    <a:lnTo>
                      <a:pt x="666" y="491"/>
                    </a:lnTo>
                    <a:lnTo>
                      <a:pt x="611" y="491"/>
                    </a:lnTo>
                    <a:lnTo>
                      <a:pt x="611" y="430"/>
                    </a:lnTo>
                    <a:lnTo>
                      <a:pt x="620" y="428"/>
                    </a:lnTo>
                    <a:lnTo>
                      <a:pt x="620" y="425"/>
                    </a:lnTo>
                    <a:lnTo>
                      <a:pt x="603" y="423"/>
                    </a:lnTo>
                    <a:lnTo>
                      <a:pt x="606" y="420"/>
                    </a:lnTo>
                    <a:lnTo>
                      <a:pt x="608" y="413"/>
                    </a:lnTo>
                    <a:lnTo>
                      <a:pt x="608" y="406"/>
                    </a:lnTo>
                    <a:lnTo>
                      <a:pt x="608" y="399"/>
                    </a:lnTo>
                    <a:lnTo>
                      <a:pt x="606" y="389"/>
                    </a:lnTo>
                    <a:lnTo>
                      <a:pt x="601" y="384"/>
                    </a:lnTo>
                    <a:lnTo>
                      <a:pt x="594" y="379"/>
                    </a:lnTo>
                    <a:lnTo>
                      <a:pt x="586" y="377"/>
                    </a:lnTo>
                    <a:lnTo>
                      <a:pt x="586" y="377"/>
                    </a:lnTo>
                    <a:lnTo>
                      <a:pt x="577" y="374"/>
                    </a:lnTo>
                    <a:lnTo>
                      <a:pt x="569" y="377"/>
                    </a:lnTo>
                    <a:lnTo>
                      <a:pt x="569" y="377"/>
                    </a:lnTo>
                    <a:lnTo>
                      <a:pt x="562" y="379"/>
                    </a:lnTo>
                    <a:lnTo>
                      <a:pt x="557" y="384"/>
                    </a:lnTo>
                    <a:lnTo>
                      <a:pt x="552" y="391"/>
                    </a:lnTo>
                    <a:lnTo>
                      <a:pt x="548" y="399"/>
                    </a:lnTo>
                    <a:lnTo>
                      <a:pt x="548" y="399"/>
                    </a:lnTo>
                    <a:lnTo>
                      <a:pt x="548" y="406"/>
                    </a:lnTo>
                    <a:lnTo>
                      <a:pt x="548" y="413"/>
                    </a:lnTo>
                    <a:lnTo>
                      <a:pt x="552" y="420"/>
                    </a:lnTo>
                    <a:lnTo>
                      <a:pt x="552" y="423"/>
                    </a:lnTo>
                    <a:lnTo>
                      <a:pt x="552" y="423"/>
                    </a:lnTo>
                    <a:lnTo>
                      <a:pt x="538" y="425"/>
                    </a:lnTo>
                    <a:lnTo>
                      <a:pt x="538" y="430"/>
                    </a:lnTo>
                    <a:lnTo>
                      <a:pt x="548" y="430"/>
                    </a:lnTo>
                    <a:lnTo>
                      <a:pt x="550" y="491"/>
                    </a:lnTo>
                    <a:lnTo>
                      <a:pt x="519" y="491"/>
                    </a:lnTo>
                    <a:lnTo>
                      <a:pt x="509" y="491"/>
                    </a:lnTo>
                    <a:lnTo>
                      <a:pt x="412" y="491"/>
                    </a:lnTo>
                    <a:lnTo>
                      <a:pt x="412" y="491"/>
                    </a:lnTo>
                    <a:lnTo>
                      <a:pt x="402" y="491"/>
                    </a:lnTo>
                    <a:lnTo>
                      <a:pt x="359" y="491"/>
                    </a:lnTo>
                    <a:lnTo>
                      <a:pt x="359" y="464"/>
                    </a:lnTo>
                    <a:lnTo>
                      <a:pt x="366" y="464"/>
                    </a:lnTo>
                    <a:lnTo>
                      <a:pt x="366" y="459"/>
                    </a:lnTo>
                    <a:lnTo>
                      <a:pt x="206" y="459"/>
                    </a:lnTo>
                    <a:lnTo>
                      <a:pt x="204" y="447"/>
                    </a:lnTo>
                    <a:lnTo>
                      <a:pt x="201" y="430"/>
                    </a:lnTo>
                    <a:lnTo>
                      <a:pt x="194" y="416"/>
                    </a:lnTo>
                    <a:lnTo>
                      <a:pt x="187" y="403"/>
                    </a:lnTo>
                    <a:lnTo>
                      <a:pt x="177" y="391"/>
                    </a:lnTo>
                    <a:lnTo>
                      <a:pt x="167" y="379"/>
                    </a:lnTo>
                    <a:lnTo>
                      <a:pt x="155" y="369"/>
                    </a:lnTo>
                    <a:lnTo>
                      <a:pt x="141" y="362"/>
                    </a:lnTo>
                    <a:lnTo>
                      <a:pt x="141" y="360"/>
                    </a:lnTo>
                    <a:lnTo>
                      <a:pt x="126" y="355"/>
                    </a:lnTo>
                    <a:lnTo>
                      <a:pt x="114" y="350"/>
                    </a:lnTo>
                    <a:lnTo>
                      <a:pt x="114" y="348"/>
                    </a:lnTo>
                    <a:lnTo>
                      <a:pt x="112" y="348"/>
                    </a:lnTo>
                    <a:lnTo>
                      <a:pt x="112" y="348"/>
                    </a:lnTo>
                    <a:lnTo>
                      <a:pt x="97" y="345"/>
                    </a:lnTo>
                    <a:lnTo>
                      <a:pt x="95" y="345"/>
                    </a:lnTo>
                    <a:lnTo>
                      <a:pt x="92" y="345"/>
                    </a:lnTo>
                    <a:lnTo>
                      <a:pt x="90" y="345"/>
                    </a:lnTo>
                    <a:lnTo>
                      <a:pt x="88" y="345"/>
                    </a:lnTo>
                    <a:lnTo>
                      <a:pt x="90" y="263"/>
                    </a:lnTo>
                    <a:lnTo>
                      <a:pt x="78" y="263"/>
                    </a:lnTo>
                    <a:lnTo>
                      <a:pt x="75" y="345"/>
                    </a:lnTo>
                    <a:lnTo>
                      <a:pt x="73" y="345"/>
                    </a:lnTo>
                    <a:lnTo>
                      <a:pt x="71" y="345"/>
                    </a:lnTo>
                    <a:lnTo>
                      <a:pt x="68" y="345"/>
                    </a:lnTo>
                    <a:lnTo>
                      <a:pt x="54" y="348"/>
                    </a:lnTo>
                    <a:lnTo>
                      <a:pt x="51" y="348"/>
                    </a:lnTo>
                    <a:lnTo>
                      <a:pt x="51" y="348"/>
                    </a:lnTo>
                    <a:lnTo>
                      <a:pt x="51" y="348"/>
                    </a:lnTo>
                    <a:lnTo>
                      <a:pt x="51" y="350"/>
                    </a:lnTo>
                    <a:lnTo>
                      <a:pt x="37" y="355"/>
                    </a:lnTo>
                    <a:lnTo>
                      <a:pt x="22" y="360"/>
                    </a:lnTo>
                    <a:lnTo>
                      <a:pt x="22" y="360"/>
                    </a:lnTo>
                    <a:lnTo>
                      <a:pt x="8" y="369"/>
                    </a:lnTo>
                    <a:lnTo>
                      <a:pt x="0" y="374"/>
                    </a:lnTo>
                    <a:lnTo>
                      <a:pt x="0" y="933"/>
                    </a:lnTo>
                    <a:lnTo>
                      <a:pt x="1276" y="933"/>
                    </a:lnTo>
                    <a:lnTo>
                      <a:pt x="1276" y="739"/>
                    </a:lnTo>
                    <a:lnTo>
                      <a:pt x="1233" y="739"/>
                    </a:lnTo>
                    <a:lnTo>
                      <a:pt x="1233" y="746"/>
                    </a:lnTo>
                    <a:close/>
                  </a:path>
                </a:pathLst>
              </a:custGeom>
              <a:solidFill>
                <a:schemeClr val="bg1">
                  <a:lumMod val="95000"/>
                </a:schemeClr>
              </a:solidFill>
              <a:ln>
                <a:noFill/>
              </a:ln>
            </p:spPr>
            <p:txBody>
              <a:bodyPr anchor="ctr"/>
              <a:lstStyle/>
              <a:p>
                <a:pPr algn="ctr"/>
                <a:endParaRPr/>
              </a:p>
            </p:txBody>
          </p:sp>
          <p:sp>
            <p:nvSpPr>
              <p:cNvPr id="31" name="ïṧľíďê"/>
              <p:cNvSpPr/>
              <p:nvPr/>
            </p:nvSpPr>
            <p:spPr bwMode="auto">
              <a:xfrm>
                <a:off x="8129058" y="4353817"/>
                <a:ext cx="2035444" cy="2504183"/>
              </a:xfrm>
              <a:custGeom>
                <a:avLst/>
                <a:gdLst>
                  <a:gd name="T0" fmla="*/ 1247 w 1281"/>
                  <a:gd name="T1" fmla="*/ 1059 h 1576"/>
                  <a:gd name="T2" fmla="*/ 1063 w 1281"/>
                  <a:gd name="T3" fmla="*/ 1107 h 1576"/>
                  <a:gd name="T4" fmla="*/ 1010 w 1281"/>
                  <a:gd name="T5" fmla="*/ 634 h 1576"/>
                  <a:gd name="T6" fmla="*/ 879 w 1281"/>
                  <a:gd name="T7" fmla="*/ 801 h 1576"/>
                  <a:gd name="T8" fmla="*/ 831 w 1281"/>
                  <a:gd name="T9" fmla="*/ 306 h 1576"/>
                  <a:gd name="T10" fmla="*/ 882 w 1281"/>
                  <a:gd name="T11" fmla="*/ 296 h 1576"/>
                  <a:gd name="T12" fmla="*/ 882 w 1281"/>
                  <a:gd name="T13" fmla="*/ 264 h 1576"/>
                  <a:gd name="T14" fmla="*/ 884 w 1281"/>
                  <a:gd name="T15" fmla="*/ 245 h 1576"/>
                  <a:gd name="T16" fmla="*/ 879 w 1281"/>
                  <a:gd name="T17" fmla="*/ 89 h 1576"/>
                  <a:gd name="T18" fmla="*/ 877 w 1281"/>
                  <a:gd name="T19" fmla="*/ 143 h 1576"/>
                  <a:gd name="T20" fmla="*/ 795 w 1281"/>
                  <a:gd name="T21" fmla="*/ 111 h 1576"/>
                  <a:gd name="T22" fmla="*/ 790 w 1281"/>
                  <a:gd name="T23" fmla="*/ 145 h 1576"/>
                  <a:gd name="T24" fmla="*/ 710 w 1281"/>
                  <a:gd name="T25" fmla="*/ 114 h 1576"/>
                  <a:gd name="T26" fmla="*/ 703 w 1281"/>
                  <a:gd name="T27" fmla="*/ 89 h 1576"/>
                  <a:gd name="T28" fmla="*/ 623 w 1281"/>
                  <a:gd name="T29" fmla="*/ 153 h 1576"/>
                  <a:gd name="T30" fmla="*/ 615 w 1281"/>
                  <a:gd name="T31" fmla="*/ 153 h 1576"/>
                  <a:gd name="T32" fmla="*/ 615 w 1281"/>
                  <a:gd name="T33" fmla="*/ 89 h 1576"/>
                  <a:gd name="T34" fmla="*/ 536 w 1281"/>
                  <a:gd name="T35" fmla="*/ 153 h 1576"/>
                  <a:gd name="T36" fmla="*/ 528 w 1281"/>
                  <a:gd name="T37" fmla="*/ 153 h 1576"/>
                  <a:gd name="T38" fmla="*/ 526 w 1281"/>
                  <a:gd name="T39" fmla="*/ 0 h 1576"/>
                  <a:gd name="T40" fmla="*/ 521 w 1281"/>
                  <a:gd name="T41" fmla="*/ 145 h 1576"/>
                  <a:gd name="T42" fmla="*/ 499 w 1281"/>
                  <a:gd name="T43" fmla="*/ 189 h 1576"/>
                  <a:gd name="T44" fmla="*/ 468 w 1281"/>
                  <a:gd name="T45" fmla="*/ 191 h 1576"/>
                  <a:gd name="T46" fmla="*/ 448 w 1281"/>
                  <a:gd name="T47" fmla="*/ 191 h 1576"/>
                  <a:gd name="T48" fmla="*/ 429 w 1281"/>
                  <a:gd name="T49" fmla="*/ 194 h 1576"/>
                  <a:gd name="T50" fmla="*/ 412 w 1281"/>
                  <a:gd name="T51" fmla="*/ 196 h 1576"/>
                  <a:gd name="T52" fmla="*/ 395 w 1281"/>
                  <a:gd name="T53" fmla="*/ 199 h 1576"/>
                  <a:gd name="T54" fmla="*/ 366 w 1281"/>
                  <a:gd name="T55" fmla="*/ 206 h 1576"/>
                  <a:gd name="T56" fmla="*/ 354 w 1281"/>
                  <a:gd name="T57" fmla="*/ 208 h 1576"/>
                  <a:gd name="T58" fmla="*/ 347 w 1281"/>
                  <a:gd name="T59" fmla="*/ 213 h 1576"/>
                  <a:gd name="T60" fmla="*/ 342 w 1281"/>
                  <a:gd name="T61" fmla="*/ 216 h 1576"/>
                  <a:gd name="T62" fmla="*/ 342 w 1281"/>
                  <a:gd name="T63" fmla="*/ 216 h 1576"/>
                  <a:gd name="T64" fmla="*/ 337 w 1281"/>
                  <a:gd name="T65" fmla="*/ 221 h 1576"/>
                  <a:gd name="T66" fmla="*/ 339 w 1281"/>
                  <a:gd name="T67" fmla="*/ 228 h 1576"/>
                  <a:gd name="T68" fmla="*/ 337 w 1281"/>
                  <a:gd name="T69" fmla="*/ 223 h 1576"/>
                  <a:gd name="T70" fmla="*/ 337 w 1281"/>
                  <a:gd name="T71" fmla="*/ 228 h 1576"/>
                  <a:gd name="T72" fmla="*/ 339 w 1281"/>
                  <a:gd name="T73" fmla="*/ 230 h 1576"/>
                  <a:gd name="T74" fmla="*/ 342 w 1281"/>
                  <a:gd name="T75" fmla="*/ 233 h 1576"/>
                  <a:gd name="T76" fmla="*/ 344 w 1281"/>
                  <a:gd name="T77" fmla="*/ 238 h 1576"/>
                  <a:gd name="T78" fmla="*/ 352 w 1281"/>
                  <a:gd name="T79" fmla="*/ 240 h 1576"/>
                  <a:gd name="T80" fmla="*/ 359 w 1281"/>
                  <a:gd name="T81" fmla="*/ 242 h 1576"/>
                  <a:gd name="T82" fmla="*/ 368 w 1281"/>
                  <a:gd name="T83" fmla="*/ 245 h 1576"/>
                  <a:gd name="T84" fmla="*/ 378 w 1281"/>
                  <a:gd name="T85" fmla="*/ 247 h 1576"/>
                  <a:gd name="T86" fmla="*/ 390 w 1281"/>
                  <a:gd name="T87" fmla="*/ 250 h 1576"/>
                  <a:gd name="T88" fmla="*/ 400 w 1281"/>
                  <a:gd name="T89" fmla="*/ 252 h 1576"/>
                  <a:gd name="T90" fmla="*/ 402 w 1281"/>
                  <a:gd name="T91" fmla="*/ 310 h 1576"/>
                  <a:gd name="T92" fmla="*/ 402 w 1281"/>
                  <a:gd name="T93" fmla="*/ 371 h 1576"/>
                  <a:gd name="T94" fmla="*/ 402 w 1281"/>
                  <a:gd name="T95" fmla="*/ 400 h 1576"/>
                  <a:gd name="T96" fmla="*/ 400 w 1281"/>
                  <a:gd name="T97" fmla="*/ 1260 h 1576"/>
                  <a:gd name="T98" fmla="*/ 90 w 1281"/>
                  <a:gd name="T99" fmla="*/ 383 h 1576"/>
                  <a:gd name="T100" fmla="*/ 10 w 1281"/>
                  <a:gd name="T101" fmla="*/ 1224 h 1576"/>
                  <a:gd name="T102" fmla="*/ 1281 w 1281"/>
                  <a:gd name="T103" fmla="*/ 1576 h 1576"/>
                  <a:gd name="T104" fmla="*/ 352 w 1281"/>
                  <a:gd name="T105" fmla="*/ 228 h 1576"/>
                  <a:gd name="T106" fmla="*/ 342 w 1281"/>
                  <a:gd name="T107" fmla="*/ 225 h 1576"/>
                  <a:gd name="T108" fmla="*/ 342 w 1281"/>
                  <a:gd name="T109" fmla="*/ 228 h 1576"/>
                  <a:gd name="T110" fmla="*/ 410 w 1281"/>
                  <a:gd name="T111" fmla="*/ 199 h 1576"/>
                  <a:gd name="T112" fmla="*/ 412 w 1281"/>
                  <a:gd name="T113" fmla="*/ 206 h 1576"/>
                  <a:gd name="T114" fmla="*/ 419 w 1281"/>
                  <a:gd name="T115" fmla="*/ 211 h 1576"/>
                  <a:gd name="T116" fmla="*/ 427 w 1281"/>
                  <a:gd name="T117" fmla="*/ 196 h 1576"/>
                  <a:gd name="T118" fmla="*/ 429 w 1281"/>
                  <a:gd name="T119" fmla="*/ 204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1" h="1576">
                    <a:moveTo>
                      <a:pt x="1281" y="1017"/>
                    </a:moveTo>
                    <a:lnTo>
                      <a:pt x="1277" y="1022"/>
                    </a:lnTo>
                    <a:lnTo>
                      <a:pt x="1264" y="1032"/>
                    </a:lnTo>
                    <a:lnTo>
                      <a:pt x="1255" y="1044"/>
                    </a:lnTo>
                    <a:lnTo>
                      <a:pt x="1247" y="1059"/>
                    </a:lnTo>
                    <a:lnTo>
                      <a:pt x="1240" y="1073"/>
                    </a:lnTo>
                    <a:lnTo>
                      <a:pt x="1235" y="1090"/>
                    </a:lnTo>
                    <a:lnTo>
                      <a:pt x="1235" y="1102"/>
                    </a:lnTo>
                    <a:lnTo>
                      <a:pt x="1063" y="1102"/>
                    </a:lnTo>
                    <a:lnTo>
                      <a:pt x="1063" y="1107"/>
                    </a:lnTo>
                    <a:lnTo>
                      <a:pt x="1071" y="1107"/>
                    </a:lnTo>
                    <a:lnTo>
                      <a:pt x="1071" y="1134"/>
                    </a:lnTo>
                    <a:lnTo>
                      <a:pt x="1051" y="1134"/>
                    </a:lnTo>
                    <a:lnTo>
                      <a:pt x="1051" y="634"/>
                    </a:lnTo>
                    <a:lnTo>
                      <a:pt x="1010" y="634"/>
                    </a:lnTo>
                    <a:lnTo>
                      <a:pt x="1010" y="602"/>
                    </a:lnTo>
                    <a:lnTo>
                      <a:pt x="925" y="602"/>
                    </a:lnTo>
                    <a:lnTo>
                      <a:pt x="925" y="634"/>
                    </a:lnTo>
                    <a:lnTo>
                      <a:pt x="879" y="634"/>
                    </a:lnTo>
                    <a:lnTo>
                      <a:pt x="879" y="801"/>
                    </a:lnTo>
                    <a:lnTo>
                      <a:pt x="848" y="801"/>
                    </a:lnTo>
                    <a:lnTo>
                      <a:pt x="848" y="825"/>
                    </a:lnTo>
                    <a:lnTo>
                      <a:pt x="831" y="825"/>
                    </a:lnTo>
                    <a:lnTo>
                      <a:pt x="831" y="495"/>
                    </a:lnTo>
                    <a:lnTo>
                      <a:pt x="831" y="306"/>
                    </a:lnTo>
                    <a:lnTo>
                      <a:pt x="872" y="306"/>
                    </a:lnTo>
                    <a:lnTo>
                      <a:pt x="872" y="306"/>
                    </a:lnTo>
                    <a:lnTo>
                      <a:pt x="872" y="306"/>
                    </a:lnTo>
                    <a:lnTo>
                      <a:pt x="882" y="306"/>
                    </a:lnTo>
                    <a:lnTo>
                      <a:pt x="882" y="296"/>
                    </a:lnTo>
                    <a:lnTo>
                      <a:pt x="884" y="296"/>
                    </a:lnTo>
                    <a:lnTo>
                      <a:pt x="887" y="289"/>
                    </a:lnTo>
                    <a:lnTo>
                      <a:pt x="887" y="281"/>
                    </a:lnTo>
                    <a:lnTo>
                      <a:pt x="882" y="281"/>
                    </a:lnTo>
                    <a:lnTo>
                      <a:pt x="882" y="264"/>
                    </a:lnTo>
                    <a:lnTo>
                      <a:pt x="884" y="264"/>
                    </a:lnTo>
                    <a:lnTo>
                      <a:pt x="884" y="262"/>
                    </a:lnTo>
                    <a:lnTo>
                      <a:pt x="884" y="247"/>
                    </a:lnTo>
                    <a:lnTo>
                      <a:pt x="884" y="247"/>
                    </a:lnTo>
                    <a:lnTo>
                      <a:pt x="884" y="245"/>
                    </a:lnTo>
                    <a:lnTo>
                      <a:pt x="884" y="143"/>
                    </a:lnTo>
                    <a:lnTo>
                      <a:pt x="882" y="143"/>
                    </a:lnTo>
                    <a:lnTo>
                      <a:pt x="882" y="89"/>
                    </a:lnTo>
                    <a:lnTo>
                      <a:pt x="879" y="89"/>
                    </a:lnTo>
                    <a:lnTo>
                      <a:pt x="879" y="89"/>
                    </a:lnTo>
                    <a:lnTo>
                      <a:pt x="879" y="111"/>
                    </a:lnTo>
                    <a:lnTo>
                      <a:pt x="877" y="111"/>
                    </a:lnTo>
                    <a:lnTo>
                      <a:pt x="877" y="111"/>
                    </a:lnTo>
                    <a:lnTo>
                      <a:pt x="877" y="143"/>
                    </a:lnTo>
                    <a:lnTo>
                      <a:pt x="877" y="143"/>
                    </a:lnTo>
                    <a:lnTo>
                      <a:pt x="877" y="145"/>
                    </a:lnTo>
                    <a:lnTo>
                      <a:pt x="877" y="150"/>
                    </a:lnTo>
                    <a:lnTo>
                      <a:pt x="795" y="150"/>
                    </a:lnTo>
                    <a:lnTo>
                      <a:pt x="795" y="114"/>
                    </a:lnTo>
                    <a:lnTo>
                      <a:pt x="795" y="111"/>
                    </a:lnTo>
                    <a:lnTo>
                      <a:pt x="792" y="111"/>
                    </a:lnTo>
                    <a:lnTo>
                      <a:pt x="792" y="89"/>
                    </a:lnTo>
                    <a:lnTo>
                      <a:pt x="792" y="89"/>
                    </a:lnTo>
                    <a:lnTo>
                      <a:pt x="790" y="89"/>
                    </a:lnTo>
                    <a:lnTo>
                      <a:pt x="790" y="145"/>
                    </a:lnTo>
                    <a:lnTo>
                      <a:pt x="787" y="145"/>
                    </a:lnTo>
                    <a:lnTo>
                      <a:pt x="787" y="150"/>
                    </a:lnTo>
                    <a:lnTo>
                      <a:pt x="710" y="150"/>
                    </a:lnTo>
                    <a:lnTo>
                      <a:pt x="710" y="114"/>
                    </a:lnTo>
                    <a:lnTo>
                      <a:pt x="710" y="114"/>
                    </a:lnTo>
                    <a:lnTo>
                      <a:pt x="705" y="114"/>
                    </a:lnTo>
                    <a:lnTo>
                      <a:pt x="705" y="145"/>
                    </a:lnTo>
                    <a:lnTo>
                      <a:pt x="705" y="145"/>
                    </a:lnTo>
                    <a:lnTo>
                      <a:pt x="705" y="89"/>
                    </a:lnTo>
                    <a:lnTo>
                      <a:pt x="703" y="89"/>
                    </a:lnTo>
                    <a:lnTo>
                      <a:pt x="700" y="89"/>
                    </a:lnTo>
                    <a:lnTo>
                      <a:pt x="700" y="145"/>
                    </a:lnTo>
                    <a:lnTo>
                      <a:pt x="698" y="145"/>
                    </a:lnTo>
                    <a:lnTo>
                      <a:pt x="698" y="150"/>
                    </a:lnTo>
                    <a:lnTo>
                      <a:pt x="623" y="153"/>
                    </a:lnTo>
                    <a:lnTo>
                      <a:pt x="623" y="114"/>
                    </a:lnTo>
                    <a:lnTo>
                      <a:pt x="623" y="114"/>
                    </a:lnTo>
                    <a:lnTo>
                      <a:pt x="618" y="114"/>
                    </a:lnTo>
                    <a:lnTo>
                      <a:pt x="618" y="153"/>
                    </a:lnTo>
                    <a:lnTo>
                      <a:pt x="615" y="153"/>
                    </a:lnTo>
                    <a:lnTo>
                      <a:pt x="615" y="148"/>
                    </a:lnTo>
                    <a:lnTo>
                      <a:pt x="615" y="145"/>
                    </a:lnTo>
                    <a:lnTo>
                      <a:pt x="615" y="145"/>
                    </a:lnTo>
                    <a:lnTo>
                      <a:pt x="615" y="92"/>
                    </a:lnTo>
                    <a:lnTo>
                      <a:pt x="615" y="89"/>
                    </a:lnTo>
                    <a:lnTo>
                      <a:pt x="611" y="89"/>
                    </a:lnTo>
                    <a:lnTo>
                      <a:pt x="611" y="145"/>
                    </a:lnTo>
                    <a:lnTo>
                      <a:pt x="608" y="145"/>
                    </a:lnTo>
                    <a:lnTo>
                      <a:pt x="608" y="153"/>
                    </a:lnTo>
                    <a:lnTo>
                      <a:pt x="536" y="153"/>
                    </a:lnTo>
                    <a:lnTo>
                      <a:pt x="536" y="114"/>
                    </a:lnTo>
                    <a:lnTo>
                      <a:pt x="536" y="114"/>
                    </a:lnTo>
                    <a:lnTo>
                      <a:pt x="533" y="114"/>
                    </a:lnTo>
                    <a:lnTo>
                      <a:pt x="533" y="153"/>
                    </a:lnTo>
                    <a:lnTo>
                      <a:pt x="528" y="153"/>
                    </a:lnTo>
                    <a:lnTo>
                      <a:pt x="528" y="148"/>
                    </a:lnTo>
                    <a:lnTo>
                      <a:pt x="526" y="145"/>
                    </a:lnTo>
                    <a:lnTo>
                      <a:pt x="526" y="145"/>
                    </a:lnTo>
                    <a:lnTo>
                      <a:pt x="526" y="2"/>
                    </a:lnTo>
                    <a:lnTo>
                      <a:pt x="526" y="0"/>
                    </a:lnTo>
                    <a:lnTo>
                      <a:pt x="521" y="0"/>
                    </a:lnTo>
                    <a:lnTo>
                      <a:pt x="521" y="92"/>
                    </a:lnTo>
                    <a:lnTo>
                      <a:pt x="521" y="92"/>
                    </a:lnTo>
                    <a:lnTo>
                      <a:pt x="521" y="145"/>
                    </a:lnTo>
                    <a:lnTo>
                      <a:pt x="521" y="145"/>
                    </a:lnTo>
                    <a:lnTo>
                      <a:pt x="521" y="187"/>
                    </a:lnTo>
                    <a:lnTo>
                      <a:pt x="511" y="189"/>
                    </a:lnTo>
                    <a:lnTo>
                      <a:pt x="511" y="189"/>
                    </a:lnTo>
                    <a:lnTo>
                      <a:pt x="509" y="189"/>
                    </a:lnTo>
                    <a:lnTo>
                      <a:pt x="499" y="189"/>
                    </a:lnTo>
                    <a:lnTo>
                      <a:pt x="490" y="189"/>
                    </a:lnTo>
                    <a:lnTo>
                      <a:pt x="490" y="189"/>
                    </a:lnTo>
                    <a:lnTo>
                      <a:pt x="487" y="189"/>
                    </a:lnTo>
                    <a:lnTo>
                      <a:pt x="477" y="189"/>
                    </a:lnTo>
                    <a:lnTo>
                      <a:pt x="468" y="191"/>
                    </a:lnTo>
                    <a:lnTo>
                      <a:pt x="468" y="191"/>
                    </a:lnTo>
                    <a:lnTo>
                      <a:pt x="465" y="191"/>
                    </a:lnTo>
                    <a:lnTo>
                      <a:pt x="465" y="191"/>
                    </a:lnTo>
                    <a:lnTo>
                      <a:pt x="456" y="191"/>
                    </a:lnTo>
                    <a:lnTo>
                      <a:pt x="448" y="191"/>
                    </a:lnTo>
                    <a:lnTo>
                      <a:pt x="448" y="191"/>
                    </a:lnTo>
                    <a:lnTo>
                      <a:pt x="446" y="191"/>
                    </a:lnTo>
                    <a:lnTo>
                      <a:pt x="439" y="194"/>
                    </a:lnTo>
                    <a:lnTo>
                      <a:pt x="429" y="194"/>
                    </a:lnTo>
                    <a:lnTo>
                      <a:pt x="429" y="194"/>
                    </a:lnTo>
                    <a:lnTo>
                      <a:pt x="429" y="194"/>
                    </a:lnTo>
                    <a:lnTo>
                      <a:pt x="419" y="196"/>
                    </a:lnTo>
                    <a:lnTo>
                      <a:pt x="412" y="196"/>
                    </a:lnTo>
                    <a:lnTo>
                      <a:pt x="412" y="196"/>
                    </a:lnTo>
                    <a:lnTo>
                      <a:pt x="412" y="196"/>
                    </a:lnTo>
                    <a:lnTo>
                      <a:pt x="412" y="196"/>
                    </a:lnTo>
                    <a:lnTo>
                      <a:pt x="412" y="196"/>
                    </a:lnTo>
                    <a:lnTo>
                      <a:pt x="405" y="199"/>
                    </a:lnTo>
                    <a:lnTo>
                      <a:pt x="398" y="199"/>
                    </a:lnTo>
                    <a:lnTo>
                      <a:pt x="395" y="199"/>
                    </a:lnTo>
                    <a:lnTo>
                      <a:pt x="390" y="201"/>
                    </a:lnTo>
                    <a:lnTo>
                      <a:pt x="383" y="201"/>
                    </a:lnTo>
                    <a:lnTo>
                      <a:pt x="383" y="201"/>
                    </a:lnTo>
                    <a:lnTo>
                      <a:pt x="376" y="204"/>
                    </a:lnTo>
                    <a:lnTo>
                      <a:pt x="366" y="206"/>
                    </a:lnTo>
                    <a:lnTo>
                      <a:pt x="356" y="208"/>
                    </a:lnTo>
                    <a:lnTo>
                      <a:pt x="354" y="208"/>
                    </a:lnTo>
                    <a:lnTo>
                      <a:pt x="354" y="208"/>
                    </a:lnTo>
                    <a:lnTo>
                      <a:pt x="354" y="208"/>
                    </a:lnTo>
                    <a:lnTo>
                      <a:pt x="354" y="208"/>
                    </a:lnTo>
                    <a:lnTo>
                      <a:pt x="354" y="208"/>
                    </a:lnTo>
                    <a:lnTo>
                      <a:pt x="349" y="211"/>
                    </a:lnTo>
                    <a:lnTo>
                      <a:pt x="349" y="211"/>
                    </a:lnTo>
                    <a:lnTo>
                      <a:pt x="347" y="213"/>
                    </a:lnTo>
                    <a:lnTo>
                      <a:pt x="347" y="213"/>
                    </a:lnTo>
                    <a:lnTo>
                      <a:pt x="347" y="213"/>
                    </a:lnTo>
                    <a:lnTo>
                      <a:pt x="344" y="213"/>
                    </a:lnTo>
                    <a:lnTo>
                      <a:pt x="342" y="216"/>
                    </a:lnTo>
                    <a:lnTo>
                      <a:pt x="342" y="216"/>
                    </a:lnTo>
                    <a:lnTo>
                      <a:pt x="342" y="216"/>
                    </a:lnTo>
                    <a:lnTo>
                      <a:pt x="339" y="218"/>
                    </a:lnTo>
                    <a:lnTo>
                      <a:pt x="339" y="218"/>
                    </a:lnTo>
                    <a:lnTo>
                      <a:pt x="339" y="218"/>
                    </a:lnTo>
                    <a:lnTo>
                      <a:pt x="342" y="216"/>
                    </a:lnTo>
                    <a:lnTo>
                      <a:pt x="342" y="216"/>
                    </a:lnTo>
                    <a:lnTo>
                      <a:pt x="342" y="216"/>
                    </a:lnTo>
                    <a:lnTo>
                      <a:pt x="339" y="218"/>
                    </a:lnTo>
                    <a:lnTo>
                      <a:pt x="339" y="218"/>
                    </a:lnTo>
                    <a:lnTo>
                      <a:pt x="337" y="221"/>
                    </a:lnTo>
                    <a:lnTo>
                      <a:pt x="337" y="221"/>
                    </a:lnTo>
                    <a:lnTo>
                      <a:pt x="337" y="223"/>
                    </a:lnTo>
                    <a:lnTo>
                      <a:pt x="337" y="223"/>
                    </a:lnTo>
                    <a:lnTo>
                      <a:pt x="337" y="225"/>
                    </a:lnTo>
                    <a:lnTo>
                      <a:pt x="337" y="225"/>
                    </a:lnTo>
                    <a:lnTo>
                      <a:pt x="339" y="228"/>
                    </a:lnTo>
                    <a:lnTo>
                      <a:pt x="337" y="225"/>
                    </a:lnTo>
                    <a:lnTo>
                      <a:pt x="337" y="225"/>
                    </a:lnTo>
                    <a:lnTo>
                      <a:pt x="337" y="223"/>
                    </a:lnTo>
                    <a:lnTo>
                      <a:pt x="337" y="223"/>
                    </a:lnTo>
                    <a:lnTo>
                      <a:pt x="337" y="223"/>
                    </a:lnTo>
                    <a:lnTo>
                      <a:pt x="337" y="223"/>
                    </a:lnTo>
                    <a:lnTo>
                      <a:pt x="337" y="223"/>
                    </a:lnTo>
                    <a:lnTo>
                      <a:pt x="337" y="225"/>
                    </a:lnTo>
                    <a:lnTo>
                      <a:pt x="337" y="225"/>
                    </a:lnTo>
                    <a:lnTo>
                      <a:pt x="337" y="228"/>
                    </a:lnTo>
                    <a:lnTo>
                      <a:pt x="337" y="228"/>
                    </a:lnTo>
                    <a:lnTo>
                      <a:pt x="337" y="228"/>
                    </a:lnTo>
                    <a:lnTo>
                      <a:pt x="337" y="228"/>
                    </a:lnTo>
                    <a:lnTo>
                      <a:pt x="337" y="230"/>
                    </a:lnTo>
                    <a:lnTo>
                      <a:pt x="339" y="230"/>
                    </a:lnTo>
                    <a:lnTo>
                      <a:pt x="339" y="233"/>
                    </a:lnTo>
                    <a:lnTo>
                      <a:pt x="339" y="233"/>
                    </a:lnTo>
                    <a:lnTo>
                      <a:pt x="339" y="233"/>
                    </a:lnTo>
                    <a:lnTo>
                      <a:pt x="339" y="233"/>
                    </a:lnTo>
                    <a:lnTo>
                      <a:pt x="342" y="233"/>
                    </a:lnTo>
                    <a:lnTo>
                      <a:pt x="342" y="235"/>
                    </a:lnTo>
                    <a:lnTo>
                      <a:pt x="342" y="235"/>
                    </a:lnTo>
                    <a:lnTo>
                      <a:pt x="344" y="238"/>
                    </a:lnTo>
                    <a:lnTo>
                      <a:pt x="344" y="238"/>
                    </a:lnTo>
                    <a:lnTo>
                      <a:pt x="344" y="238"/>
                    </a:lnTo>
                    <a:lnTo>
                      <a:pt x="347" y="238"/>
                    </a:lnTo>
                    <a:lnTo>
                      <a:pt x="347" y="238"/>
                    </a:lnTo>
                    <a:lnTo>
                      <a:pt x="349" y="238"/>
                    </a:lnTo>
                    <a:lnTo>
                      <a:pt x="352" y="240"/>
                    </a:lnTo>
                    <a:lnTo>
                      <a:pt x="352" y="240"/>
                    </a:lnTo>
                    <a:lnTo>
                      <a:pt x="352" y="240"/>
                    </a:lnTo>
                    <a:lnTo>
                      <a:pt x="352" y="240"/>
                    </a:lnTo>
                    <a:lnTo>
                      <a:pt x="352" y="240"/>
                    </a:lnTo>
                    <a:lnTo>
                      <a:pt x="356" y="242"/>
                    </a:lnTo>
                    <a:lnTo>
                      <a:pt x="359" y="242"/>
                    </a:lnTo>
                    <a:lnTo>
                      <a:pt x="359" y="242"/>
                    </a:lnTo>
                    <a:lnTo>
                      <a:pt x="359" y="242"/>
                    </a:lnTo>
                    <a:lnTo>
                      <a:pt x="359" y="242"/>
                    </a:lnTo>
                    <a:lnTo>
                      <a:pt x="364" y="245"/>
                    </a:lnTo>
                    <a:lnTo>
                      <a:pt x="368" y="245"/>
                    </a:lnTo>
                    <a:lnTo>
                      <a:pt x="368" y="245"/>
                    </a:lnTo>
                    <a:lnTo>
                      <a:pt x="368" y="245"/>
                    </a:lnTo>
                    <a:lnTo>
                      <a:pt x="368" y="245"/>
                    </a:lnTo>
                    <a:lnTo>
                      <a:pt x="373" y="247"/>
                    </a:lnTo>
                    <a:lnTo>
                      <a:pt x="378" y="247"/>
                    </a:lnTo>
                    <a:lnTo>
                      <a:pt x="378" y="247"/>
                    </a:lnTo>
                    <a:lnTo>
                      <a:pt x="381" y="247"/>
                    </a:lnTo>
                    <a:lnTo>
                      <a:pt x="381" y="247"/>
                    </a:lnTo>
                    <a:lnTo>
                      <a:pt x="385" y="250"/>
                    </a:lnTo>
                    <a:lnTo>
                      <a:pt x="390" y="250"/>
                    </a:lnTo>
                    <a:lnTo>
                      <a:pt x="390" y="250"/>
                    </a:lnTo>
                    <a:lnTo>
                      <a:pt x="393" y="250"/>
                    </a:lnTo>
                    <a:lnTo>
                      <a:pt x="393" y="250"/>
                    </a:lnTo>
                    <a:lnTo>
                      <a:pt x="398" y="252"/>
                    </a:lnTo>
                    <a:lnTo>
                      <a:pt x="400" y="252"/>
                    </a:lnTo>
                    <a:lnTo>
                      <a:pt x="460" y="262"/>
                    </a:lnTo>
                    <a:lnTo>
                      <a:pt x="460" y="301"/>
                    </a:lnTo>
                    <a:lnTo>
                      <a:pt x="436" y="303"/>
                    </a:lnTo>
                    <a:lnTo>
                      <a:pt x="417" y="308"/>
                    </a:lnTo>
                    <a:lnTo>
                      <a:pt x="402" y="310"/>
                    </a:lnTo>
                    <a:lnTo>
                      <a:pt x="398" y="315"/>
                    </a:lnTo>
                    <a:lnTo>
                      <a:pt x="398" y="337"/>
                    </a:lnTo>
                    <a:lnTo>
                      <a:pt x="402" y="342"/>
                    </a:lnTo>
                    <a:lnTo>
                      <a:pt x="402" y="342"/>
                    </a:lnTo>
                    <a:lnTo>
                      <a:pt x="402" y="371"/>
                    </a:lnTo>
                    <a:lnTo>
                      <a:pt x="398" y="374"/>
                    </a:lnTo>
                    <a:lnTo>
                      <a:pt x="398" y="376"/>
                    </a:lnTo>
                    <a:lnTo>
                      <a:pt x="402" y="381"/>
                    </a:lnTo>
                    <a:lnTo>
                      <a:pt x="402" y="381"/>
                    </a:lnTo>
                    <a:lnTo>
                      <a:pt x="402" y="400"/>
                    </a:lnTo>
                    <a:lnTo>
                      <a:pt x="398" y="403"/>
                    </a:lnTo>
                    <a:lnTo>
                      <a:pt x="398" y="412"/>
                    </a:lnTo>
                    <a:lnTo>
                      <a:pt x="402" y="417"/>
                    </a:lnTo>
                    <a:lnTo>
                      <a:pt x="402" y="417"/>
                    </a:lnTo>
                    <a:lnTo>
                      <a:pt x="400" y="1260"/>
                    </a:lnTo>
                    <a:lnTo>
                      <a:pt x="378" y="1260"/>
                    </a:lnTo>
                    <a:lnTo>
                      <a:pt x="376" y="415"/>
                    </a:lnTo>
                    <a:lnTo>
                      <a:pt x="315" y="415"/>
                    </a:lnTo>
                    <a:lnTo>
                      <a:pt x="315" y="383"/>
                    </a:lnTo>
                    <a:lnTo>
                      <a:pt x="90" y="383"/>
                    </a:lnTo>
                    <a:lnTo>
                      <a:pt x="75" y="415"/>
                    </a:lnTo>
                    <a:lnTo>
                      <a:pt x="42" y="415"/>
                    </a:lnTo>
                    <a:lnTo>
                      <a:pt x="17" y="473"/>
                    </a:lnTo>
                    <a:lnTo>
                      <a:pt x="17" y="1224"/>
                    </a:lnTo>
                    <a:lnTo>
                      <a:pt x="10" y="1224"/>
                    </a:lnTo>
                    <a:lnTo>
                      <a:pt x="10" y="1221"/>
                    </a:lnTo>
                    <a:lnTo>
                      <a:pt x="5" y="1219"/>
                    </a:lnTo>
                    <a:lnTo>
                      <a:pt x="0" y="1219"/>
                    </a:lnTo>
                    <a:lnTo>
                      <a:pt x="0" y="1576"/>
                    </a:lnTo>
                    <a:lnTo>
                      <a:pt x="1281" y="1576"/>
                    </a:lnTo>
                    <a:lnTo>
                      <a:pt x="1281" y="1017"/>
                    </a:lnTo>
                    <a:close/>
                    <a:moveTo>
                      <a:pt x="342" y="225"/>
                    </a:moveTo>
                    <a:lnTo>
                      <a:pt x="344" y="225"/>
                    </a:lnTo>
                    <a:lnTo>
                      <a:pt x="344" y="225"/>
                    </a:lnTo>
                    <a:lnTo>
                      <a:pt x="352" y="228"/>
                    </a:lnTo>
                    <a:lnTo>
                      <a:pt x="344" y="225"/>
                    </a:lnTo>
                    <a:lnTo>
                      <a:pt x="344" y="225"/>
                    </a:lnTo>
                    <a:lnTo>
                      <a:pt x="342" y="225"/>
                    </a:lnTo>
                    <a:lnTo>
                      <a:pt x="342" y="223"/>
                    </a:lnTo>
                    <a:lnTo>
                      <a:pt x="342" y="225"/>
                    </a:lnTo>
                    <a:close/>
                    <a:moveTo>
                      <a:pt x="342" y="228"/>
                    </a:moveTo>
                    <a:lnTo>
                      <a:pt x="342" y="228"/>
                    </a:lnTo>
                    <a:lnTo>
                      <a:pt x="339" y="228"/>
                    </a:lnTo>
                    <a:lnTo>
                      <a:pt x="342" y="228"/>
                    </a:lnTo>
                    <a:lnTo>
                      <a:pt x="342" y="228"/>
                    </a:lnTo>
                    <a:lnTo>
                      <a:pt x="361" y="233"/>
                    </a:lnTo>
                    <a:lnTo>
                      <a:pt x="342" y="228"/>
                    </a:lnTo>
                    <a:close/>
                    <a:moveTo>
                      <a:pt x="410" y="199"/>
                    </a:moveTo>
                    <a:lnTo>
                      <a:pt x="410" y="201"/>
                    </a:lnTo>
                    <a:lnTo>
                      <a:pt x="410" y="199"/>
                    </a:lnTo>
                    <a:lnTo>
                      <a:pt x="410" y="199"/>
                    </a:lnTo>
                    <a:lnTo>
                      <a:pt x="410" y="199"/>
                    </a:lnTo>
                    <a:close/>
                    <a:moveTo>
                      <a:pt x="414" y="208"/>
                    </a:moveTo>
                    <a:lnTo>
                      <a:pt x="412" y="206"/>
                    </a:lnTo>
                    <a:lnTo>
                      <a:pt x="412" y="206"/>
                    </a:lnTo>
                    <a:lnTo>
                      <a:pt x="412" y="206"/>
                    </a:lnTo>
                    <a:lnTo>
                      <a:pt x="412" y="206"/>
                    </a:lnTo>
                    <a:lnTo>
                      <a:pt x="412" y="206"/>
                    </a:lnTo>
                    <a:lnTo>
                      <a:pt x="414" y="208"/>
                    </a:lnTo>
                    <a:lnTo>
                      <a:pt x="419" y="211"/>
                    </a:lnTo>
                    <a:lnTo>
                      <a:pt x="414" y="208"/>
                    </a:lnTo>
                    <a:close/>
                    <a:moveTo>
                      <a:pt x="427" y="199"/>
                    </a:moveTo>
                    <a:lnTo>
                      <a:pt x="427" y="196"/>
                    </a:lnTo>
                    <a:lnTo>
                      <a:pt x="429" y="196"/>
                    </a:lnTo>
                    <a:lnTo>
                      <a:pt x="427" y="196"/>
                    </a:lnTo>
                    <a:lnTo>
                      <a:pt x="427" y="199"/>
                    </a:lnTo>
                    <a:close/>
                    <a:moveTo>
                      <a:pt x="429" y="206"/>
                    </a:moveTo>
                    <a:lnTo>
                      <a:pt x="429" y="204"/>
                    </a:lnTo>
                    <a:lnTo>
                      <a:pt x="429" y="204"/>
                    </a:lnTo>
                    <a:lnTo>
                      <a:pt x="429" y="204"/>
                    </a:lnTo>
                    <a:lnTo>
                      <a:pt x="429" y="206"/>
                    </a:lnTo>
                    <a:lnTo>
                      <a:pt x="431" y="206"/>
                    </a:lnTo>
                    <a:lnTo>
                      <a:pt x="429" y="206"/>
                    </a:lnTo>
                    <a:close/>
                  </a:path>
                </a:pathLst>
              </a:custGeom>
              <a:solidFill>
                <a:schemeClr val="bg1">
                  <a:lumMod val="95000"/>
                </a:schemeClr>
              </a:solidFill>
              <a:ln>
                <a:noFill/>
              </a:ln>
            </p:spPr>
            <p:txBody>
              <a:bodyPr anchor="ctr"/>
              <a:lstStyle/>
              <a:p>
                <a:pPr algn="ctr"/>
                <a:endParaRPr/>
              </a:p>
            </p:txBody>
          </p:sp>
          <p:sp>
            <p:nvSpPr>
              <p:cNvPr id="32" name="í$ḻîde"/>
              <p:cNvSpPr/>
              <p:nvPr/>
            </p:nvSpPr>
            <p:spPr bwMode="auto">
              <a:xfrm>
                <a:off x="6098382" y="4962385"/>
                <a:ext cx="2030676" cy="1895615"/>
              </a:xfrm>
              <a:custGeom>
                <a:avLst/>
                <a:gdLst>
                  <a:gd name="T0" fmla="*/ 1278 w 1278"/>
                  <a:gd name="T1" fmla="*/ 836 h 1193"/>
                  <a:gd name="T2" fmla="*/ 1271 w 1278"/>
                  <a:gd name="T3" fmla="*/ 819 h 1193"/>
                  <a:gd name="T4" fmla="*/ 1252 w 1278"/>
                  <a:gd name="T5" fmla="*/ 821 h 1193"/>
                  <a:gd name="T6" fmla="*/ 1242 w 1278"/>
                  <a:gd name="T7" fmla="*/ 807 h 1193"/>
                  <a:gd name="T8" fmla="*/ 1206 w 1278"/>
                  <a:gd name="T9" fmla="*/ 700 h 1193"/>
                  <a:gd name="T10" fmla="*/ 1167 w 1278"/>
                  <a:gd name="T11" fmla="*/ 693 h 1193"/>
                  <a:gd name="T12" fmla="*/ 1126 w 1278"/>
                  <a:gd name="T13" fmla="*/ 651 h 1193"/>
                  <a:gd name="T14" fmla="*/ 1075 w 1278"/>
                  <a:gd name="T15" fmla="*/ 598 h 1193"/>
                  <a:gd name="T16" fmla="*/ 1068 w 1278"/>
                  <a:gd name="T17" fmla="*/ 586 h 1193"/>
                  <a:gd name="T18" fmla="*/ 1053 w 1278"/>
                  <a:gd name="T19" fmla="*/ 566 h 1193"/>
                  <a:gd name="T20" fmla="*/ 1048 w 1278"/>
                  <a:gd name="T21" fmla="*/ 581 h 1193"/>
                  <a:gd name="T22" fmla="*/ 1034 w 1278"/>
                  <a:gd name="T23" fmla="*/ 593 h 1193"/>
                  <a:gd name="T24" fmla="*/ 1034 w 1278"/>
                  <a:gd name="T25" fmla="*/ 625 h 1193"/>
                  <a:gd name="T26" fmla="*/ 956 w 1278"/>
                  <a:gd name="T27" fmla="*/ 685 h 1193"/>
                  <a:gd name="T28" fmla="*/ 925 w 1278"/>
                  <a:gd name="T29" fmla="*/ 695 h 1193"/>
                  <a:gd name="T30" fmla="*/ 884 w 1278"/>
                  <a:gd name="T31" fmla="*/ 824 h 1193"/>
                  <a:gd name="T32" fmla="*/ 864 w 1278"/>
                  <a:gd name="T33" fmla="*/ 807 h 1193"/>
                  <a:gd name="T34" fmla="*/ 850 w 1278"/>
                  <a:gd name="T35" fmla="*/ 838 h 1193"/>
                  <a:gd name="T36" fmla="*/ 833 w 1278"/>
                  <a:gd name="T37" fmla="*/ 819 h 1193"/>
                  <a:gd name="T38" fmla="*/ 814 w 1278"/>
                  <a:gd name="T39" fmla="*/ 841 h 1193"/>
                  <a:gd name="T40" fmla="*/ 751 w 1278"/>
                  <a:gd name="T41" fmla="*/ 32 h 1193"/>
                  <a:gd name="T42" fmla="*/ 445 w 1278"/>
                  <a:gd name="T43" fmla="*/ 855 h 1193"/>
                  <a:gd name="T44" fmla="*/ 431 w 1278"/>
                  <a:gd name="T45" fmla="*/ 739 h 1193"/>
                  <a:gd name="T46" fmla="*/ 404 w 1278"/>
                  <a:gd name="T47" fmla="*/ 756 h 1193"/>
                  <a:gd name="T48" fmla="*/ 378 w 1278"/>
                  <a:gd name="T49" fmla="*/ 561 h 1193"/>
                  <a:gd name="T50" fmla="*/ 375 w 1278"/>
                  <a:gd name="T51" fmla="*/ 547 h 1193"/>
                  <a:gd name="T52" fmla="*/ 368 w 1278"/>
                  <a:gd name="T53" fmla="*/ 569 h 1193"/>
                  <a:gd name="T54" fmla="*/ 351 w 1278"/>
                  <a:gd name="T55" fmla="*/ 479 h 1193"/>
                  <a:gd name="T56" fmla="*/ 341 w 1278"/>
                  <a:gd name="T57" fmla="*/ 348 h 1193"/>
                  <a:gd name="T58" fmla="*/ 324 w 1278"/>
                  <a:gd name="T59" fmla="*/ 372 h 1193"/>
                  <a:gd name="T60" fmla="*/ 312 w 1278"/>
                  <a:gd name="T61" fmla="*/ 479 h 1193"/>
                  <a:gd name="T62" fmla="*/ 295 w 1278"/>
                  <a:gd name="T63" fmla="*/ 561 h 1193"/>
                  <a:gd name="T64" fmla="*/ 290 w 1278"/>
                  <a:gd name="T65" fmla="*/ 547 h 1193"/>
                  <a:gd name="T66" fmla="*/ 288 w 1278"/>
                  <a:gd name="T67" fmla="*/ 569 h 1193"/>
                  <a:gd name="T68" fmla="*/ 269 w 1278"/>
                  <a:gd name="T69" fmla="*/ 693 h 1193"/>
                  <a:gd name="T70" fmla="*/ 269 w 1278"/>
                  <a:gd name="T71" fmla="*/ 695 h 1193"/>
                  <a:gd name="T72" fmla="*/ 261 w 1278"/>
                  <a:gd name="T73" fmla="*/ 758 h 1193"/>
                  <a:gd name="T74" fmla="*/ 244 w 1278"/>
                  <a:gd name="T75" fmla="*/ 712 h 1193"/>
                  <a:gd name="T76" fmla="*/ 232 w 1278"/>
                  <a:gd name="T77" fmla="*/ 574 h 1193"/>
                  <a:gd name="T78" fmla="*/ 208 w 1278"/>
                  <a:gd name="T79" fmla="*/ 710 h 1193"/>
                  <a:gd name="T80" fmla="*/ 194 w 1278"/>
                  <a:gd name="T81" fmla="*/ 748 h 1193"/>
                  <a:gd name="T82" fmla="*/ 174 w 1278"/>
                  <a:gd name="T83" fmla="*/ 688 h 1193"/>
                  <a:gd name="T84" fmla="*/ 172 w 1278"/>
                  <a:gd name="T85" fmla="*/ 685 h 1193"/>
                  <a:gd name="T86" fmla="*/ 169 w 1278"/>
                  <a:gd name="T87" fmla="*/ 615 h 1193"/>
                  <a:gd name="T88" fmla="*/ 167 w 1278"/>
                  <a:gd name="T89" fmla="*/ 610 h 1193"/>
                  <a:gd name="T90" fmla="*/ 157 w 1278"/>
                  <a:gd name="T91" fmla="*/ 557 h 1193"/>
                  <a:gd name="T92" fmla="*/ 148 w 1278"/>
                  <a:gd name="T93" fmla="*/ 547 h 1193"/>
                  <a:gd name="T94" fmla="*/ 123 w 1278"/>
                  <a:gd name="T95" fmla="*/ 479 h 1193"/>
                  <a:gd name="T96" fmla="*/ 123 w 1278"/>
                  <a:gd name="T97" fmla="*/ 464 h 1193"/>
                  <a:gd name="T98" fmla="*/ 121 w 1278"/>
                  <a:gd name="T99" fmla="*/ 304 h 1193"/>
                  <a:gd name="T100" fmla="*/ 97 w 1278"/>
                  <a:gd name="T101" fmla="*/ 464 h 1193"/>
                  <a:gd name="T102" fmla="*/ 94 w 1278"/>
                  <a:gd name="T103" fmla="*/ 476 h 1193"/>
                  <a:gd name="T104" fmla="*/ 70 w 1278"/>
                  <a:gd name="T105" fmla="*/ 554 h 1193"/>
                  <a:gd name="T106" fmla="*/ 60 w 1278"/>
                  <a:gd name="T107" fmla="*/ 549 h 1193"/>
                  <a:gd name="T108" fmla="*/ 48 w 1278"/>
                  <a:gd name="T109" fmla="*/ 610 h 1193"/>
                  <a:gd name="T110" fmla="*/ 41 w 1278"/>
                  <a:gd name="T111" fmla="*/ 746 h 1193"/>
                  <a:gd name="T112" fmla="*/ 17 w 1278"/>
                  <a:gd name="T113" fmla="*/ 739 h 1193"/>
                  <a:gd name="T114" fmla="*/ 7 w 1278"/>
                  <a:gd name="T115" fmla="*/ 848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8" h="1193">
                    <a:moveTo>
                      <a:pt x="12" y="306"/>
                    </a:moveTo>
                    <a:lnTo>
                      <a:pt x="0" y="304"/>
                    </a:lnTo>
                    <a:lnTo>
                      <a:pt x="0" y="1193"/>
                    </a:lnTo>
                    <a:lnTo>
                      <a:pt x="1278" y="1193"/>
                    </a:lnTo>
                    <a:lnTo>
                      <a:pt x="1278" y="836"/>
                    </a:lnTo>
                    <a:lnTo>
                      <a:pt x="1274" y="836"/>
                    </a:lnTo>
                    <a:lnTo>
                      <a:pt x="1274" y="819"/>
                    </a:lnTo>
                    <a:lnTo>
                      <a:pt x="1271" y="819"/>
                    </a:lnTo>
                    <a:lnTo>
                      <a:pt x="1271" y="819"/>
                    </a:lnTo>
                    <a:lnTo>
                      <a:pt x="1271" y="819"/>
                    </a:lnTo>
                    <a:lnTo>
                      <a:pt x="1269" y="819"/>
                    </a:lnTo>
                    <a:lnTo>
                      <a:pt x="1269" y="836"/>
                    </a:lnTo>
                    <a:lnTo>
                      <a:pt x="1257" y="836"/>
                    </a:lnTo>
                    <a:lnTo>
                      <a:pt x="1257" y="824"/>
                    </a:lnTo>
                    <a:lnTo>
                      <a:pt x="1252" y="821"/>
                    </a:lnTo>
                    <a:lnTo>
                      <a:pt x="1245" y="821"/>
                    </a:lnTo>
                    <a:lnTo>
                      <a:pt x="1245" y="807"/>
                    </a:lnTo>
                    <a:lnTo>
                      <a:pt x="1242" y="807"/>
                    </a:lnTo>
                    <a:lnTo>
                      <a:pt x="1242" y="807"/>
                    </a:lnTo>
                    <a:lnTo>
                      <a:pt x="1242" y="807"/>
                    </a:lnTo>
                    <a:lnTo>
                      <a:pt x="1240" y="807"/>
                    </a:lnTo>
                    <a:lnTo>
                      <a:pt x="1240" y="821"/>
                    </a:lnTo>
                    <a:lnTo>
                      <a:pt x="1220" y="821"/>
                    </a:lnTo>
                    <a:lnTo>
                      <a:pt x="1223" y="702"/>
                    </a:lnTo>
                    <a:lnTo>
                      <a:pt x="1206" y="700"/>
                    </a:lnTo>
                    <a:lnTo>
                      <a:pt x="1182" y="700"/>
                    </a:lnTo>
                    <a:lnTo>
                      <a:pt x="1174" y="695"/>
                    </a:lnTo>
                    <a:lnTo>
                      <a:pt x="1174" y="695"/>
                    </a:lnTo>
                    <a:lnTo>
                      <a:pt x="1172" y="695"/>
                    </a:lnTo>
                    <a:lnTo>
                      <a:pt x="1167" y="693"/>
                    </a:lnTo>
                    <a:lnTo>
                      <a:pt x="1167" y="688"/>
                    </a:lnTo>
                    <a:lnTo>
                      <a:pt x="1155" y="685"/>
                    </a:lnTo>
                    <a:lnTo>
                      <a:pt x="1150" y="685"/>
                    </a:lnTo>
                    <a:lnTo>
                      <a:pt x="1140" y="668"/>
                    </a:lnTo>
                    <a:lnTo>
                      <a:pt x="1126" y="651"/>
                    </a:lnTo>
                    <a:lnTo>
                      <a:pt x="1111" y="639"/>
                    </a:lnTo>
                    <a:lnTo>
                      <a:pt x="1092" y="629"/>
                    </a:lnTo>
                    <a:lnTo>
                      <a:pt x="1073" y="625"/>
                    </a:lnTo>
                    <a:lnTo>
                      <a:pt x="1073" y="598"/>
                    </a:lnTo>
                    <a:lnTo>
                      <a:pt x="1075" y="598"/>
                    </a:lnTo>
                    <a:lnTo>
                      <a:pt x="1075" y="595"/>
                    </a:lnTo>
                    <a:lnTo>
                      <a:pt x="1075" y="593"/>
                    </a:lnTo>
                    <a:lnTo>
                      <a:pt x="1073" y="593"/>
                    </a:lnTo>
                    <a:lnTo>
                      <a:pt x="1070" y="588"/>
                    </a:lnTo>
                    <a:lnTo>
                      <a:pt x="1068" y="586"/>
                    </a:lnTo>
                    <a:lnTo>
                      <a:pt x="1063" y="583"/>
                    </a:lnTo>
                    <a:lnTo>
                      <a:pt x="1061" y="581"/>
                    </a:lnTo>
                    <a:lnTo>
                      <a:pt x="1056" y="581"/>
                    </a:lnTo>
                    <a:lnTo>
                      <a:pt x="1056" y="566"/>
                    </a:lnTo>
                    <a:lnTo>
                      <a:pt x="1053" y="566"/>
                    </a:lnTo>
                    <a:lnTo>
                      <a:pt x="1053" y="564"/>
                    </a:lnTo>
                    <a:lnTo>
                      <a:pt x="1053" y="566"/>
                    </a:lnTo>
                    <a:lnTo>
                      <a:pt x="1048" y="566"/>
                    </a:lnTo>
                    <a:lnTo>
                      <a:pt x="1048" y="581"/>
                    </a:lnTo>
                    <a:lnTo>
                      <a:pt x="1048" y="581"/>
                    </a:lnTo>
                    <a:lnTo>
                      <a:pt x="1046" y="581"/>
                    </a:lnTo>
                    <a:lnTo>
                      <a:pt x="1041" y="583"/>
                    </a:lnTo>
                    <a:lnTo>
                      <a:pt x="1039" y="586"/>
                    </a:lnTo>
                    <a:lnTo>
                      <a:pt x="1036" y="588"/>
                    </a:lnTo>
                    <a:lnTo>
                      <a:pt x="1034" y="593"/>
                    </a:lnTo>
                    <a:lnTo>
                      <a:pt x="1031" y="593"/>
                    </a:lnTo>
                    <a:lnTo>
                      <a:pt x="1031" y="595"/>
                    </a:lnTo>
                    <a:lnTo>
                      <a:pt x="1031" y="598"/>
                    </a:lnTo>
                    <a:lnTo>
                      <a:pt x="1034" y="598"/>
                    </a:lnTo>
                    <a:lnTo>
                      <a:pt x="1034" y="625"/>
                    </a:lnTo>
                    <a:lnTo>
                      <a:pt x="1014" y="629"/>
                    </a:lnTo>
                    <a:lnTo>
                      <a:pt x="995" y="639"/>
                    </a:lnTo>
                    <a:lnTo>
                      <a:pt x="978" y="651"/>
                    </a:lnTo>
                    <a:lnTo>
                      <a:pt x="964" y="668"/>
                    </a:lnTo>
                    <a:lnTo>
                      <a:pt x="956" y="685"/>
                    </a:lnTo>
                    <a:lnTo>
                      <a:pt x="949" y="685"/>
                    </a:lnTo>
                    <a:lnTo>
                      <a:pt x="937" y="688"/>
                    </a:lnTo>
                    <a:lnTo>
                      <a:pt x="937" y="693"/>
                    </a:lnTo>
                    <a:lnTo>
                      <a:pt x="935" y="695"/>
                    </a:lnTo>
                    <a:lnTo>
                      <a:pt x="925" y="695"/>
                    </a:lnTo>
                    <a:lnTo>
                      <a:pt x="925" y="697"/>
                    </a:lnTo>
                    <a:lnTo>
                      <a:pt x="922" y="700"/>
                    </a:lnTo>
                    <a:lnTo>
                      <a:pt x="896" y="700"/>
                    </a:lnTo>
                    <a:lnTo>
                      <a:pt x="881" y="702"/>
                    </a:lnTo>
                    <a:lnTo>
                      <a:pt x="884" y="824"/>
                    </a:lnTo>
                    <a:lnTo>
                      <a:pt x="867" y="824"/>
                    </a:lnTo>
                    <a:lnTo>
                      <a:pt x="867" y="807"/>
                    </a:lnTo>
                    <a:lnTo>
                      <a:pt x="864" y="807"/>
                    </a:lnTo>
                    <a:lnTo>
                      <a:pt x="864" y="807"/>
                    </a:lnTo>
                    <a:lnTo>
                      <a:pt x="864" y="807"/>
                    </a:lnTo>
                    <a:lnTo>
                      <a:pt x="862" y="807"/>
                    </a:lnTo>
                    <a:lnTo>
                      <a:pt x="862" y="824"/>
                    </a:lnTo>
                    <a:lnTo>
                      <a:pt x="855" y="824"/>
                    </a:lnTo>
                    <a:lnTo>
                      <a:pt x="850" y="826"/>
                    </a:lnTo>
                    <a:lnTo>
                      <a:pt x="850" y="838"/>
                    </a:lnTo>
                    <a:lnTo>
                      <a:pt x="850" y="838"/>
                    </a:lnTo>
                    <a:lnTo>
                      <a:pt x="835" y="838"/>
                    </a:lnTo>
                    <a:lnTo>
                      <a:pt x="833" y="819"/>
                    </a:lnTo>
                    <a:lnTo>
                      <a:pt x="833" y="819"/>
                    </a:lnTo>
                    <a:lnTo>
                      <a:pt x="833" y="819"/>
                    </a:lnTo>
                    <a:lnTo>
                      <a:pt x="830" y="819"/>
                    </a:lnTo>
                    <a:lnTo>
                      <a:pt x="828" y="819"/>
                    </a:lnTo>
                    <a:lnTo>
                      <a:pt x="828" y="838"/>
                    </a:lnTo>
                    <a:lnTo>
                      <a:pt x="818" y="838"/>
                    </a:lnTo>
                    <a:lnTo>
                      <a:pt x="814" y="841"/>
                    </a:lnTo>
                    <a:lnTo>
                      <a:pt x="814" y="841"/>
                    </a:lnTo>
                    <a:lnTo>
                      <a:pt x="809" y="841"/>
                    </a:lnTo>
                    <a:lnTo>
                      <a:pt x="811" y="90"/>
                    </a:lnTo>
                    <a:lnTo>
                      <a:pt x="782" y="32"/>
                    </a:lnTo>
                    <a:lnTo>
                      <a:pt x="751" y="32"/>
                    </a:lnTo>
                    <a:lnTo>
                      <a:pt x="734" y="0"/>
                    </a:lnTo>
                    <a:lnTo>
                      <a:pt x="508" y="0"/>
                    </a:lnTo>
                    <a:lnTo>
                      <a:pt x="508" y="32"/>
                    </a:lnTo>
                    <a:lnTo>
                      <a:pt x="448" y="32"/>
                    </a:lnTo>
                    <a:lnTo>
                      <a:pt x="445" y="855"/>
                    </a:lnTo>
                    <a:lnTo>
                      <a:pt x="438" y="848"/>
                    </a:lnTo>
                    <a:lnTo>
                      <a:pt x="438" y="836"/>
                    </a:lnTo>
                    <a:lnTo>
                      <a:pt x="436" y="746"/>
                    </a:lnTo>
                    <a:lnTo>
                      <a:pt x="436" y="739"/>
                    </a:lnTo>
                    <a:lnTo>
                      <a:pt x="431" y="739"/>
                    </a:lnTo>
                    <a:lnTo>
                      <a:pt x="429" y="739"/>
                    </a:lnTo>
                    <a:lnTo>
                      <a:pt x="429" y="746"/>
                    </a:lnTo>
                    <a:lnTo>
                      <a:pt x="429" y="758"/>
                    </a:lnTo>
                    <a:lnTo>
                      <a:pt x="404" y="758"/>
                    </a:lnTo>
                    <a:lnTo>
                      <a:pt x="404" y="756"/>
                    </a:lnTo>
                    <a:lnTo>
                      <a:pt x="399" y="746"/>
                    </a:lnTo>
                    <a:lnTo>
                      <a:pt x="399" y="693"/>
                    </a:lnTo>
                    <a:lnTo>
                      <a:pt x="392" y="676"/>
                    </a:lnTo>
                    <a:lnTo>
                      <a:pt x="392" y="622"/>
                    </a:lnTo>
                    <a:lnTo>
                      <a:pt x="378" y="561"/>
                    </a:lnTo>
                    <a:lnTo>
                      <a:pt x="380" y="561"/>
                    </a:lnTo>
                    <a:lnTo>
                      <a:pt x="380" y="547"/>
                    </a:lnTo>
                    <a:lnTo>
                      <a:pt x="375" y="547"/>
                    </a:lnTo>
                    <a:lnTo>
                      <a:pt x="375" y="547"/>
                    </a:lnTo>
                    <a:lnTo>
                      <a:pt x="375" y="547"/>
                    </a:lnTo>
                    <a:lnTo>
                      <a:pt x="368" y="547"/>
                    </a:lnTo>
                    <a:lnTo>
                      <a:pt x="368" y="554"/>
                    </a:lnTo>
                    <a:lnTo>
                      <a:pt x="366" y="554"/>
                    </a:lnTo>
                    <a:lnTo>
                      <a:pt x="366" y="569"/>
                    </a:lnTo>
                    <a:lnTo>
                      <a:pt x="368" y="569"/>
                    </a:lnTo>
                    <a:lnTo>
                      <a:pt x="358" y="610"/>
                    </a:lnTo>
                    <a:lnTo>
                      <a:pt x="346" y="481"/>
                    </a:lnTo>
                    <a:lnTo>
                      <a:pt x="351" y="481"/>
                    </a:lnTo>
                    <a:lnTo>
                      <a:pt x="351" y="479"/>
                    </a:lnTo>
                    <a:lnTo>
                      <a:pt x="351" y="479"/>
                    </a:lnTo>
                    <a:lnTo>
                      <a:pt x="351" y="469"/>
                    </a:lnTo>
                    <a:lnTo>
                      <a:pt x="344" y="469"/>
                    </a:lnTo>
                    <a:lnTo>
                      <a:pt x="337" y="372"/>
                    </a:lnTo>
                    <a:lnTo>
                      <a:pt x="341" y="372"/>
                    </a:lnTo>
                    <a:lnTo>
                      <a:pt x="341" y="348"/>
                    </a:lnTo>
                    <a:lnTo>
                      <a:pt x="341" y="309"/>
                    </a:lnTo>
                    <a:lnTo>
                      <a:pt x="320" y="309"/>
                    </a:lnTo>
                    <a:lnTo>
                      <a:pt x="320" y="348"/>
                    </a:lnTo>
                    <a:lnTo>
                      <a:pt x="320" y="372"/>
                    </a:lnTo>
                    <a:lnTo>
                      <a:pt x="324" y="372"/>
                    </a:lnTo>
                    <a:lnTo>
                      <a:pt x="324" y="374"/>
                    </a:lnTo>
                    <a:lnTo>
                      <a:pt x="317" y="469"/>
                    </a:lnTo>
                    <a:lnTo>
                      <a:pt x="312" y="469"/>
                    </a:lnTo>
                    <a:lnTo>
                      <a:pt x="312" y="472"/>
                    </a:lnTo>
                    <a:lnTo>
                      <a:pt x="312" y="479"/>
                    </a:lnTo>
                    <a:lnTo>
                      <a:pt x="312" y="481"/>
                    </a:lnTo>
                    <a:lnTo>
                      <a:pt x="317" y="481"/>
                    </a:lnTo>
                    <a:lnTo>
                      <a:pt x="305" y="610"/>
                    </a:lnTo>
                    <a:lnTo>
                      <a:pt x="295" y="566"/>
                    </a:lnTo>
                    <a:lnTo>
                      <a:pt x="295" y="561"/>
                    </a:lnTo>
                    <a:lnTo>
                      <a:pt x="298" y="561"/>
                    </a:lnTo>
                    <a:lnTo>
                      <a:pt x="298" y="547"/>
                    </a:lnTo>
                    <a:lnTo>
                      <a:pt x="290" y="547"/>
                    </a:lnTo>
                    <a:lnTo>
                      <a:pt x="290" y="547"/>
                    </a:lnTo>
                    <a:lnTo>
                      <a:pt x="290" y="547"/>
                    </a:lnTo>
                    <a:lnTo>
                      <a:pt x="286" y="547"/>
                    </a:lnTo>
                    <a:lnTo>
                      <a:pt x="286" y="554"/>
                    </a:lnTo>
                    <a:lnTo>
                      <a:pt x="286" y="554"/>
                    </a:lnTo>
                    <a:lnTo>
                      <a:pt x="286" y="569"/>
                    </a:lnTo>
                    <a:lnTo>
                      <a:pt x="288" y="569"/>
                    </a:lnTo>
                    <a:lnTo>
                      <a:pt x="276" y="622"/>
                    </a:lnTo>
                    <a:lnTo>
                      <a:pt x="276" y="622"/>
                    </a:lnTo>
                    <a:lnTo>
                      <a:pt x="274" y="627"/>
                    </a:lnTo>
                    <a:lnTo>
                      <a:pt x="274" y="676"/>
                    </a:lnTo>
                    <a:lnTo>
                      <a:pt x="269" y="693"/>
                    </a:lnTo>
                    <a:lnTo>
                      <a:pt x="269" y="693"/>
                    </a:lnTo>
                    <a:lnTo>
                      <a:pt x="269" y="693"/>
                    </a:lnTo>
                    <a:lnTo>
                      <a:pt x="269" y="695"/>
                    </a:lnTo>
                    <a:lnTo>
                      <a:pt x="269" y="695"/>
                    </a:lnTo>
                    <a:lnTo>
                      <a:pt x="269" y="695"/>
                    </a:lnTo>
                    <a:lnTo>
                      <a:pt x="269" y="695"/>
                    </a:lnTo>
                    <a:lnTo>
                      <a:pt x="269" y="746"/>
                    </a:lnTo>
                    <a:lnTo>
                      <a:pt x="261" y="756"/>
                    </a:lnTo>
                    <a:lnTo>
                      <a:pt x="261" y="756"/>
                    </a:lnTo>
                    <a:lnTo>
                      <a:pt x="261" y="758"/>
                    </a:lnTo>
                    <a:lnTo>
                      <a:pt x="261" y="758"/>
                    </a:lnTo>
                    <a:lnTo>
                      <a:pt x="252" y="758"/>
                    </a:lnTo>
                    <a:lnTo>
                      <a:pt x="252" y="748"/>
                    </a:lnTo>
                    <a:lnTo>
                      <a:pt x="244" y="748"/>
                    </a:lnTo>
                    <a:lnTo>
                      <a:pt x="244" y="712"/>
                    </a:lnTo>
                    <a:lnTo>
                      <a:pt x="244" y="710"/>
                    </a:lnTo>
                    <a:lnTo>
                      <a:pt x="240" y="710"/>
                    </a:lnTo>
                    <a:lnTo>
                      <a:pt x="225" y="574"/>
                    </a:lnTo>
                    <a:lnTo>
                      <a:pt x="225" y="574"/>
                    </a:lnTo>
                    <a:lnTo>
                      <a:pt x="232" y="574"/>
                    </a:lnTo>
                    <a:lnTo>
                      <a:pt x="232" y="537"/>
                    </a:lnTo>
                    <a:lnTo>
                      <a:pt x="215" y="537"/>
                    </a:lnTo>
                    <a:lnTo>
                      <a:pt x="215" y="574"/>
                    </a:lnTo>
                    <a:lnTo>
                      <a:pt x="220" y="574"/>
                    </a:lnTo>
                    <a:lnTo>
                      <a:pt x="208" y="710"/>
                    </a:lnTo>
                    <a:lnTo>
                      <a:pt x="208" y="710"/>
                    </a:lnTo>
                    <a:lnTo>
                      <a:pt x="208" y="710"/>
                    </a:lnTo>
                    <a:lnTo>
                      <a:pt x="201" y="710"/>
                    </a:lnTo>
                    <a:lnTo>
                      <a:pt x="201" y="748"/>
                    </a:lnTo>
                    <a:lnTo>
                      <a:pt x="194" y="748"/>
                    </a:lnTo>
                    <a:lnTo>
                      <a:pt x="194" y="758"/>
                    </a:lnTo>
                    <a:lnTo>
                      <a:pt x="179" y="758"/>
                    </a:lnTo>
                    <a:lnTo>
                      <a:pt x="179" y="758"/>
                    </a:lnTo>
                    <a:lnTo>
                      <a:pt x="174" y="746"/>
                    </a:lnTo>
                    <a:lnTo>
                      <a:pt x="174" y="688"/>
                    </a:lnTo>
                    <a:lnTo>
                      <a:pt x="174" y="688"/>
                    </a:lnTo>
                    <a:lnTo>
                      <a:pt x="174" y="688"/>
                    </a:lnTo>
                    <a:lnTo>
                      <a:pt x="172" y="688"/>
                    </a:lnTo>
                    <a:lnTo>
                      <a:pt x="172" y="685"/>
                    </a:lnTo>
                    <a:lnTo>
                      <a:pt x="172" y="685"/>
                    </a:lnTo>
                    <a:lnTo>
                      <a:pt x="172" y="685"/>
                    </a:lnTo>
                    <a:lnTo>
                      <a:pt x="169" y="683"/>
                    </a:lnTo>
                    <a:lnTo>
                      <a:pt x="169" y="617"/>
                    </a:lnTo>
                    <a:lnTo>
                      <a:pt x="169" y="617"/>
                    </a:lnTo>
                    <a:lnTo>
                      <a:pt x="169" y="615"/>
                    </a:lnTo>
                    <a:lnTo>
                      <a:pt x="167" y="615"/>
                    </a:lnTo>
                    <a:lnTo>
                      <a:pt x="167" y="615"/>
                    </a:lnTo>
                    <a:lnTo>
                      <a:pt x="167" y="610"/>
                    </a:lnTo>
                    <a:lnTo>
                      <a:pt x="167" y="610"/>
                    </a:lnTo>
                    <a:lnTo>
                      <a:pt x="167" y="610"/>
                    </a:lnTo>
                    <a:lnTo>
                      <a:pt x="165" y="610"/>
                    </a:lnTo>
                    <a:lnTo>
                      <a:pt x="165" y="610"/>
                    </a:lnTo>
                    <a:lnTo>
                      <a:pt x="155" y="569"/>
                    </a:lnTo>
                    <a:lnTo>
                      <a:pt x="157" y="569"/>
                    </a:lnTo>
                    <a:lnTo>
                      <a:pt x="157" y="557"/>
                    </a:lnTo>
                    <a:lnTo>
                      <a:pt x="155" y="557"/>
                    </a:lnTo>
                    <a:lnTo>
                      <a:pt x="155" y="547"/>
                    </a:lnTo>
                    <a:lnTo>
                      <a:pt x="148" y="547"/>
                    </a:lnTo>
                    <a:lnTo>
                      <a:pt x="148" y="547"/>
                    </a:lnTo>
                    <a:lnTo>
                      <a:pt x="148" y="547"/>
                    </a:lnTo>
                    <a:lnTo>
                      <a:pt x="143" y="547"/>
                    </a:lnTo>
                    <a:lnTo>
                      <a:pt x="143" y="561"/>
                    </a:lnTo>
                    <a:lnTo>
                      <a:pt x="145" y="561"/>
                    </a:lnTo>
                    <a:lnTo>
                      <a:pt x="136" y="603"/>
                    </a:lnTo>
                    <a:lnTo>
                      <a:pt x="123" y="479"/>
                    </a:lnTo>
                    <a:lnTo>
                      <a:pt x="131" y="476"/>
                    </a:lnTo>
                    <a:lnTo>
                      <a:pt x="131" y="476"/>
                    </a:lnTo>
                    <a:lnTo>
                      <a:pt x="131" y="467"/>
                    </a:lnTo>
                    <a:lnTo>
                      <a:pt x="128" y="464"/>
                    </a:lnTo>
                    <a:lnTo>
                      <a:pt x="123" y="464"/>
                    </a:lnTo>
                    <a:lnTo>
                      <a:pt x="116" y="370"/>
                    </a:lnTo>
                    <a:lnTo>
                      <a:pt x="116" y="370"/>
                    </a:lnTo>
                    <a:lnTo>
                      <a:pt x="121" y="370"/>
                    </a:lnTo>
                    <a:lnTo>
                      <a:pt x="121" y="343"/>
                    </a:lnTo>
                    <a:lnTo>
                      <a:pt x="121" y="304"/>
                    </a:lnTo>
                    <a:lnTo>
                      <a:pt x="99" y="304"/>
                    </a:lnTo>
                    <a:lnTo>
                      <a:pt x="99" y="343"/>
                    </a:lnTo>
                    <a:lnTo>
                      <a:pt x="99" y="370"/>
                    </a:lnTo>
                    <a:lnTo>
                      <a:pt x="104" y="370"/>
                    </a:lnTo>
                    <a:lnTo>
                      <a:pt x="97" y="464"/>
                    </a:lnTo>
                    <a:lnTo>
                      <a:pt x="90" y="464"/>
                    </a:lnTo>
                    <a:lnTo>
                      <a:pt x="90" y="474"/>
                    </a:lnTo>
                    <a:lnTo>
                      <a:pt x="90" y="474"/>
                    </a:lnTo>
                    <a:lnTo>
                      <a:pt x="90" y="476"/>
                    </a:lnTo>
                    <a:lnTo>
                      <a:pt x="94" y="476"/>
                    </a:lnTo>
                    <a:lnTo>
                      <a:pt x="82" y="603"/>
                    </a:lnTo>
                    <a:lnTo>
                      <a:pt x="75" y="569"/>
                    </a:lnTo>
                    <a:lnTo>
                      <a:pt x="75" y="569"/>
                    </a:lnTo>
                    <a:lnTo>
                      <a:pt x="75" y="554"/>
                    </a:lnTo>
                    <a:lnTo>
                      <a:pt x="70" y="554"/>
                    </a:lnTo>
                    <a:lnTo>
                      <a:pt x="70" y="549"/>
                    </a:lnTo>
                    <a:lnTo>
                      <a:pt x="65" y="549"/>
                    </a:lnTo>
                    <a:lnTo>
                      <a:pt x="65" y="547"/>
                    </a:lnTo>
                    <a:lnTo>
                      <a:pt x="65" y="549"/>
                    </a:lnTo>
                    <a:lnTo>
                      <a:pt x="60" y="549"/>
                    </a:lnTo>
                    <a:lnTo>
                      <a:pt x="60" y="561"/>
                    </a:lnTo>
                    <a:lnTo>
                      <a:pt x="63" y="561"/>
                    </a:lnTo>
                    <a:lnTo>
                      <a:pt x="51" y="610"/>
                    </a:lnTo>
                    <a:lnTo>
                      <a:pt x="51" y="610"/>
                    </a:lnTo>
                    <a:lnTo>
                      <a:pt x="48" y="610"/>
                    </a:lnTo>
                    <a:lnTo>
                      <a:pt x="46" y="610"/>
                    </a:lnTo>
                    <a:lnTo>
                      <a:pt x="46" y="683"/>
                    </a:lnTo>
                    <a:lnTo>
                      <a:pt x="41" y="685"/>
                    </a:lnTo>
                    <a:lnTo>
                      <a:pt x="41" y="700"/>
                    </a:lnTo>
                    <a:lnTo>
                      <a:pt x="41" y="746"/>
                    </a:lnTo>
                    <a:lnTo>
                      <a:pt x="34" y="756"/>
                    </a:lnTo>
                    <a:lnTo>
                      <a:pt x="34" y="758"/>
                    </a:lnTo>
                    <a:lnTo>
                      <a:pt x="19" y="758"/>
                    </a:lnTo>
                    <a:lnTo>
                      <a:pt x="17" y="746"/>
                    </a:lnTo>
                    <a:lnTo>
                      <a:pt x="17" y="739"/>
                    </a:lnTo>
                    <a:lnTo>
                      <a:pt x="17" y="739"/>
                    </a:lnTo>
                    <a:lnTo>
                      <a:pt x="12" y="739"/>
                    </a:lnTo>
                    <a:lnTo>
                      <a:pt x="12" y="746"/>
                    </a:lnTo>
                    <a:lnTo>
                      <a:pt x="7" y="836"/>
                    </a:lnTo>
                    <a:lnTo>
                      <a:pt x="7" y="848"/>
                    </a:lnTo>
                    <a:lnTo>
                      <a:pt x="5" y="851"/>
                    </a:lnTo>
                    <a:lnTo>
                      <a:pt x="10" y="365"/>
                    </a:lnTo>
                    <a:lnTo>
                      <a:pt x="12" y="306"/>
                    </a:lnTo>
                    <a:close/>
                  </a:path>
                </a:pathLst>
              </a:custGeom>
              <a:solidFill>
                <a:schemeClr val="bg1">
                  <a:lumMod val="95000"/>
                </a:schemeClr>
              </a:solidFill>
              <a:ln>
                <a:noFill/>
              </a:ln>
            </p:spPr>
            <p:txBody>
              <a:bodyPr anchor="ctr"/>
              <a:lstStyle/>
              <a:p>
                <a:pPr algn="ctr"/>
                <a:endParaRPr/>
              </a:p>
            </p:txBody>
          </p:sp>
          <p:sp>
            <p:nvSpPr>
              <p:cNvPr id="33" name="ïslïḍe"/>
              <p:cNvSpPr/>
              <p:nvPr/>
            </p:nvSpPr>
            <p:spPr bwMode="auto">
              <a:xfrm>
                <a:off x="4070883" y="4596926"/>
                <a:ext cx="2027498" cy="2261074"/>
              </a:xfrm>
              <a:custGeom>
                <a:avLst/>
                <a:gdLst>
                  <a:gd name="T0" fmla="*/ 1242 w 1276"/>
                  <a:gd name="T1" fmla="*/ 529 h 1423"/>
                  <a:gd name="T2" fmla="*/ 1225 w 1276"/>
                  <a:gd name="T3" fmla="*/ 527 h 1423"/>
                  <a:gd name="T4" fmla="*/ 1196 w 1276"/>
                  <a:gd name="T5" fmla="*/ 505 h 1423"/>
                  <a:gd name="T6" fmla="*/ 1172 w 1276"/>
                  <a:gd name="T7" fmla="*/ 483 h 1423"/>
                  <a:gd name="T8" fmla="*/ 1148 w 1276"/>
                  <a:gd name="T9" fmla="*/ 461 h 1423"/>
                  <a:gd name="T10" fmla="*/ 1126 w 1276"/>
                  <a:gd name="T11" fmla="*/ 439 h 1423"/>
                  <a:gd name="T12" fmla="*/ 1043 w 1276"/>
                  <a:gd name="T13" fmla="*/ 434 h 1423"/>
                  <a:gd name="T14" fmla="*/ 1005 w 1276"/>
                  <a:gd name="T15" fmla="*/ 447 h 1423"/>
                  <a:gd name="T16" fmla="*/ 985 w 1276"/>
                  <a:gd name="T17" fmla="*/ 461 h 1423"/>
                  <a:gd name="T18" fmla="*/ 981 w 1276"/>
                  <a:gd name="T19" fmla="*/ 481 h 1423"/>
                  <a:gd name="T20" fmla="*/ 959 w 1276"/>
                  <a:gd name="T21" fmla="*/ 495 h 1423"/>
                  <a:gd name="T22" fmla="*/ 939 w 1276"/>
                  <a:gd name="T23" fmla="*/ 505 h 1423"/>
                  <a:gd name="T24" fmla="*/ 937 w 1276"/>
                  <a:gd name="T25" fmla="*/ 524 h 1423"/>
                  <a:gd name="T26" fmla="*/ 913 w 1276"/>
                  <a:gd name="T27" fmla="*/ 529 h 1423"/>
                  <a:gd name="T28" fmla="*/ 840 w 1276"/>
                  <a:gd name="T29" fmla="*/ 534 h 1423"/>
                  <a:gd name="T30" fmla="*/ 840 w 1276"/>
                  <a:gd name="T31" fmla="*/ 595 h 1423"/>
                  <a:gd name="T32" fmla="*/ 765 w 1276"/>
                  <a:gd name="T33" fmla="*/ 876 h 1423"/>
                  <a:gd name="T34" fmla="*/ 763 w 1276"/>
                  <a:gd name="T35" fmla="*/ 544 h 1423"/>
                  <a:gd name="T36" fmla="*/ 690 w 1276"/>
                  <a:gd name="T37" fmla="*/ 539 h 1423"/>
                  <a:gd name="T38" fmla="*/ 668 w 1276"/>
                  <a:gd name="T39" fmla="*/ 534 h 1423"/>
                  <a:gd name="T40" fmla="*/ 661 w 1276"/>
                  <a:gd name="T41" fmla="*/ 515 h 1423"/>
                  <a:gd name="T42" fmla="*/ 646 w 1276"/>
                  <a:gd name="T43" fmla="*/ 502 h 1423"/>
                  <a:gd name="T44" fmla="*/ 625 w 1276"/>
                  <a:gd name="T45" fmla="*/ 490 h 1423"/>
                  <a:gd name="T46" fmla="*/ 617 w 1276"/>
                  <a:gd name="T47" fmla="*/ 471 h 1423"/>
                  <a:gd name="T48" fmla="*/ 600 w 1276"/>
                  <a:gd name="T49" fmla="*/ 456 h 1423"/>
                  <a:gd name="T50" fmla="*/ 559 w 1276"/>
                  <a:gd name="T51" fmla="*/ 444 h 1423"/>
                  <a:gd name="T52" fmla="*/ 482 w 1276"/>
                  <a:gd name="T53" fmla="*/ 449 h 1423"/>
                  <a:gd name="T54" fmla="*/ 460 w 1276"/>
                  <a:gd name="T55" fmla="*/ 471 h 1423"/>
                  <a:gd name="T56" fmla="*/ 436 w 1276"/>
                  <a:gd name="T57" fmla="*/ 493 h 1423"/>
                  <a:gd name="T58" fmla="*/ 411 w 1276"/>
                  <a:gd name="T59" fmla="*/ 512 h 1423"/>
                  <a:gd name="T60" fmla="*/ 385 w 1276"/>
                  <a:gd name="T61" fmla="*/ 534 h 1423"/>
                  <a:gd name="T62" fmla="*/ 382 w 1276"/>
                  <a:gd name="T63" fmla="*/ 536 h 1423"/>
                  <a:gd name="T64" fmla="*/ 322 w 1276"/>
                  <a:gd name="T65" fmla="*/ 328 h 1423"/>
                  <a:gd name="T66" fmla="*/ 264 w 1276"/>
                  <a:gd name="T67" fmla="*/ 274 h 1423"/>
                  <a:gd name="T68" fmla="*/ 201 w 1276"/>
                  <a:gd name="T69" fmla="*/ 233 h 1423"/>
                  <a:gd name="T70" fmla="*/ 179 w 1276"/>
                  <a:gd name="T71" fmla="*/ 328 h 1423"/>
                  <a:gd name="T72" fmla="*/ 181 w 1276"/>
                  <a:gd name="T73" fmla="*/ 255 h 1423"/>
                  <a:gd name="T74" fmla="*/ 179 w 1276"/>
                  <a:gd name="T75" fmla="*/ 252 h 1423"/>
                  <a:gd name="T76" fmla="*/ 181 w 1276"/>
                  <a:gd name="T77" fmla="*/ 213 h 1423"/>
                  <a:gd name="T78" fmla="*/ 179 w 1276"/>
                  <a:gd name="T79" fmla="*/ 213 h 1423"/>
                  <a:gd name="T80" fmla="*/ 181 w 1276"/>
                  <a:gd name="T81" fmla="*/ 174 h 1423"/>
                  <a:gd name="T82" fmla="*/ 179 w 1276"/>
                  <a:gd name="T83" fmla="*/ 172 h 1423"/>
                  <a:gd name="T84" fmla="*/ 116 w 1276"/>
                  <a:gd name="T85" fmla="*/ 109 h 1423"/>
                  <a:gd name="T86" fmla="*/ 29 w 1276"/>
                  <a:gd name="T87" fmla="*/ 104 h 1423"/>
                  <a:gd name="T88" fmla="*/ 29 w 1276"/>
                  <a:gd name="T89" fmla="*/ 31 h 1423"/>
                  <a:gd name="T90" fmla="*/ 29 w 1276"/>
                  <a:gd name="T91" fmla="*/ 9 h 1423"/>
                  <a:gd name="T92" fmla="*/ 29 w 1276"/>
                  <a:gd name="T93" fmla="*/ 0 h 1423"/>
                  <a:gd name="T94" fmla="*/ 0 w 1276"/>
                  <a:gd name="T95" fmla="*/ 1423 h 1423"/>
                  <a:gd name="T96" fmla="*/ 1276 w 1276"/>
                  <a:gd name="T97" fmla="*/ 534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6" h="1423">
                    <a:moveTo>
                      <a:pt x="1276" y="534"/>
                    </a:moveTo>
                    <a:lnTo>
                      <a:pt x="1242" y="529"/>
                    </a:lnTo>
                    <a:lnTo>
                      <a:pt x="1223" y="532"/>
                    </a:lnTo>
                    <a:lnTo>
                      <a:pt x="1225" y="527"/>
                    </a:lnTo>
                    <a:lnTo>
                      <a:pt x="1196" y="524"/>
                    </a:lnTo>
                    <a:lnTo>
                      <a:pt x="1196" y="505"/>
                    </a:lnTo>
                    <a:lnTo>
                      <a:pt x="1172" y="502"/>
                    </a:lnTo>
                    <a:lnTo>
                      <a:pt x="1172" y="483"/>
                    </a:lnTo>
                    <a:lnTo>
                      <a:pt x="1148" y="481"/>
                    </a:lnTo>
                    <a:lnTo>
                      <a:pt x="1148" y="461"/>
                    </a:lnTo>
                    <a:lnTo>
                      <a:pt x="1123" y="459"/>
                    </a:lnTo>
                    <a:lnTo>
                      <a:pt x="1126" y="439"/>
                    </a:lnTo>
                    <a:lnTo>
                      <a:pt x="1094" y="434"/>
                    </a:lnTo>
                    <a:lnTo>
                      <a:pt x="1043" y="434"/>
                    </a:lnTo>
                    <a:lnTo>
                      <a:pt x="1007" y="439"/>
                    </a:lnTo>
                    <a:lnTo>
                      <a:pt x="1005" y="447"/>
                    </a:lnTo>
                    <a:lnTo>
                      <a:pt x="1005" y="459"/>
                    </a:lnTo>
                    <a:lnTo>
                      <a:pt x="985" y="461"/>
                    </a:lnTo>
                    <a:lnTo>
                      <a:pt x="983" y="471"/>
                    </a:lnTo>
                    <a:lnTo>
                      <a:pt x="981" y="481"/>
                    </a:lnTo>
                    <a:lnTo>
                      <a:pt x="964" y="483"/>
                    </a:lnTo>
                    <a:lnTo>
                      <a:pt x="959" y="495"/>
                    </a:lnTo>
                    <a:lnTo>
                      <a:pt x="959" y="502"/>
                    </a:lnTo>
                    <a:lnTo>
                      <a:pt x="939" y="505"/>
                    </a:lnTo>
                    <a:lnTo>
                      <a:pt x="937" y="517"/>
                    </a:lnTo>
                    <a:lnTo>
                      <a:pt x="937" y="524"/>
                    </a:lnTo>
                    <a:lnTo>
                      <a:pt x="915" y="527"/>
                    </a:lnTo>
                    <a:lnTo>
                      <a:pt x="913" y="529"/>
                    </a:lnTo>
                    <a:lnTo>
                      <a:pt x="893" y="527"/>
                    </a:lnTo>
                    <a:lnTo>
                      <a:pt x="840" y="534"/>
                    </a:lnTo>
                    <a:lnTo>
                      <a:pt x="840" y="595"/>
                    </a:lnTo>
                    <a:lnTo>
                      <a:pt x="840" y="595"/>
                    </a:lnTo>
                    <a:lnTo>
                      <a:pt x="840" y="876"/>
                    </a:lnTo>
                    <a:lnTo>
                      <a:pt x="765" y="876"/>
                    </a:lnTo>
                    <a:lnTo>
                      <a:pt x="763" y="600"/>
                    </a:lnTo>
                    <a:lnTo>
                      <a:pt x="763" y="544"/>
                    </a:lnTo>
                    <a:lnTo>
                      <a:pt x="707" y="536"/>
                    </a:lnTo>
                    <a:lnTo>
                      <a:pt x="690" y="539"/>
                    </a:lnTo>
                    <a:lnTo>
                      <a:pt x="688" y="536"/>
                    </a:lnTo>
                    <a:lnTo>
                      <a:pt x="668" y="534"/>
                    </a:lnTo>
                    <a:lnTo>
                      <a:pt x="668" y="527"/>
                    </a:lnTo>
                    <a:lnTo>
                      <a:pt x="661" y="515"/>
                    </a:lnTo>
                    <a:lnTo>
                      <a:pt x="646" y="512"/>
                    </a:lnTo>
                    <a:lnTo>
                      <a:pt x="646" y="502"/>
                    </a:lnTo>
                    <a:lnTo>
                      <a:pt x="639" y="493"/>
                    </a:lnTo>
                    <a:lnTo>
                      <a:pt x="625" y="490"/>
                    </a:lnTo>
                    <a:lnTo>
                      <a:pt x="625" y="481"/>
                    </a:lnTo>
                    <a:lnTo>
                      <a:pt x="617" y="471"/>
                    </a:lnTo>
                    <a:lnTo>
                      <a:pt x="603" y="468"/>
                    </a:lnTo>
                    <a:lnTo>
                      <a:pt x="600" y="456"/>
                    </a:lnTo>
                    <a:lnTo>
                      <a:pt x="598" y="449"/>
                    </a:lnTo>
                    <a:lnTo>
                      <a:pt x="559" y="444"/>
                    </a:lnTo>
                    <a:lnTo>
                      <a:pt x="511" y="444"/>
                    </a:lnTo>
                    <a:lnTo>
                      <a:pt x="482" y="449"/>
                    </a:lnTo>
                    <a:lnTo>
                      <a:pt x="482" y="466"/>
                    </a:lnTo>
                    <a:lnTo>
                      <a:pt x="460" y="471"/>
                    </a:lnTo>
                    <a:lnTo>
                      <a:pt x="460" y="488"/>
                    </a:lnTo>
                    <a:lnTo>
                      <a:pt x="436" y="493"/>
                    </a:lnTo>
                    <a:lnTo>
                      <a:pt x="436" y="510"/>
                    </a:lnTo>
                    <a:lnTo>
                      <a:pt x="411" y="512"/>
                    </a:lnTo>
                    <a:lnTo>
                      <a:pt x="411" y="532"/>
                    </a:lnTo>
                    <a:lnTo>
                      <a:pt x="385" y="534"/>
                    </a:lnTo>
                    <a:lnTo>
                      <a:pt x="385" y="536"/>
                    </a:lnTo>
                    <a:lnTo>
                      <a:pt x="382" y="536"/>
                    </a:lnTo>
                    <a:lnTo>
                      <a:pt x="382" y="328"/>
                    </a:lnTo>
                    <a:lnTo>
                      <a:pt x="322" y="328"/>
                    </a:lnTo>
                    <a:lnTo>
                      <a:pt x="322" y="274"/>
                    </a:lnTo>
                    <a:lnTo>
                      <a:pt x="264" y="274"/>
                    </a:lnTo>
                    <a:lnTo>
                      <a:pt x="264" y="233"/>
                    </a:lnTo>
                    <a:lnTo>
                      <a:pt x="201" y="233"/>
                    </a:lnTo>
                    <a:lnTo>
                      <a:pt x="201" y="328"/>
                    </a:lnTo>
                    <a:lnTo>
                      <a:pt x="179" y="328"/>
                    </a:lnTo>
                    <a:lnTo>
                      <a:pt x="179" y="257"/>
                    </a:lnTo>
                    <a:lnTo>
                      <a:pt x="181" y="255"/>
                    </a:lnTo>
                    <a:lnTo>
                      <a:pt x="181" y="252"/>
                    </a:lnTo>
                    <a:lnTo>
                      <a:pt x="179" y="252"/>
                    </a:lnTo>
                    <a:lnTo>
                      <a:pt x="179" y="218"/>
                    </a:lnTo>
                    <a:lnTo>
                      <a:pt x="181" y="213"/>
                    </a:lnTo>
                    <a:lnTo>
                      <a:pt x="181" y="213"/>
                    </a:lnTo>
                    <a:lnTo>
                      <a:pt x="179" y="213"/>
                    </a:lnTo>
                    <a:lnTo>
                      <a:pt x="179" y="177"/>
                    </a:lnTo>
                    <a:lnTo>
                      <a:pt x="181" y="174"/>
                    </a:lnTo>
                    <a:lnTo>
                      <a:pt x="181" y="172"/>
                    </a:lnTo>
                    <a:lnTo>
                      <a:pt x="179" y="172"/>
                    </a:lnTo>
                    <a:lnTo>
                      <a:pt x="179" y="114"/>
                    </a:lnTo>
                    <a:lnTo>
                      <a:pt x="116" y="109"/>
                    </a:lnTo>
                    <a:lnTo>
                      <a:pt x="43" y="104"/>
                    </a:lnTo>
                    <a:lnTo>
                      <a:pt x="29" y="104"/>
                    </a:lnTo>
                    <a:lnTo>
                      <a:pt x="29" y="51"/>
                    </a:lnTo>
                    <a:lnTo>
                      <a:pt x="29" y="31"/>
                    </a:lnTo>
                    <a:lnTo>
                      <a:pt x="29" y="26"/>
                    </a:lnTo>
                    <a:lnTo>
                      <a:pt x="29" y="9"/>
                    </a:lnTo>
                    <a:lnTo>
                      <a:pt x="29" y="4"/>
                    </a:lnTo>
                    <a:lnTo>
                      <a:pt x="29" y="0"/>
                    </a:lnTo>
                    <a:lnTo>
                      <a:pt x="0" y="0"/>
                    </a:lnTo>
                    <a:lnTo>
                      <a:pt x="0" y="1423"/>
                    </a:lnTo>
                    <a:lnTo>
                      <a:pt x="1276" y="1423"/>
                    </a:lnTo>
                    <a:lnTo>
                      <a:pt x="1276" y="534"/>
                    </a:lnTo>
                    <a:close/>
                  </a:path>
                </a:pathLst>
              </a:custGeom>
              <a:solidFill>
                <a:schemeClr val="bg1">
                  <a:lumMod val="95000"/>
                </a:schemeClr>
              </a:solidFill>
              <a:ln>
                <a:noFill/>
              </a:ln>
            </p:spPr>
            <p:txBody>
              <a:bodyPr anchor="ctr"/>
              <a:lstStyle/>
              <a:p>
                <a:pPr algn="ctr"/>
                <a:endParaRPr/>
              </a:p>
            </p:txBody>
          </p:sp>
          <p:sp>
            <p:nvSpPr>
              <p:cNvPr id="34" name="îṥľîḍé"/>
              <p:cNvSpPr/>
              <p:nvPr/>
            </p:nvSpPr>
            <p:spPr bwMode="auto">
              <a:xfrm>
                <a:off x="2035441" y="4113886"/>
                <a:ext cx="2035444" cy="2744114"/>
              </a:xfrm>
              <a:custGeom>
                <a:avLst/>
                <a:gdLst>
                  <a:gd name="T0" fmla="*/ 1281 w 1281"/>
                  <a:gd name="T1" fmla="*/ 1727 h 1727"/>
                  <a:gd name="T2" fmla="*/ 1194 w 1281"/>
                  <a:gd name="T3" fmla="*/ 304 h 1727"/>
                  <a:gd name="T4" fmla="*/ 1194 w 1281"/>
                  <a:gd name="T5" fmla="*/ 284 h 1727"/>
                  <a:gd name="T6" fmla="*/ 1194 w 1281"/>
                  <a:gd name="T7" fmla="*/ 265 h 1727"/>
                  <a:gd name="T8" fmla="*/ 1080 w 1281"/>
                  <a:gd name="T9" fmla="*/ 126 h 1727"/>
                  <a:gd name="T10" fmla="*/ 1073 w 1281"/>
                  <a:gd name="T11" fmla="*/ 80 h 1727"/>
                  <a:gd name="T12" fmla="*/ 1063 w 1281"/>
                  <a:gd name="T13" fmla="*/ 92 h 1727"/>
                  <a:gd name="T14" fmla="*/ 1063 w 1281"/>
                  <a:gd name="T15" fmla="*/ 12 h 1727"/>
                  <a:gd name="T16" fmla="*/ 1061 w 1281"/>
                  <a:gd name="T17" fmla="*/ 0 h 1727"/>
                  <a:gd name="T18" fmla="*/ 1053 w 1281"/>
                  <a:gd name="T19" fmla="*/ 92 h 1727"/>
                  <a:gd name="T20" fmla="*/ 1053 w 1281"/>
                  <a:gd name="T21" fmla="*/ 12 h 1727"/>
                  <a:gd name="T22" fmla="*/ 1048 w 1281"/>
                  <a:gd name="T23" fmla="*/ 0 h 1727"/>
                  <a:gd name="T24" fmla="*/ 1041 w 1281"/>
                  <a:gd name="T25" fmla="*/ 92 h 1727"/>
                  <a:gd name="T26" fmla="*/ 1041 w 1281"/>
                  <a:gd name="T27" fmla="*/ 12 h 1727"/>
                  <a:gd name="T28" fmla="*/ 1039 w 1281"/>
                  <a:gd name="T29" fmla="*/ 0 h 1727"/>
                  <a:gd name="T30" fmla="*/ 1031 w 1281"/>
                  <a:gd name="T31" fmla="*/ 92 h 1727"/>
                  <a:gd name="T32" fmla="*/ 1031 w 1281"/>
                  <a:gd name="T33" fmla="*/ 12 h 1727"/>
                  <a:gd name="T34" fmla="*/ 1027 w 1281"/>
                  <a:gd name="T35" fmla="*/ 0 h 1727"/>
                  <a:gd name="T36" fmla="*/ 1019 w 1281"/>
                  <a:gd name="T37" fmla="*/ 92 h 1727"/>
                  <a:gd name="T38" fmla="*/ 1019 w 1281"/>
                  <a:gd name="T39" fmla="*/ 12 h 1727"/>
                  <a:gd name="T40" fmla="*/ 1017 w 1281"/>
                  <a:gd name="T41" fmla="*/ 0 h 1727"/>
                  <a:gd name="T42" fmla="*/ 1010 w 1281"/>
                  <a:gd name="T43" fmla="*/ 92 h 1727"/>
                  <a:gd name="T44" fmla="*/ 1000 w 1281"/>
                  <a:gd name="T45" fmla="*/ 80 h 1727"/>
                  <a:gd name="T46" fmla="*/ 1000 w 1281"/>
                  <a:gd name="T47" fmla="*/ 257 h 1727"/>
                  <a:gd name="T48" fmla="*/ 1000 w 1281"/>
                  <a:gd name="T49" fmla="*/ 282 h 1727"/>
                  <a:gd name="T50" fmla="*/ 971 w 1281"/>
                  <a:gd name="T51" fmla="*/ 304 h 1727"/>
                  <a:gd name="T52" fmla="*/ 971 w 1281"/>
                  <a:gd name="T53" fmla="*/ 313 h 1727"/>
                  <a:gd name="T54" fmla="*/ 971 w 1281"/>
                  <a:gd name="T55" fmla="*/ 335 h 1727"/>
                  <a:gd name="T56" fmla="*/ 971 w 1281"/>
                  <a:gd name="T57" fmla="*/ 403 h 1727"/>
                  <a:gd name="T58" fmla="*/ 968 w 1281"/>
                  <a:gd name="T59" fmla="*/ 413 h 1727"/>
                  <a:gd name="T60" fmla="*/ 932 w 1281"/>
                  <a:gd name="T61" fmla="*/ 738 h 1727"/>
                  <a:gd name="T62" fmla="*/ 814 w 1281"/>
                  <a:gd name="T63" fmla="*/ 515 h 1727"/>
                  <a:gd name="T64" fmla="*/ 746 w 1281"/>
                  <a:gd name="T65" fmla="*/ 386 h 1727"/>
                  <a:gd name="T66" fmla="*/ 719 w 1281"/>
                  <a:gd name="T67" fmla="*/ 515 h 1727"/>
                  <a:gd name="T68" fmla="*/ 608 w 1281"/>
                  <a:gd name="T69" fmla="*/ 386 h 1727"/>
                  <a:gd name="T70" fmla="*/ 557 w 1281"/>
                  <a:gd name="T71" fmla="*/ 515 h 1727"/>
                  <a:gd name="T72" fmla="*/ 513 w 1281"/>
                  <a:gd name="T73" fmla="*/ 1195 h 1727"/>
                  <a:gd name="T74" fmla="*/ 458 w 1281"/>
                  <a:gd name="T75" fmla="*/ 1200 h 1727"/>
                  <a:gd name="T76" fmla="*/ 431 w 1281"/>
                  <a:gd name="T77" fmla="*/ 1202 h 1727"/>
                  <a:gd name="T78" fmla="*/ 412 w 1281"/>
                  <a:gd name="T79" fmla="*/ 1180 h 1727"/>
                  <a:gd name="T80" fmla="*/ 370 w 1281"/>
                  <a:gd name="T81" fmla="*/ 1207 h 1727"/>
                  <a:gd name="T82" fmla="*/ 370 w 1281"/>
                  <a:gd name="T83" fmla="*/ 1210 h 1727"/>
                  <a:gd name="T84" fmla="*/ 370 w 1281"/>
                  <a:gd name="T85" fmla="*/ 1200 h 1727"/>
                  <a:gd name="T86" fmla="*/ 322 w 1281"/>
                  <a:gd name="T87" fmla="*/ 1188 h 1727"/>
                  <a:gd name="T88" fmla="*/ 312 w 1281"/>
                  <a:gd name="T89" fmla="*/ 1202 h 1727"/>
                  <a:gd name="T90" fmla="*/ 269 w 1281"/>
                  <a:gd name="T91" fmla="*/ 1197 h 1727"/>
                  <a:gd name="T92" fmla="*/ 140 w 1281"/>
                  <a:gd name="T93" fmla="*/ 1193 h 1727"/>
                  <a:gd name="T94" fmla="*/ 0 w 1281"/>
                  <a:gd name="T95" fmla="*/ 121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81" h="1727">
                    <a:moveTo>
                      <a:pt x="0" y="1727"/>
                    </a:moveTo>
                    <a:lnTo>
                      <a:pt x="1281" y="1727"/>
                    </a:lnTo>
                    <a:lnTo>
                      <a:pt x="1281" y="304"/>
                    </a:lnTo>
                    <a:lnTo>
                      <a:pt x="1194" y="304"/>
                    </a:lnTo>
                    <a:lnTo>
                      <a:pt x="1194" y="291"/>
                    </a:lnTo>
                    <a:lnTo>
                      <a:pt x="1194" y="284"/>
                    </a:lnTo>
                    <a:lnTo>
                      <a:pt x="1194" y="267"/>
                    </a:lnTo>
                    <a:lnTo>
                      <a:pt x="1194" y="265"/>
                    </a:lnTo>
                    <a:lnTo>
                      <a:pt x="1080" y="265"/>
                    </a:lnTo>
                    <a:lnTo>
                      <a:pt x="1080" y="126"/>
                    </a:lnTo>
                    <a:lnTo>
                      <a:pt x="1080" y="80"/>
                    </a:lnTo>
                    <a:lnTo>
                      <a:pt x="1073" y="80"/>
                    </a:lnTo>
                    <a:lnTo>
                      <a:pt x="1073" y="92"/>
                    </a:lnTo>
                    <a:lnTo>
                      <a:pt x="1063" y="92"/>
                    </a:lnTo>
                    <a:lnTo>
                      <a:pt x="1063" y="12"/>
                    </a:lnTo>
                    <a:lnTo>
                      <a:pt x="1063" y="12"/>
                    </a:lnTo>
                    <a:lnTo>
                      <a:pt x="1063" y="0"/>
                    </a:lnTo>
                    <a:lnTo>
                      <a:pt x="1061" y="0"/>
                    </a:lnTo>
                    <a:lnTo>
                      <a:pt x="1061" y="92"/>
                    </a:lnTo>
                    <a:lnTo>
                      <a:pt x="1053" y="92"/>
                    </a:lnTo>
                    <a:lnTo>
                      <a:pt x="1053" y="12"/>
                    </a:lnTo>
                    <a:lnTo>
                      <a:pt x="1053" y="12"/>
                    </a:lnTo>
                    <a:lnTo>
                      <a:pt x="1053" y="0"/>
                    </a:lnTo>
                    <a:lnTo>
                      <a:pt x="1048" y="0"/>
                    </a:lnTo>
                    <a:lnTo>
                      <a:pt x="1048" y="92"/>
                    </a:lnTo>
                    <a:lnTo>
                      <a:pt x="1041" y="92"/>
                    </a:lnTo>
                    <a:lnTo>
                      <a:pt x="1041" y="12"/>
                    </a:lnTo>
                    <a:lnTo>
                      <a:pt x="1041" y="12"/>
                    </a:lnTo>
                    <a:lnTo>
                      <a:pt x="1041" y="0"/>
                    </a:lnTo>
                    <a:lnTo>
                      <a:pt x="1039" y="0"/>
                    </a:lnTo>
                    <a:lnTo>
                      <a:pt x="1039" y="92"/>
                    </a:lnTo>
                    <a:lnTo>
                      <a:pt x="1031" y="92"/>
                    </a:lnTo>
                    <a:lnTo>
                      <a:pt x="1031" y="12"/>
                    </a:lnTo>
                    <a:lnTo>
                      <a:pt x="1031" y="12"/>
                    </a:lnTo>
                    <a:lnTo>
                      <a:pt x="1029" y="0"/>
                    </a:lnTo>
                    <a:lnTo>
                      <a:pt x="1027" y="0"/>
                    </a:lnTo>
                    <a:lnTo>
                      <a:pt x="1027" y="92"/>
                    </a:lnTo>
                    <a:lnTo>
                      <a:pt x="1019" y="92"/>
                    </a:lnTo>
                    <a:lnTo>
                      <a:pt x="1019" y="12"/>
                    </a:lnTo>
                    <a:lnTo>
                      <a:pt x="1019" y="12"/>
                    </a:lnTo>
                    <a:lnTo>
                      <a:pt x="1019" y="0"/>
                    </a:lnTo>
                    <a:lnTo>
                      <a:pt x="1017" y="0"/>
                    </a:lnTo>
                    <a:lnTo>
                      <a:pt x="1017" y="92"/>
                    </a:lnTo>
                    <a:lnTo>
                      <a:pt x="1010" y="92"/>
                    </a:lnTo>
                    <a:lnTo>
                      <a:pt x="1007" y="80"/>
                    </a:lnTo>
                    <a:lnTo>
                      <a:pt x="1000" y="80"/>
                    </a:lnTo>
                    <a:lnTo>
                      <a:pt x="1000" y="253"/>
                    </a:lnTo>
                    <a:lnTo>
                      <a:pt x="1000" y="257"/>
                    </a:lnTo>
                    <a:lnTo>
                      <a:pt x="1000" y="274"/>
                    </a:lnTo>
                    <a:lnTo>
                      <a:pt x="1000" y="282"/>
                    </a:lnTo>
                    <a:lnTo>
                      <a:pt x="1000" y="304"/>
                    </a:lnTo>
                    <a:lnTo>
                      <a:pt x="971" y="304"/>
                    </a:lnTo>
                    <a:lnTo>
                      <a:pt x="971" y="308"/>
                    </a:lnTo>
                    <a:lnTo>
                      <a:pt x="971" y="313"/>
                    </a:lnTo>
                    <a:lnTo>
                      <a:pt x="971" y="333"/>
                    </a:lnTo>
                    <a:lnTo>
                      <a:pt x="971" y="335"/>
                    </a:lnTo>
                    <a:lnTo>
                      <a:pt x="971" y="355"/>
                    </a:lnTo>
                    <a:lnTo>
                      <a:pt x="971" y="403"/>
                    </a:lnTo>
                    <a:lnTo>
                      <a:pt x="968" y="403"/>
                    </a:lnTo>
                    <a:lnTo>
                      <a:pt x="968" y="413"/>
                    </a:lnTo>
                    <a:lnTo>
                      <a:pt x="932" y="413"/>
                    </a:lnTo>
                    <a:lnTo>
                      <a:pt x="932" y="738"/>
                    </a:lnTo>
                    <a:lnTo>
                      <a:pt x="814" y="738"/>
                    </a:lnTo>
                    <a:lnTo>
                      <a:pt x="814" y="515"/>
                    </a:lnTo>
                    <a:lnTo>
                      <a:pt x="746" y="515"/>
                    </a:lnTo>
                    <a:lnTo>
                      <a:pt x="746" y="386"/>
                    </a:lnTo>
                    <a:lnTo>
                      <a:pt x="719" y="386"/>
                    </a:lnTo>
                    <a:lnTo>
                      <a:pt x="719" y="515"/>
                    </a:lnTo>
                    <a:lnTo>
                      <a:pt x="608" y="515"/>
                    </a:lnTo>
                    <a:lnTo>
                      <a:pt x="608" y="386"/>
                    </a:lnTo>
                    <a:lnTo>
                      <a:pt x="557" y="386"/>
                    </a:lnTo>
                    <a:lnTo>
                      <a:pt x="557" y="515"/>
                    </a:lnTo>
                    <a:lnTo>
                      <a:pt x="513" y="515"/>
                    </a:lnTo>
                    <a:lnTo>
                      <a:pt x="513" y="1195"/>
                    </a:lnTo>
                    <a:lnTo>
                      <a:pt x="475" y="1197"/>
                    </a:lnTo>
                    <a:lnTo>
                      <a:pt x="458" y="1200"/>
                    </a:lnTo>
                    <a:lnTo>
                      <a:pt x="433" y="1202"/>
                    </a:lnTo>
                    <a:lnTo>
                      <a:pt x="431" y="1202"/>
                    </a:lnTo>
                    <a:lnTo>
                      <a:pt x="421" y="1188"/>
                    </a:lnTo>
                    <a:lnTo>
                      <a:pt x="412" y="1180"/>
                    </a:lnTo>
                    <a:lnTo>
                      <a:pt x="373" y="1200"/>
                    </a:lnTo>
                    <a:lnTo>
                      <a:pt x="370" y="1207"/>
                    </a:lnTo>
                    <a:lnTo>
                      <a:pt x="370" y="1210"/>
                    </a:lnTo>
                    <a:lnTo>
                      <a:pt x="370" y="1210"/>
                    </a:lnTo>
                    <a:lnTo>
                      <a:pt x="370" y="1207"/>
                    </a:lnTo>
                    <a:lnTo>
                      <a:pt x="370" y="1200"/>
                    </a:lnTo>
                    <a:lnTo>
                      <a:pt x="332" y="1180"/>
                    </a:lnTo>
                    <a:lnTo>
                      <a:pt x="322" y="1188"/>
                    </a:lnTo>
                    <a:lnTo>
                      <a:pt x="312" y="1202"/>
                    </a:lnTo>
                    <a:lnTo>
                      <a:pt x="312" y="1202"/>
                    </a:lnTo>
                    <a:lnTo>
                      <a:pt x="288" y="1200"/>
                    </a:lnTo>
                    <a:lnTo>
                      <a:pt x="269" y="1197"/>
                    </a:lnTo>
                    <a:lnTo>
                      <a:pt x="160" y="1193"/>
                    </a:lnTo>
                    <a:lnTo>
                      <a:pt x="140" y="1193"/>
                    </a:lnTo>
                    <a:lnTo>
                      <a:pt x="22" y="1205"/>
                    </a:lnTo>
                    <a:lnTo>
                      <a:pt x="0" y="1210"/>
                    </a:lnTo>
                    <a:lnTo>
                      <a:pt x="0" y="1727"/>
                    </a:lnTo>
                    <a:close/>
                  </a:path>
                </a:pathLst>
              </a:custGeom>
              <a:solidFill>
                <a:schemeClr val="bg1">
                  <a:lumMod val="95000"/>
                </a:schemeClr>
              </a:solidFill>
              <a:ln>
                <a:noFill/>
              </a:ln>
            </p:spPr>
            <p:txBody>
              <a:bodyPr anchor="ctr"/>
              <a:lstStyle/>
              <a:p>
                <a:pPr algn="ctr"/>
                <a:endParaRPr/>
              </a:p>
            </p:txBody>
          </p:sp>
          <p:sp>
            <p:nvSpPr>
              <p:cNvPr id="35" name="îṩḻîḍè"/>
              <p:cNvSpPr/>
              <p:nvPr/>
            </p:nvSpPr>
            <p:spPr bwMode="auto">
              <a:xfrm>
                <a:off x="3175" y="4202867"/>
                <a:ext cx="2032266" cy="2655133"/>
              </a:xfrm>
              <a:custGeom>
                <a:avLst/>
                <a:gdLst>
                  <a:gd name="T0" fmla="*/ 933 w 1279"/>
                  <a:gd name="T1" fmla="*/ 988 h 1671"/>
                  <a:gd name="T2" fmla="*/ 712 w 1279"/>
                  <a:gd name="T3" fmla="*/ 933 h 1671"/>
                  <a:gd name="T4" fmla="*/ 577 w 1279"/>
                  <a:gd name="T5" fmla="*/ 1207 h 1671"/>
                  <a:gd name="T6" fmla="*/ 303 w 1279"/>
                  <a:gd name="T7" fmla="*/ 1336 h 1671"/>
                  <a:gd name="T8" fmla="*/ 230 w 1279"/>
                  <a:gd name="T9" fmla="*/ 517 h 1671"/>
                  <a:gd name="T10" fmla="*/ 194 w 1279"/>
                  <a:gd name="T11" fmla="*/ 505 h 1671"/>
                  <a:gd name="T12" fmla="*/ 240 w 1279"/>
                  <a:gd name="T13" fmla="*/ 498 h 1671"/>
                  <a:gd name="T14" fmla="*/ 211 w 1279"/>
                  <a:gd name="T15" fmla="*/ 486 h 1671"/>
                  <a:gd name="T16" fmla="*/ 194 w 1279"/>
                  <a:gd name="T17" fmla="*/ 481 h 1671"/>
                  <a:gd name="T18" fmla="*/ 192 w 1279"/>
                  <a:gd name="T19" fmla="*/ 432 h 1671"/>
                  <a:gd name="T20" fmla="*/ 182 w 1279"/>
                  <a:gd name="T21" fmla="*/ 427 h 1671"/>
                  <a:gd name="T22" fmla="*/ 204 w 1279"/>
                  <a:gd name="T23" fmla="*/ 425 h 1671"/>
                  <a:gd name="T24" fmla="*/ 218 w 1279"/>
                  <a:gd name="T25" fmla="*/ 425 h 1671"/>
                  <a:gd name="T26" fmla="*/ 233 w 1279"/>
                  <a:gd name="T27" fmla="*/ 418 h 1671"/>
                  <a:gd name="T28" fmla="*/ 235 w 1279"/>
                  <a:gd name="T29" fmla="*/ 410 h 1671"/>
                  <a:gd name="T30" fmla="*/ 189 w 1279"/>
                  <a:gd name="T31" fmla="*/ 398 h 1671"/>
                  <a:gd name="T32" fmla="*/ 172 w 1279"/>
                  <a:gd name="T33" fmla="*/ 379 h 1671"/>
                  <a:gd name="T34" fmla="*/ 168 w 1279"/>
                  <a:gd name="T35" fmla="*/ 245 h 1671"/>
                  <a:gd name="T36" fmla="*/ 163 w 1279"/>
                  <a:gd name="T37" fmla="*/ 146 h 1671"/>
                  <a:gd name="T38" fmla="*/ 158 w 1279"/>
                  <a:gd name="T39" fmla="*/ 63 h 1671"/>
                  <a:gd name="T40" fmla="*/ 155 w 1279"/>
                  <a:gd name="T41" fmla="*/ 0 h 1671"/>
                  <a:gd name="T42" fmla="*/ 153 w 1279"/>
                  <a:gd name="T43" fmla="*/ 0 h 1671"/>
                  <a:gd name="T44" fmla="*/ 151 w 1279"/>
                  <a:gd name="T45" fmla="*/ 65 h 1671"/>
                  <a:gd name="T46" fmla="*/ 148 w 1279"/>
                  <a:gd name="T47" fmla="*/ 146 h 1671"/>
                  <a:gd name="T48" fmla="*/ 146 w 1279"/>
                  <a:gd name="T49" fmla="*/ 374 h 1671"/>
                  <a:gd name="T50" fmla="*/ 138 w 1279"/>
                  <a:gd name="T51" fmla="*/ 386 h 1671"/>
                  <a:gd name="T52" fmla="*/ 117 w 1279"/>
                  <a:gd name="T53" fmla="*/ 401 h 1671"/>
                  <a:gd name="T54" fmla="*/ 80 w 1279"/>
                  <a:gd name="T55" fmla="*/ 418 h 1671"/>
                  <a:gd name="T56" fmla="*/ 95 w 1279"/>
                  <a:gd name="T57" fmla="*/ 425 h 1671"/>
                  <a:gd name="T58" fmla="*/ 112 w 1279"/>
                  <a:gd name="T59" fmla="*/ 427 h 1671"/>
                  <a:gd name="T60" fmla="*/ 129 w 1279"/>
                  <a:gd name="T61" fmla="*/ 427 h 1671"/>
                  <a:gd name="T62" fmla="*/ 119 w 1279"/>
                  <a:gd name="T63" fmla="*/ 439 h 1671"/>
                  <a:gd name="T64" fmla="*/ 121 w 1279"/>
                  <a:gd name="T65" fmla="*/ 481 h 1671"/>
                  <a:gd name="T66" fmla="*/ 100 w 1279"/>
                  <a:gd name="T67" fmla="*/ 486 h 1671"/>
                  <a:gd name="T68" fmla="*/ 75 w 1279"/>
                  <a:gd name="T69" fmla="*/ 498 h 1671"/>
                  <a:gd name="T70" fmla="*/ 121 w 1279"/>
                  <a:gd name="T71" fmla="*/ 507 h 1671"/>
                  <a:gd name="T72" fmla="*/ 85 w 1279"/>
                  <a:gd name="T73" fmla="*/ 520 h 1671"/>
                  <a:gd name="T74" fmla="*/ 27 w 1279"/>
                  <a:gd name="T75" fmla="*/ 1333 h 1671"/>
                  <a:gd name="T76" fmla="*/ 126 w 1279"/>
                  <a:gd name="T77" fmla="*/ 498 h 1671"/>
                  <a:gd name="T78" fmla="*/ 121 w 1279"/>
                  <a:gd name="T79" fmla="*/ 498 h 1671"/>
                  <a:gd name="T80" fmla="*/ 121 w 1279"/>
                  <a:gd name="T81" fmla="*/ 568 h 1671"/>
                  <a:gd name="T82" fmla="*/ 119 w 1279"/>
                  <a:gd name="T83" fmla="*/ 656 h 1671"/>
                  <a:gd name="T84" fmla="*/ 138 w 1279"/>
                  <a:gd name="T85" fmla="*/ 799 h 1671"/>
                  <a:gd name="T86" fmla="*/ 124 w 1279"/>
                  <a:gd name="T87" fmla="*/ 814 h 1671"/>
                  <a:gd name="T88" fmla="*/ 119 w 1279"/>
                  <a:gd name="T89" fmla="*/ 937 h 1671"/>
                  <a:gd name="T90" fmla="*/ 141 w 1279"/>
                  <a:gd name="T91" fmla="*/ 1071 h 1671"/>
                  <a:gd name="T92" fmla="*/ 121 w 1279"/>
                  <a:gd name="T93" fmla="*/ 1188 h 1671"/>
                  <a:gd name="T94" fmla="*/ 129 w 1279"/>
                  <a:gd name="T95" fmla="*/ 1185 h 1671"/>
                  <a:gd name="T96" fmla="*/ 182 w 1279"/>
                  <a:gd name="T97" fmla="*/ 656 h 1671"/>
                  <a:gd name="T98" fmla="*/ 189 w 1279"/>
                  <a:gd name="T99" fmla="*/ 799 h 1671"/>
                  <a:gd name="T100" fmla="*/ 199 w 1279"/>
                  <a:gd name="T101" fmla="*/ 937 h 1671"/>
                  <a:gd name="T102" fmla="*/ 199 w 1279"/>
                  <a:gd name="T103" fmla="*/ 957 h 1671"/>
                  <a:gd name="T104" fmla="*/ 184 w 1279"/>
                  <a:gd name="T105" fmla="*/ 118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chemeClr val="bg1">
                  <a:lumMod val="95000"/>
                </a:schemeClr>
              </a:solidFill>
              <a:ln>
                <a:noFill/>
              </a:ln>
            </p:spPr>
            <p:txBody>
              <a:bodyPr anchor="ctr"/>
              <a:lstStyle/>
              <a:p>
                <a:pPr algn="ctr"/>
                <a:endParaRPr/>
              </a:p>
            </p:txBody>
          </p:sp>
          <p:sp>
            <p:nvSpPr>
              <p:cNvPr id="36" name="îṡ1iḑe"/>
              <p:cNvSpPr/>
              <p:nvPr/>
            </p:nvSpPr>
            <p:spPr bwMode="auto">
              <a:xfrm flipH="1">
                <a:off x="3374787" y="2656396"/>
                <a:ext cx="3215950" cy="4201603"/>
              </a:xfrm>
              <a:custGeom>
                <a:avLst/>
                <a:gdLst>
                  <a:gd name="T0" fmla="*/ 933 w 1279"/>
                  <a:gd name="T1" fmla="*/ 988 h 1671"/>
                  <a:gd name="T2" fmla="*/ 712 w 1279"/>
                  <a:gd name="T3" fmla="*/ 933 h 1671"/>
                  <a:gd name="T4" fmla="*/ 577 w 1279"/>
                  <a:gd name="T5" fmla="*/ 1207 h 1671"/>
                  <a:gd name="T6" fmla="*/ 303 w 1279"/>
                  <a:gd name="T7" fmla="*/ 1336 h 1671"/>
                  <a:gd name="T8" fmla="*/ 230 w 1279"/>
                  <a:gd name="T9" fmla="*/ 517 h 1671"/>
                  <a:gd name="T10" fmla="*/ 194 w 1279"/>
                  <a:gd name="T11" fmla="*/ 505 h 1671"/>
                  <a:gd name="T12" fmla="*/ 240 w 1279"/>
                  <a:gd name="T13" fmla="*/ 498 h 1671"/>
                  <a:gd name="T14" fmla="*/ 211 w 1279"/>
                  <a:gd name="T15" fmla="*/ 486 h 1671"/>
                  <a:gd name="T16" fmla="*/ 194 w 1279"/>
                  <a:gd name="T17" fmla="*/ 481 h 1671"/>
                  <a:gd name="T18" fmla="*/ 192 w 1279"/>
                  <a:gd name="T19" fmla="*/ 432 h 1671"/>
                  <a:gd name="T20" fmla="*/ 182 w 1279"/>
                  <a:gd name="T21" fmla="*/ 427 h 1671"/>
                  <a:gd name="T22" fmla="*/ 204 w 1279"/>
                  <a:gd name="T23" fmla="*/ 425 h 1671"/>
                  <a:gd name="T24" fmla="*/ 218 w 1279"/>
                  <a:gd name="T25" fmla="*/ 425 h 1671"/>
                  <a:gd name="T26" fmla="*/ 233 w 1279"/>
                  <a:gd name="T27" fmla="*/ 418 h 1671"/>
                  <a:gd name="T28" fmla="*/ 235 w 1279"/>
                  <a:gd name="T29" fmla="*/ 410 h 1671"/>
                  <a:gd name="T30" fmla="*/ 189 w 1279"/>
                  <a:gd name="T31" fmla="*/ 398 h 1671"/>
                  <a:gd name="T32" fmla="*/ 172 w 1279"/>
                  <a:gd name="T33" fmla="*/ 379 h 1671"/>
                  <a:gd name="T34" fmla="*/ 168 w 1279"/>
                  <a:gd name="T35" fmla="*/ 245 h 1671"/>
                  <a:gd name="T36" fmla="*/ 163 w 1279"/>
                  <a:gd name="T37" fmla="*/ 146 h 1671"/>
                  <a:gd name="T38" fmla="*/ 158 w 1279"/>
                  <a:gd name="T39" fmla="*/ 63 h 1671"/>
                  <a:gd name="T40" fmla="*/ 155 w 1279"/>
                  <a:gd name="T41" fmla="*/ 0 h 1671"/>
                  <a:gd name="T42" fmla="*/ 153 w 1279"/>
                  <a:gd name="T43" fmla="*/ 0 h 1671"/>
                  <a:gd name="T44" fmla="*/ 151 w 1279"/>
                  <a:gd name="T45" fmla="*/ 65 h 1671"/>
                  <a:gd name="T46" fmla="*/ 148 w 1279"/>
                  <a:gd name="T47" fmla="*/ 146 h 1671"/>
                  <a:gd name="T48" fmla="*/ 146 w 1279"/>
                  <a:gd name="T49" fmla="*/ 374 h 1671"/>
                  <a:gd name="T50" fmla="*/ 138 w 1279"/>
                  <a:gd name="T51" fmla="*/ 386 h 1671"/>
                  <a:gd name="T52" fmla="*/ 117 w 1279"/>
                  <a:gd name="T53" fmla="*/ 401 h 1671"/>
                  <a:gd name="T54" fmla="*/ 80 w 1279"/>
                  <a:gd name="T55" fmla="*/ 418 h 1671"/>
                  <a:gd name="T56" fmla="*/ 95 w 1279"/>
                  <a:gd name="T57" fmla="*/ 425 h 1671"/>
                  <a:gd name="T58" fmla="*/ 112 w 1279"/>
                  <a:gd name="T59" fmla="*/ 427 h 1671"/>
                  <a:gd name="T60" fmla="*/ 129 w 1279"/>
                  <a:gd name="T61" fmla="*/ 427 h 1671"/>
                  <a:gd name="T62" fmla="*/ 119 w 1279"/>
                  <a:gd name="T63" fmla="*/ 439 h 1671"/>
                  <a:gd name="T64" fmla="*/ 121 w 1279"/>
                  <a:gd name="T65" fmla="*/ 481 h 1671"/>
                  <a:gd name="T66" fmla="*/ 100 w 1279"/>
                  <a:gd name="T67" fmla="*/ 486 h 1671"/>
                  <a:gd name="T68" fmla="*/ 75 w 1279"/>
                  <a:gd name="T69" fmla="*/ 498 h 1671"/>
                  <a:gd name="T70" fmla="*/ 121 w 1279"/>
                  <a:gd name="T71" fmla="*/ 507 h 1671"/>
                  <a:gd name="T72" fmla="*/ 85 w 1279"/>
                  <a:gd name="T73" fmla="*/ 520 h 1671"/>
                  <a:gd name="T74" fmla="*/ 27 w 1279"/>
                  <a:gd name="T75" fmla="*/ 1333 h 1671"/>
                  <a:gd name="T76" fmla="*/ 126 w 1279"/>
                  <a:gd name="T77" fmla="*/ 498 h 1671"/>
                  <a:gd name="T78" fmla="*/ 121 w 1279"/>
                  <a:gd name="T79" fmla="*/ 498 h 1671"/>
                  <a:gd name="T80" fmla="*/ 121 w 1279"/>
                  <a:gd name="T81" fmla="*/ 568 h 1671"/>
                  <a:gd name="T82" fmla="*/ 119 w 1279"/>
                  <a:gd name="T83" fmla="*/ 656 h 1671"/>
                  <a:gd name="T84" fmla="*/ 138 w 1279"/>
                  <a:gd name="T85" fmla="*/ 799 h 1671"/>
                  <a:gd name="T86" fmla="*/ 124 w 1279"/>
                  <a:gd name="T87" fmla="*/ 814 h 1671"/>
                  <a:gd name="T88" fmla="*/ 119 w 1279"/>
                  <a:gd name="T89" fmla="*/ 937 h 1671"/>
                  <a:gd name="T90" fmla="*/ 141 w 1279"/>
                  <a:gd name="T91" fmla="*/ 1071 h 1671"/>
                  <a:gd name="T92" fmla="*/ 121 w 1279"/>
                  <a:gd name="T93" fmla="*/ 1188 h 1671"/>
                  <a:gd name="T94" fmla="*/ 129 w 1279"/>
                  <a:gd name="T95" fmla="*/ 1185 h 1671"/>
                  <a:gd name="T96" fmla="*/ 182 w 1279"/>
                  <a:gd name="T97" fmla="*/ 656 h 1671"/>
                  <a:gd name="T98" fmla="*/ 189 w 1279"/>
                  <a:gd name="T99" fmla="*/ 799 h 1671"/>
                  <a:gd name="T100" fmla="*/ 199 w 1279"/>
                  <a:gd name="T101" fmla="*/ 937 h 1671"/>
                  <a:gd name="T102" fmla="*/ 199 w 1279"/>
                  <a:gd name="T103" fmla="*/ 957 h 1671"/>
                  <a:gd name="T104" fmla="*/ 184 w 1279"/>
                  <a:gd name="T105" fmla="*/ 118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chemeClr val="bg1">
                  <a:lumMod val="95000"/>
                </a:schemeClr>
              </a:solidFill>
              <a:ln>
                <a:noFill/>
              </a:ln>
            </p:spPr>
            <p:txBody>
              <a:bodyPr anchor="ctr"/>
              <a:lstStyle/>
              <a:p>
                <a:pPr algn="ctr"/>
                <a:endParaRPr/>
              </a:p>
            </p:txBody>
          </p:sp>
        </p:grpSp>
        <p:grpSp>
          <p:nvGrpSpPr>
            <p:cNvPr id="9" name="ïs1iḑè"/>
            <p:cNvGrpSpPr/>
            <p:nvPr/>
          </p:nvGrpSpPr>
          <p:grpSpPr>
            <a:xfrm>
              <a:off x="5473700" y="1282250"/>
              <a:ext cx="1244600" cy="1244596"/>
              <a:chOff x="5473700" y="1207808"/>
              <a:chExt cx="1244600" cy="1244596"/>
            </a:xfrm>
          </p:grpSpPr>
          <p:sp>
            <p:nvSpPr>
              <p:cNvPr id="28" name="ís1ïḓè"/>
              <p:cNvSpPr/>
              <p:nvPr/>
            </p:nvSpPr>
            <p:spPr>
              <a:xfrm>
                <a:off x="5473700" y="1207808"/>
                <a:ext cx="1244600" cy="1244596"/>
              </a:xfrm>
              <a:prstGeom prst="ellipse">
                <a:avLst/>
              </a:prstGeom>
              <a:solidFill>
                <a:schemeClr val="accent3"/>
              </a:solidFill>
              <a:ln w="15240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endParaRPr dirty="0"/>
              </a:p>
            </p:txBody>
          </p:sp>
          <p:sp>
            <p:nvSpPr>
              <p:cNvPr id="29" name="iśľíḑê"/>
              <p:cNvSpPr txBox="1"/>
              <p:nvPr/>
            </p:nvSpPr>
            <p:spPr>
              <a:xfrm>
                <a:off x="5664200" y="1701933"/>
                <a:ext cx="863600" cy="256346"/>
              </a:xfrm>
              <a:prstGeom prst="rect">
                <a:avLst/>
              </a:prstGeom>
              <a:noFill/>
            </p:spPr>
            <p:txBody>
              <a:bodyPr wrap="none" lIns="91422" tIns="45711" rIns="91422" bIns="45711">
                <a:prstTxWarp prst="textPlain">
                  <a:avLst/>
                </a:prstTxWarp>
                <a:normAutofit fontScale="25000" lnSpcReduction="20000"/>
              </a:bodyPr>
              <a:lstStyle/>
              <a:p>
                <a:r>
                  <a:rPr lang="zh-CN" altLang="en-US" sz="5400" dirty="0">
                    <a:solidFill>
                      <a:schemeClr val="bg1"/>
                    </a:solidFill>
                    <a:latin typeface="Impact" panose="020B0806030902050204" pitchFamily="34" charset="0"/>
                  </a:rPr>
                  <a:t>切片图像</a:t>
                </a:r>
                <a:endParaRPr lang="en-US" sz="5400" dirty="0">
                  <a:solidFill>
                    <a:schemeClr val="bg1"/>
                  </a:solidFill>
                  <a:latin typeface="Impact" panose="020B0806030902050204" pitchFamily="34" charset="0"/>
                </a:endParaRPr>
              </a:p>
            </p:txBody>
          </p:sp>
        </p:grpSp>
        <p:sp>
          <p:nvSpPr>
            <p:cNvPr id="11" name="îsľîḓè"/>
            <p:cNvSpPr/>
            <p:nvPr/>
          </p:nvSpPr>
          <p:spPr>
            <a:xfrm>
              <a:off x="1567121" y="3173743"/>
              <a:ext cx="591457" cy="591462"/>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dirty="0">
                  <a:solidFill>
                    <a:schemeClr val="bg1"/>
                  </a:solidFill>
                </a:rPr>
                <a:t>Q1</a:t>
              </a:r>
              <a:endParaRPr lang="zh-CN" altLang="en-US" sz="1600" b="1" dirty="0">
                <a:solidFill>
                  <a:schemeClr val="bg1"/>
                </a:solidFill>
              </a:endParaRPr>
            </a:p>
          </p:txBody>
        </p:sp>
        <p:sp>
          <p:nvSpPr>
            <p:cNvPr id="12" name="ïşḻîdê"/>
            <p:cNvSpPr txBox="1"/>
            <p:nvPr/>
          </p:nvSpPr>
          <p:spPr>
            <a:xfrm>
              <a:off x="670051" y="4264435"/>
              <a:ext cx="2385602" cy="1461921"/>
            </a:xfrm>
            <a:prstGeom prst="rect">
              <a:avLst/>
            </a:prstGeom>
            <a:noFill/>
          </p:spPr>
          <p:txBody>
            <a:bodyPr wrap="square" lIns="90000" tIns="46800" rIns="90000" bIns="46800" rtlCol="0">
              <a:normAutofit fontScale="92500"/>
            </a:bodyPr>
            <a:lstStyle/>
            <a:p>
              <a:pPr algn="ctr">
                <a:lnSpc>
                  <a:spcPct val="150000"/>
                </a:lnSpc>
              </a:pPr>
              <a:r>
                <a:rPr lang="zh-CN" altLang="en-US" sz="1400" dirty="0"/>
                <a:t>原发肿瘤组织的 </a:t>
              </a:r>
              <a:r>
                <a:rPr lang="en-US" altLang="zh-CN" sz="1400" dirty="0"/>
                <a:t>H&amp;E </a:t>
              </a:r>
              <a:r>
                <a:rPr lang="zh-CN" altLang="en-US" sz="1400" dirty="0"/>
                <a:t>切片使用 </a:t>
              </a:r>
              <a:r>
                <a:rPr lang="en-US" altLang="zh-CN" sz="1400" dirty="0"/>
                <a:t>3DHISTECH P1000 </a:t>
              </a:r>
              <a:r>
                <a:rPr lang="zh-CN" altLang="en-US" sz="1400" dirty="0"/>
                <a:t>扫描仪进行了 </a:t>
              </a:r>
              <a:r>
                <a:rPr lang="en-US" altLang="zh-CN" sz="1400" dirty="0"/>
                <a:t>82.44 </a:t>
              </a:r>
              <a:r>
                <a:rPr lang="zh-CN" altLang="en-US" sz="1400" dirty="0"/>
                <a:t>倍（</a:t>
              </a:r>
              <a:r>
                <a:rPr lang="en-US" altLang="zh-CN" sz="1400" dirty="0"/>
                <a:t>0.1213 µm/</a:t>
              </a:r>
              <a:r>
                <a:rPr lang="zh-CN" altLang="en-US" sz="1400" dirty="0"/>
                <a:t>像素）的高分辨率扫描 。</a:t>
              </a:r>
              <a:endParaRPr lang="en-US" altLang="zh-CN" sz="1400" dirty="0"/>
            </a:p>
          </p:txBody>
        </p:sp>
        <p:sp>
          <p:nvSpPr>
            <p:cNvPr id="13" name="iṧľiḍè"/>
            <p:cNvSpPr txBox="1"/>
            <p:nvPr/>
          </p:nvSpPr>
          <p:spPr>
            <a:xfrm>
              <a:off x="670050" y="3792615"/>
              <a:ext cx="2385600" cy="471820"/>
            </a:xfrm>
            <a:prstGeom prst="rect">
              <a:avLst/>
            </a:prstGeom>
            <a:noFill/>
          </p:spPr>
          <p:txBody>
            <a:bodyPr wrap="square" rtlCol="0" anchor="ctr">
              <a:normAutofit/>
            </a:bodyPr>
            <a:lstStyle/>
            <a:p>
              <a:pPr algn="ctr"/>
              <a:r>
                <a:rPr lang="zh-CN" altLang="en-US" b="1" dirty="0">
                  <a:solidFill>
                    <a:schemeClr val="accent1"/>
                  </a:solidFill>
                </a:rPr>
                <a:t>超高分辨率数据</a:t>
              </a:r>
              <a:endParaRPr lang="en-US" altLang="zh-CN" b="1" dirty="0">
                <a:solidFill>
                  <a:schemeClr val="accent1"/>
                </a:solidFill>
              </a:endParaRPr>
            </a:p>
          </p:txBody>
        </p:sp>
        <p:sp>
          <p:nvSpPr>
            <p:cNvPr id="15" name="iśḻïdé"/>
            <p:cNvSpPr/>
            <p:nvPr/>
          </p:nvSpPr>
          <p:spPr>
            <a:xfrm>
              <a:off x="4389220" y="3173743"/>
              <a:ext cx="591457" cy="591462"/>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dirty="0">
                  <a:solidFill>
                    <a:schemeClr val="bg1"/>
                  </a:solidFill>
                </a:rPr>
                <a:t>Q2</a:t>
              </a:r>
              <a:endParaRPr lang="zh-CN" altLang="en-US" sz="1600" b="1" dirty="0">
                <a:solidFill>
                  <a:schemeClr val="bg1"/>
                </a:solidFill>
              </a:endParaRPr>
            </a:p>
          </p:txBody>
        </p:sp>
        <p:sp>
          <p:nvSpPr>
            <p:cNvPr id="16" name="iSḷïḍé"/>
            <p:cNvSpPr txBox="1"/>
            <p:nvPr/>
          </p:nvSpPr>
          <p:spPr>
            <a:xfrm>
              <a:off x="3492150" y="4264435"/>
              <a:ext cx="2385602" cy="1461921"/>
            </a:xfrm>
            <a:prstGeom prst="rect">
              <a:avLst/>
            </a:prstGeom>
            <a:noFill/>
          </p:spPr>
          <p:txBody>
            <a:bodyPr wrap="square" lIns="90000" tIns="46800" rIns="90000" bIns="46800" rtlCol="0">
              <a:normAutofit/>
            </a:bodyPr>
            <a:lstStyle/>
            <a:p>
              <a:pPr algn="ctr">
                <a:lnSpc>
                  <a:spcPct val="150000"/>
                </a:lnSpc>
              </a:pPr>
              <a:r>
                <a:rPr lang="zh-CN" altLang="en-US" sz="1300" dirty="0"/>
                <a:t>病理学家已经使用 </a:t>
              </a:r>
              <a:r>
                <a:rPr lang="en-US" altLang="zh-CN" sz="1300" dirty="0" err="1"/>
                <a:t>QuPath</a:t>
              </a:r>
              <a:r>
                <a:rPr lang="en-US" altLang="zh-CN" sz="1300" dirty="0"/>
                <a:t> </a:t>
              </a:r>
              <a:r>
                <a:rPr lang="zh-CN" altLang="en-US" sz="1300" dirty="0"/>
                <a:t>软件在 </a:t>
              </a:r>
              <a:r>
                <a:rPr lang="en-US" altLang="zh-CN" sz="1300" dirty="0"/>
                <a:t>WSI </a:t>
              </a:r>
              <a:r>
                <a:rPr lang="zh-CN" altLang="en-US" sz="1300" dirty="0"/>
                <a:t>上勾勒了具有代表性的高肿瘤含量区域 。</a:t>
              </a:r>
              <a:endParaRPr lang="en-US" altLang="zh-CN" sz="1300" dirty="0"/>
            </a:p>
          </p:txBody>
        </p:sp>
        <p:sp>
          <p:nvSpPr>
            <p:cNvPr id="17" name="îṧlïdê"/>
            <p:cNvSpPr txBox="1"/>
            <p:nvPr/>
          </p:nvSpPr>
          <p:spPr>
            <a:xfrm>
              <a:off x="3492149" y="3792615"/>
              <a:ext cx="2385600" cy="471820"/>
            </a:xfrm>
            <a:prstGeom prst="rect">
              <a:avLst/>
            </a:prstGeom>
            <a:noFill/>
          </p:spPr>
          <p:txBody>
            <a:bodyPr wrap="square" rtlCol="0" anchor="ctr">
              <a:normAutofit/>
            </a:bodyPr>
            <a:lstStyle/>
            <a:p>
              <a:pPr algn="ctr"/>
              <a:r>
                <a:rPr lang="zh-CN" altLang="en-US" b="1" dirty="0">
                  <a:solidFill>
                    <a:schemeClr val="accent1"/>
                  </a:solidFill>
                </a:rPr>
                <a:t>专家 </a:t>
              </a:r>
              <a:r>
                <a:rPr lang="en-US" altLang="zh-CN" b="1" dirty="0">
                  <a:solidFill>
                    <a:schemeClr val="accent1"/>
                  </a:solidFill>
                </a:rPr>
                <a:t>ROI </a:t>
              </a:r>
              <a:r>
                <a:rPr lang="zh-CN" altLang="en-US" b="1" dirty="0">
                  <a:solidFill>
                    <a:schemeClr val="accent1"/>
                  </a:solidFill>
                </a:rPr>
                <a:t>标注</a:t>
              </a:r>
              <a:endParaRPr lang="en-US" altLang="zh-CN" b="1" dirty="0">
                <a:solidFill>
                  <a:schemeClr val="accent1"/>
                </a:solidFill>
              </a:endParaRPr>
            </a:p>
          </p:txBody>
        </p:sp>
        <p:sp>
          <p:nvSpPr>
            <p:cNvPr id="19" name="îṩľïḓe"/>
            <p:cNvSpPr/>
            <p:nvPr/>
          </p:nvSpPr>
          <p:spPr>
            <a:xfrm>
              <a:off x="7211319" y="3173743"/>
              <a:ext cx="591457" cy="591462"/>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dirty="0">
                  <a:solidFill>
                    <a:schemeClr val="bg1"/>
                  </a:solidFill>
                </a:rPr>
                <a:t>Q3</a:t>
              </a:r>
              <a:endParaRPr lang="zh-CN" altLang="en-US" sz="1600" b="1" dirty="0">
                <a:solidFill>
                  <a:schemeClr val="bg1"/>
                </a:solidFill>
              </a:endParaRPr>
            </a:p>
          </p:txBody>
        </p:sp>
        <p:sp>
          <p:nvSpPr>
            <p:cNvPr id="20" name="íṣľíḍé"/>
            <p:cNvSpPr txBox="1"/>
            <p:nvPr/>
          </p:nvSpPr>
          <p:spPr>
            <a:xfrm>
              <a:off x="6314249" y="4264435"/>
              <a:ext cx="2385602" cy="1461921"/>
            </a:xfrm>
            <a:prstGeom prst="rect">
              <a:avLst/>
            </a:prstGeom>
            <a:noFill/>
          </p:spPr>
          <p:txBody>
            <a:bodyPr wrap="square" lIns="90000" tIns="46800" rIns="90000" bIns="46800" rtlCol="0">
              <a:normAutofit/>
            </a:bodyPr>
            <a:lstStyle/>
            <a:p>
              <a:pPr algn="ctr">
                <a:lnSpc>
                  <a:spcPct val="150000"/>
                </a:lnSpc>
              </a:pPr>
              <a:r>
                <a:rPr lang="zh-CN" altLang="en-US" sz="1300" dirty="0"/>
                <a:t>这些多边形轮廓坐标以 </a:t>
              </a:r>
              <a:r>
                <a:rPr lang="en-US" altLang="zh-CN" sz="1300" dirty="0" err="1"/>
                <a:t>GeoJSON</a:t>
              </a:r>
              <a:r>
                <a:rPr lang="en-US" altLang="zh-CN" sz="1300" dirty="0"/>
                <a:t> </a:t>
              </a:r>
              <a:r>
                <a:rPr lang="zh-CN" altLang="en-US" sz="1300" dirty="0"/>
                <a:t>格式保存，方便提取图像块进行评测分析</a:t>
              </a:r>
              <a:endParaRPr lang="en-US" altLang="zh-CN" sz="1300" dirty="0"/>
            </a:p>
          </p:txBody>
        </p:sp>
        <p:sp>
          <p:nvSpPr>
            <p:cNvPr id="21" name="íşḻíḍe"/>
            <p:cNvSpPr txBox="1"/>
            <p:nvPr/>
          </p:nvSpPr>
          <p:spPr>
            <a:xfrm>
              <a:off x="6314248" y="3792615"/>
              <a:ext cx="2385600" cy="471820"/>
            </a:xfrm>
            <a:prstGeom prst="rect">
              <a:avLst/>
            </a:prstGeom>
            <a:noFill/>
          </p:spPr>
          <p:txBody>
            <a:bodyPr wrap="square" rtlCol="0" anchor="ctr">
              <a:normAutofit/>
            </a:bodyPr>
            <a:lstStyle/>
            <a:p>
              <a:pPr algn="ctr"/>
              <a:r>
                <a:rPr lang="zh-CN" altLang="en-US" b="1" dirty="0">
                  <a:solidFill>
                    <a:schemeClr val="accent1"/>
                  </a:solidFill>
                </a:rPr>
                <a:t>标注数据格式</a:t>
              </a:r>
              <a:endParaRPr lang="en-US" altLang="zh-CN" b="1" dirty="0">
                <a:solidFill>
                  <a:schemeClr val="accent1"/>
                </a:solidFill>
              </a:endParaRPr>
            </a:p>
          </p:txBody>
        </p:sp>
        <p:sp>
          <p:nvSpPr>
            <p:cNvPr id="23" name="ïsľïḑe"/>
            <p:cNvSpPr/>
            <p:nvPr/>
          </p:nvSpPr>
          <p:spPr>
            <a:xfrm>
              <a:off x="10033417" y="3173743"/>
              <a:ext cx="591457" cy="591462"/>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dirty="0">
                  <a:solidFill>
                    <a:schemeClr val="bg1"/>
                  </a:solidFill>
                </a:rPr>
                <a:t>Q4</a:t>
              </a:r>
              <a:endParaRPr lang="zh-CN" altLang="en-US" sz="1600" b="1" dirty="0">
                <a:solidFill>
                  <a:schemeClr val="bg1"/>
                </a:solidFill>
              </a:endParaRPr>
            </a:p>
          </p:txBody>
        </p:sp>
        <p:sp>
          <p:nvSpPr>
            <p:cNvPr id="24" name="ïṣḻiḍé"/>
            <p:cNvSpPr txBox="1"/>
            <p:nvPr/>
          </p:nvSpPr>
          <p:spPr>
            <a:xfrm>
              <a:off x="9136347" y="4264435"/>
              <a:ext cx="2385602" cy="1461921"/>
            </a:xfrm>
            <a:prstGeom prst="rect">
              <a:avLst/>
            </a:prstGeom>
            <a:noFill/>
          </p:spPr>
          <p:txBody>
            <a:bodyPr wrap="square" lIns="90000" tIns="46800" rIns="90000" bIns="46800" rtlCol="0">
              <a:noAutofit/>
            </a:bodyPr>
            <a:lstStyle/>
            <a:p>
              <a:pPr algn="ctr">
                <a:lnSpc>
                  <a:spcPct val="150000"/>
                </a:lnSpc>
              </a:pPr>
              <a:r>
                <a:rPr lang="zh-CN" altLang="en-US" sz="1300" dirty="0"/>
                <a:t>模型需从切片中观察并更新组织学分级（</a:t>
              </a:r>
              <a:r>
                <a:rPr lang="en-US" altLang="zh-CN" sz="1300" dirty="0" err="1"/>
                <a:t>grading_hpv</a:t>
              </a:r>
              <a:r>
                <a:rPr lang="zh-CN" altLang="en-US" sz="1300" dirty="0"/>
                <a:t>）、浸润深度、以及关键的不良特征如淋巴管侵犯（</a:t>
              </a:r>
              <a:r>
                <a:rPr lang="en-US" altLang="zh-CN" sz="1300" dirty="0"/>
                <a:t>L</a:t>
              </a:r>
              <a:r>
                <a:rPr lang="zh-CN" altLang="en-US" sz="1300" dirty="0"/>
                <a:t>）和结外侵犯（</a:t>
              </a:r>
              <a:r>
                <a:rPr lang="en-US" altLang="zh-CN" sz="1300" dirty="0" err="1"/>
                <a:t>perinodal_invasion</a:t>
              </a:r>
              <a:r>
                <a:rPr lang="zh-CN" altLang="en-US" sz="1300" dirty="0"/>
                <a:t>） 。</a:t>
              </a:r>
              <a:endParaRPr lang="en-US" altLang="zh-CN" sz="1300" dirty="0"/>
            </a:p>
          </p:txBody>
        </p:sp>
        <p:sp>
          <p:nvSpPr>
            <p:cNvPr id="25" name="isľïḓé"/>
            <p:cNvSpPr txBox="1"/>
            <p:nvPr/>
          </p:nvSpPr>
          <p:spPr>
            <a:xfrm>
              <a:off x="9136346" y="3792615"/>
              <a:ext cx="2385600" cy="471820"/>
            </a:xfrm>
            <a:prstGeom prst="rect">
              <a:avLst/>
            </a:prstGeom>
            <a:noFill/>
          </p:spPr>
          <p:txBody>
            <a:bodyPr wrap="square" rtlCol="0" anchor="ctr">
              <a:normAutofit/>
            </a:bodyPr>
            <a:lstStyle/>
            <a:p>
              <a:pPr algn="ctr"/>
              <a:r>
                <a:rPr lang="zh-CN" altLang="en-US" b="1" dirty="0">
                  <a:solidFill>
                    <a:schemeClr val="accent1"/>
                  </a:solidFill>
                </a:rPr>
                <a:t>能力考察点</a:t>
              </a:r>
              <a:endParaRPr lang="en-US" altLang="zh-CN" b="1" dirty="0">
                <a:solidFill>
                  <a:schemeClr val="accent1"/>
                </a:solidFill>
              </a:endParaRPr>
            </a:p>
          </p:txBody>
        </p:sp>
        <p:cxnSp>
          <p:nvCxnSpPr>
            <p:cNvPr id="26" name="肘形连接符 25"/>
            <p:cNvCxnSpPr>
              <a:cxnSpLocks/>
              <a:stCxn id="28" idx="2"/>
              <a:endCxn id="15" idx="0"/>
            </p:cNvCxnSpPr>
            <p:nvPr/>
          </p:nvCxnSpPr>
          <p:spPr>
            <a:xfrm rot="10800000" flipV="1">
              <a:off x="4684950" y="1904547"/>
              <a:ext cx="788751" cy="1269195"/>
            </a:xfrm>
            <a:prstGeom prst="bentConnector2">
              <a:avLst/>
            </a:prstGeom>
            <a:ln w="3175" cap="rnd">
              <a:solidFill>
                <a:schemeClr val="bg1">
                  <a:lumMod val="75000"/>
                </a:schemeClr>
              </a:solidFill>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 name="肘形连接符 26"/>
            <p:cNvCxnSpPr>
              <a:cxnSpLocks/>
              <a:stCxn id="28" idx="6"/>
              <a:endCxn id="19" idx="0"/>
            </p:cNvCxnSpPr>
            <p:nvPr/>
          </p:nvCxnSpPr>
          <p:spPr>
            <a:xfrm>
              <a:off x="6718300" y="1904548"/>
              <a:ext cx="788748" cy="1269195"/>
            </a:xfrm>
            <a:prstGeom prst="bentConnector2">
              <a:avLst/>
            </a:prstGeom>
            <a:ln w="3175" cap="rnd">
              <a:solidFill>
                <a:schemeClr val="bg1">
                  <a:lumMod val="75000"/>
                </a:schemeClr>
              </a:solidFill>
              <a:round/>
              <a:headEnd type="none"/>
              <a:tailEnd type="triangle"/>
            </a:ln>
          </p:spPr>
          <p:style>
            <a:lnRef idx="1">
              <a:schemeClr val="accent1"/>
            </a:lnRef>
            <a:fillRef idx="0">
              <a:schemeClr val="accent1"/>
            </a:fillRef>
            <a:effectRef idx="0">
              <a:schemeClr val="accent1"/>
            </a:effectRef>
            <a:fontRef idx="minor">
              <a:schemeClr val="tx1"/>
            </a:fontRef>
          </p:style>
        </p:cxnSp>
      </p:grpSp>
      <p:pic>
        <p:nvPicPr>
          <p:cNvPr id="38" name="图片 37" descr="C:\Users\xin\Desktop\中科大.png中科大"/>
          <p:cNvPicPr>
            <a:picLocks noChangeAspect="1"/>
          </p:cNvPicPr>
          <p:nvPr/>
        </p:nvPicPr>
        <p:blipFill>
          <a:blip r:embed="rId3"/>
          <a:srcRect/>
          <a:stretch>
            <a:fillRect/>
          </a:stretch>
        </p:blipFill>
        <p:spPr>
          <a:xfrm>
            <a:off x="10857865" y="252730"/>
            <a:ext cx="878840" cy="8794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A0996-AFB1-CBA9-CCEC-C23814EEBDBD}"/>
              </a:ext>
            </a:extLst>
          </p:cNvPr>
          <p:cNvSpPr>
            <a:spLocks noGrp="1"/>
          </p:cNvSpPr>
          <p:nvPr>
            <p:ph type="title"/>
          </p:nvPr>
        </p:nvSpPr>
        <p:spPr>
          <a:xfrm>
            <a:off x="1" y="0"/>
            <a:ext cx="2862146" cy="1028699"/>
          </a:xfrm>
        </p:spPr>
        <p:txBody>
          <a:bodyPr>
            <a:normAutofit/>
          </a:bodyPr>
          <a:lstStyle/>
          <a:p>
            <a:r>
              <a:rPr lang="en-US" altLang="zh-CN" dirty="0"/>
              <a:t>step_4_wsi_slide_update</a:t>
            </a:r>
            <a:endParaRPr lang="zh-CN" altLang="en-US" dirty="0"/>
          </a:p>
        </p:txBody>
      </p:sp>
      <p:sp>
        <p:nvSpPr>
          <p:cNvPr id="4" name="灯片编号占位符 3">
            <a:extLst>
              <a:ext uri="{FF2B5EF4-FFF2-40B4-BE49-F238E27FC236}">
                <a16:creationId xmlns:a16="http://schemas.microsoft.com/office/drawing/2014/main" id="{1A59EAE3-D27C-A44B-811E-005F5BBB32D7}"/>
              </a:ext>
            </a:extLst>
          </p:cNvPr>
          <p:cNvSpPr>
            <a:spLocks noGrp="1"/>
          </p:cNvSpPr>
          <p:nvPr>
            <p:ph type="sldNum" sz="quarter" idx="12"/>
          </p:nvPr>
        </p:nvSpPr>
        <p:spPr/>
        <p:txBody>
          <a:bodyPr/>
          <a:lstStyle/>
          <a:p>
            <a:fld id="{5DD3DB80-B894-403A-B48E-6FDC1A72010E}" type="slidenum">
              <a:rPr lang="zh-CN" altLang="en-US" smtClean="0"/>
              <a:t>15</a:t>
            </a:fld>
            <a:endParaRPr lang="zh-CN" altLang="en-US"/>
          </a:p>
        </p:txBody>
      </p:sp>
      <p:sp>
        <p:nvSpPr>
          <p:cNvPr id="9" name="文本框 8">
            <a:extLst>
              <a:ext uri="{FF2B5EF4-FFF2-40B4-BE49-F238E27FC236}">
                <a16:creationId xmlns:a16="http://schemas.microsoft.com/office/drawing/2014/main" id="{FDA471DB-02F2-71ED-3EBA-38F62999D618}"/>
              </a:ext>
            </a:extLst>
          </p:cNvPr>
          <p:cNvSpPr txBox="1"/>
          <p:nvPr/>
        </p:nvSpPr>
        <p:spPr>
          <a:xfrm>
            <a:off x="0" y="2557287"/>
            <a:ext cx="6215449" cy="3170099"/>
          </a:xfrm>
          <a:prstGeom prst="rect">
            <a:avLst/>
          </a:prstGeom>
          <a:noFill/>
        </p:spPr>
        <p:txBody>
          <a:bodyPr wrap="square">
            <a:spAutoFit/>
          </a:bodyPr>
          <a:lstStyle/>
          <a:p>
            <a:r>
              <a:rPr lang="en-US" altLang="zh-CN" sz="1200" dirty="0"/>
              <a:t> "step_4_wsi_slide_update": {</a:t>
            </a:r>
          </a:p>
          <a:p>
            <a:r>
              <a:rPr lang="en-US" altLang="zh-CN" sz="2000" b="1" dirty="0"/>
              <a:t>OUTPUT</a:t>
            </a:r>
          </a:p>
          <a:p>
            <a:r>
              <a:rPr lang="en-US" altLang="zh-CN" sz="1200" dirty="0"/>
              <a:t>        "</a:t>
            </a:r>
            <a:r>
              <a:rPr lang="en-US" altLang="zh-CN" sz="1200" dirty="0" err="1"/>
              <a:t>updated_pT_stage</a:t>
            </a:r>
            <a:r>
              <a:rPr lang="en-US" altLang="zh-CN" sz="1200" dirty="0"/>
              <a:t>": "【</a:t>
            </a:r>
            <a:r>
              <a:rPr lang="zh-CN" altLang="en-US" sz="1200" dirty="0"/>
              <a:t>更新节点</a:t>
            </a:r>
            <a:r>
              <a:rPr lang="en-US" altLang="zh-CN" sz="1200" dirty="0"/>
              <a:t>】</a:t>
            </a:r>
            <a:r>
              <a:rPr lang="zh-CN" altLang="en-US" sz="1200" dirty="0"/>
              <a:t>根据对切片的观察进行判断更新</a:t>
            </a:r>
            <a:r>
              <a:rPr lang="en-US" altLang="zh-CN" sz="1200" dirty="0"/>
              <a:t>",</a:t>
            </a:r>
          </a:p>
          <a:p>
            <a:r>
              <a:rPr lang="en-US" altLang="zh-CN" sz="1200" dirty="0"/>
              <a:t>        "</a:t>
            </a:r>
            <a:r>
              <a:rPr lang="en-US" altLang="zh-CN" sz="1200" dirty="0" err="1"/>
              <a:t>updated_pN_stage</a:t>
            </a:r>
            <a:r>
              <a:rPr lang="en-US" altLang="zh-CN" sz="1200" dirty="0"/>
              <a:t>": "【</a:t>
            </a:r>
            <a:r>
              <a:rPr lang="zh-CN" altLang="en-US" sz="1200" dirty="0"/>
              <a:t>更新节点</a:t>
            </a:r>
            <a:r>
              <a:rPr lang="en-US" altLang="zh-CN" sz="1200" dirty="0"/>
              <a:t>】</a:t>
            </a:r>
            <a:r>
              <a:rPr lang="zh-CN" altLang="en-US" sz="1200" dirty="0"/>
              <a:t>根据对切片的观察进行判断更新</a:t>
            </a:r>
            <a:r>
              <a:rPr lang="en-US" altLang="zh-CN" sz="1200" dirty="0"/>
              <a:t>",</a:t>
            </a:r>
          </a:p>
          <a:p>
            <a:r>
              <a:rPr lang="en-US" altLang="zh-CN" sz="1200" dirty="0"/>
              <a:t>        "</a:t>
            </a:r>
            <a:r>
              <a:rPr lang="en-US" altLang="zh-CN" sz="1200" dirty="0" err="1"/>
              <a:t>updated_resection_status</a:t>
            </a:r>
            <a:r>
              <a:rPr lang="en-US" altLang="zh-CN" sz="1200" dirty="0"/>
              <a:t>": "【</a:t>
            </a:r>
            <a:r>
              <a:rPr lang="zh-CN" altLang="en-US" sz="1200" dirty="0"/>
              <a:t>更新节点</a:t>
            </a:r>
            <a:r>
              <a:rPr lang="en-US" altLang="zh-CN" sz="1200" dirty="0"/>
              <a:t>】</a:t>
            </a:r>
            <a:r>
              <a:rPr lang="zh-CN" altLang="en-US" sz="1200" dirty="0"/>
              <a:t>结合 </a:t>
            </a:r>
            <a:r>
              <a:rPr lang="en-US" altLang="zh-CN" sz="1200" dirty="0"/>
              <a:t>HE </a:t>
            </a:r>
            <a:r>
              <a:rPr lang="zh-CN" altLang="en-US" sz="1200" dirty="0"/>
              <a:t>切片更新 </a:t>
            </a:r>
            <a:r>
              <a:rPr lang="en-US" altLang="zh-CN" sz="1200" dirty="0"/>
              <a:t>(R0/R1)",</a:t>
            </a:r>
          </a:p>
          <a:p>
            <a:r>
              <a:rPr lang="en-US" altLang="zh-CN" sz="1200" dirty="0"/>
              <a:t>        "</a:t>
            </a:r>
            <a:r>
              <a:rPr lang="en-US" altLang="zh-CN" sz="1200" dirty="0" err="1"/>
              <a:t>updated_histologic_type</a:t>
            </a:r>
            <a:r>
              <a:rPr lang="en-US" altLang="zh-CN" sz="1200" dirty="0"/>
              <a:t>": "【</a:t>
            </a:r>
            <a:r>
              <a:rPr lang="zh-CN" altLang="en-US" sz="1200" dirty="0"/>
              <a:t>更新节点</a:t>
            </a:r>
            <a:r>
              <a:rPr lang="en-US" altLang="zh-CN" sz="1200" dirty="0"/>
              <a:t>】</a:t>
            </a:r>
            <a:r>
              <a:rPr lang="zh-CN" altLang="en-US" sz="1200" dirty="0"/>
              <a:t>结合 </a:t>
            </a:r>
            <a:r>
              <a:rPr lang="en-US" altLang="zh-CN" sz="1200" dirty="0"/>
              <a:t>HE </a:t>
            </a:r>
            <a:r>
              <a:rPr lang="zh-CN" altLang="en-US" sz="1200" dirty="0"/>
              <a:t>切片更新</a:t>
            </a:r>
            <a:r>
              <a:rPr lang="en-US" altLang="zh-CN" sz="1200" dirty="0"/>
              <a:t>",</a:t>
            </a:r>
          </a:p>
          <a:p>
            <a:r>
              <a:rPr lang="en-US" altLang="zh-CN" sz="1200" dirty="0"/>
              <a:t>        "</a:t>
            </a:r>
            <a:r>
              <a:rPr lang="en-US" altLang="zh-CN" sz="1200" dirty="0" err="1"/>
              <a:t>perineural_invasion_Pn</a:t>
            </a:r>
            <a:r>
              <a:rPr lang="en-US" altLang="zh-CN" sz="1200" dirty="0"/>
              <a:t>": "【</a:t>
            </a:r>
            <a:r>
              <a:rPr lang="zh-CN" altLang="en-US" sz="1200" dirty="0"/>
              <a:t>切片提取</a:t>
            </a:r>
            <a:r>
              <a:rPr lang="en-US" altLang="zh-CN" sz="1200" dirty="0"/>
              <a:t>】</a:t>
            </a:r>
            <a:r>
              <a:rPr lang="zh-CN" altLang="en-US" sz="1200" dirty="0"/>
              <a:t>手术报告 </a:t>
            </a:r>
            <a:r>
              <a:rPr lang="en-US" altLang="zh-CN" sz="1200" dirty="0"/>
              <a:t>+ HE </a:t>
            </a:r>
            <a:r>
              <a:rPr lang="zh-CN" altLang="en-US" sz="1200" dirty="0"/>
              <a:t>染色切片得出</a:t>
            </a:r>
            <a:r>
              <a:rPr lang="en-US" altLang="zh-CN" sz="1200" dirty="0"/>
              <a:t>",</a:t>
            </a:r>
          </a:p>
          <a:p>
            <a:r>
              <a:rPr lang="en-US" altLang="zh-CN" sz="1200" dirty="0"/>
              <a:t>        "</a:t>
            </a:r>
            <a:r>
              <a:rPr lang="en-US" altLang="zh-CN" sz="1200" dirty="0" err="1"/>
              <a:t>lymphovascular_invasion_L</a:t>
            </a:r>
            <a:r>
              <a:rPr lang="en-US" altLang="zh-CN" sz="1200" dirty="0"/>
              <a:t>": "【</a:t>
            </a:r>
            <a:r>
              <a:rPr lang="zh-CN" altLang="en-US" sz="1200" dirty="0"/>
              <a:t>切片提取</a:t>
            </a:r>
            <a:r>
              <a:rPr lang="en-US" altLang="zh-CN" sz="1200" dirty="0"/>
              <a:t>】</a:t>
            </a:r>
            <a:r>
              <a:rPr lang="zh-CN" altLang="en-US" sz="1200" dirty="0"/>
              <a:t>手术报告 </a:t>
            </a:r>
            <a:r>
              <a:rPr lang="en-US" altLang="zh-CN" sz="1200" dirty="0"/>
              <a:t>+ HE </a:t>
            </a:r>
            <a:r>
              <a:rPr lang="zh-CN" altLang="en-US" sz="1200" dirty="0"/>
              <a:t>染色切片得出</a:t>
            </a:r>
            <a:r>
              <a:rPr lang="en-US" altLang="zh-CN" sz="1200" dirty="0"/>
              <a:t>",</a:t>
            </a:r>
          </a:p>
          <a:p>
            <a:r>
              <a:rPr lang="en-US" altLang="zh-CN" sz="1200" dirty="0"/>
              <a:t>        "</a:t>
            </a:r>
            <a:r>
              <a:rPr lang="en-US" altLang="zh-CN" sz="1200" dirty="0" err="1"/>
              <a:t>vascular_invasion_V</a:t>
            </a:r>
            <a:r>
              <a:rPr lang="en-US" altLang="zh-CN" sz="1200" dirty="0"/>
              <a:t>": "【</a:t>
            </a:r>
            <a:r>
              <a:rPr lang="zh-CN" altLang="en-US" sz="1200" dirty="0"/>
              <a:t>切片提取</a:t>
            </a:r>
            <a:r>
              <a:rPr lang="en-US" altLang="zh-CN" sz="1200" dirty="0"/>
              <a:t>】</a:t>
            </a:r>
            <a:r>
              <a:rPr lang="zh-CN" altLang="en-US" sz="1200" dirty="0"/>
              <a:t>手术报告 </a:t>
            </a:r>
            <a:r>
              <a:rPr lang="en-US" altLang="zh-CN" sz="1200" dirty="0"/>
              <a:t>+ HE </a:t>
            </a:r>
            <a:r>
              <a:rPr lang="zh-CN" altLang="en-US" sz="1200" dirty="0"/>
              <a:t>染色切片得出</a:t>
            </a:r>
            <a:r>
              <a:rPr lang="en-US" altLang="zh-CN" sz="1200" dirty="0"/>
              <a:t>",</a:t>
            </a:r>
          </a:p>
          <a:p>
            <a:r>
              <a:rPr lang="en-US" altLang="zh-CN" sz="1200" dirty="0"/>
              <a:t>        "</a:t>
            </a:r>
            <a:r>
              <a:rPr lang="en-US" altLang="zh-CN" sz="1200" dirty="0" err="1"/>
              <a:t>grading_hpv</a:t>
            </a:r>
            <a:r>
              <a:rPr lang="en-US" altLang="zh-CN" sz="1200" dirty="0"/>
              <a:t>": "【</a:t>
            </a:r>
            <a:r>
              <a:rPr lang="zh-CN" altLang="en-US" sz="1200" dirty="0"/>
              <a:t>切片提取</a:t>
            </a:r>
            <a:r>
              <a:rPr lang="en-US" altLang="zh-CN" sz="1200" dirty="0"/>
              <a:t>】</a:t>
            </a:r>
            <a:r>
              <a:rPr lang="zh-CN" altLang="en-US" sz="1200" dirty="0"/>
              <a:t>观察 </a:t>
            </a:r>
            <a:r>
              <a:rPr lang="en-US" altLang="zh-CN" sz="1200" dirty="0"/>
              <a:t>HE </a:t>
            </a:r>
            <a:r>
              <a:rPr lang="zh-CN" altLang="en-US" sz="1200" dirty="0"/>
              <a:t>染色切片得出 </a:t>
            </a:r>
            <a:r>
              <a:rPr lang="en-US" altLang="zh-CN" sz="1200" dirty="0"/>
              <a:t>(</a:t>
            </a:r>
            <a:r>
              <a:rPr lang="zh-CN" altLang="en-US" sz="1200" dirty="0"/>
              <a:t>核异型性等</a:t>
            </a:r>
            <a:r>
              <a:rPr lang="en-US" altLang="zh-CN" sz="1200" dirty="0"/>
              <a:t>)",</a:t>
            </a:r>
          </a:p>
          <a:p>
            <a:r>
              <a:rPr lang="en-US" altLang="zh-CN" sz="1200" dirty="0"/>
              <a:t>        "</a:t>
            </a:r>
            <a:r>
              <a:rPr lang="en-US" altLang="zh-CN" sz="1200" dirty="0" err="1"/>
              <a:t>carcinoma_in_situ</a:t>
            </a:r>
            <a:r>
              <a:rPr lang="en-US" altLang="zh-CN" sz="1200" dirty="0"/>
              <a:t>": "【</a:t>
            </a:r>
            <a:r>
              <a:rPr lang="zh-CN" altLang="en-US" sz="1200" dirty="0"/>
              <a:t>切片提取</a:t>
            </a:r>
            <a:r>
              <a:rPr lang="en-US" altLang="zh-CN" sz="1200" dirty="0"/>
              <a:t>】</a:t>
            </a:r>
            <a:r>
              <a:rPr lang="zh-CN" altLang="en-US" sz="1200" dirty="0"/>
              <a:t>观察 </a:t>
            </a:r>
            <a:r>
              <a:rPr lang="en-US" altLang="zh-CN" sz="1200" dirty="0"/>
              <a:t>HE </a:t>
            </a:r>
            <a:r>
              <a:rPr lang="zh-CN" altLang="en-US" sz="1200" dirty="0"/>
              <a:t>染色切片得出</a:t>
            </a:r>
            <a:r>
              <a:rPr lang="en-US" altLang="zh-CN" sz="1200" dirty="0"/>
              <a:t>",</a:t>
            </a:r>
          </a:p>
          <a:p>
            <a:r>
              <a:rPr lang="en-US" altLang="zh-CN" sz="1200" dirty="0"/>
              <a:t>        "</a:t>
            </a:r>
            <a:r>
              <a:rPr lang="en-US" altLang="zh-CN" sz="1200" dirty="0" err="1"/>
              <a:t>resection_status_carcinoma_in_situ</a:t>
            </a:r>
            <a:r>
              <a:rPr lang="en-US" altLang="zh-CN" sz="1200" dirty="0"/>
              <a:t>": "【</a:t>
            </a:r>
            <a:r>
              <a:rPr lang="zh-CN" altLang="en-US" sz="1200" dirty="0"/>
              <a:t>切片提取</a:t>
            </a:r>
            <a:r>
              <a:rPr lang="en-US" altLang="zh-CN" sz="1200" dirty="0"/>
              <a:t>】</a:t>
            </a:r>
            <a:r>
              <a:rPr lang="zh-CN" altLang="en-US" sz="1200" dirty="0"/>
              <a:t>手术报告 </a:t>
            </a:r>
            <a:r>
              <a:rPr lang="en-US" altLang="zh-CN" sz="1200" dirty="0"/>
              <a:t>+ HE </a:t>
            </a:r>
            <a:r>
              <a:rPr lang="zh-CN" altLang="en-US" sz="1200" dirty="0"/>
              <a:t>染色切片得出</a:t>
            </a:r>
            <a:r>
              <a:rPr lang="en-US" altLang="zh-CN" sz="1200" dirty="0"/>
              <a:t>",</a:t>
            </a:r>
          </a:p>
          <a:p>
            <a:r>
              <a:rPr lang="en-US" altLang="zh-CN" sz="1200" dirty="0"/>
              <a:t>        "</a:t>
            </a:r>
            <a:r>
              <a:rPr lang="en-US" altLang="zh-CN" sz="1200" dirty="0" err="1"/>
              <a:t>infiltration_depth_in_mm</a:t>
            </a:r>
            <a:r>
              <a:rPr lang="en-US" altLang="zh-CN" sz="1200" dirty="0"/>
              <a:t>": "【</a:t>
            </a:r>
            <a:r>
              <a:rPr lang="zh-CN" altLang="en-US" sz="1200" dirty="0"/>
              <a:t>切片提取</a:t>
            </a:r>
            <a:r>
              <a:rPr lang="en-US" altLang="zh-CN" sz="1200" dirty="0"/>
              <a:t>】</a:t>
            </a:r>
            <a:r>
              <a:rPr lang="zh-CN" altLang="en-US" sz="1200" dirty="0"/>
              <a:t>在带比例尺的 </a:t>
            </a:r>
            <a:r>
              <a:rPr lang="en-US" altLang="zh-CN" sz="1200" dirty="0"/>
              <a:t>WSI </a:t>
            </a:r>
            <a:r>
              <a:rPr lang="zh-CN" altLang="en-US" sz="1200" dirty="0"/>
              <a:t>上测量</a:t>
            </a:r>
            <a:r>
              <a:rPr lang="en-US" altLang="zh-CN" sz="1200" dirty="0"/>
              <a:t>",</a:t>
            </a:r>
          </a:p>
          <a:p>
            <a:r>
              <a:rPr lang="en-US" altLang="zh-CN" sz="1200" dirty="0"/>
              <a:t>        "</a:t>
            </a:r>
            <a:r>
              <a:rPr lang="en-US" altLang="zh-CN" sz="1200" dirty="0" err="1"/>
              <a:t>closest_resection_margin_in_cm</a:t>
            </a:r>
            <a:r>
              <a:rPr lang="en-US" altLang="zh-CN" sz="1200" dirty="0"/>
              <a:t>": "【</a:t>
            </a:r>
            <a:r>
              <a:rPr lang="zh-CN" altLang="en-US" sz="1200" dirty="0"/>
              <a:t>切片提取 </a:t>
            </a:r>
            <a:r>
              <a:rPr lang="en-US" altLang="zh-CN" sz="1200" dirty="0"/>
              <a:t>/ </a:t>
            </a:r>
            <a:r>
              <a:rPr lang="zh-CN" altLang="en-US" sz="1200" dirty="0"/>
              <a:t>阶段补充</a:t>
            </a:r>
            <a:r>
              <a:rPr lang="en-US" altLang="zh-CN" sz="1200" dirty="0"/>
              <a:t>】</a:t>
            </a:r>
            <a:r>
              <a:rPr lang="zh-CN" altLang="en-US" sz="1200" dirty="0"/>
              <a:t>尝试从 </a:t>
            </a:r>
            <a:r>
              <a:rPr lang="en-US" altLang="zh-CN" sz="1200" dirty="0"/>
              <a:t>HE </a:t>
            </a:r>
            <a:r>
              <a:rPr lang="zh-CN" altLang="en-US" sz="1200" dirty="0"/>
              <a:t>切片观察；</a:t>
            </a:r>
            <a:r>
              <a:rPr lang="en-US" altLang="zh-CN" sz="1200" dirty="0"/>
              <a:t>",</a:t>
            </a:r>
          </a:p>
          <a:p>
            <a:r>
              <a:rPr lang="en-US" altLang="zh-CN" sz="1200" dirty="0"/>
              <a:t>        "</a:t>
            </a:r>
            <a:r>
              <a:rPr lang="en-US" altLang="zh-CN" sz="1200" dirty="0" err="1"/>
              <a:t>perinodal_invasion</a:t>
            </a:r>
            <a:r>
              <a:rPr lang="en-US" altLang="zh-CN" sz="1200" dirty="0"/>
              <a:t>": "【</a:t>
            </a:r>
            <a:r>
              <a:rPr lang="zh-CN" altLang="en-US" sz="1200" dirty="0"/>
              <a:t>切片提取</a:t>
            </a:r>
            <a:r>
              <a:rPr lang="en-US" altLang="zh-CN" sz="1200" dirty="0"/>
              <a:t>】</a:t>
            </a:r>
            <a:r>
              <a:rPr lang="zh-CN" altLang="en-US" sz="1200" dirty="0"/>
              <a:t>手术报告 </a:t>
            </a:r>
            <a:r>
              <a:rPr lang="en-US" altLang="zh-CN" sz="1200" dirty="0"/>
              <a:t>+ HE </a:t>
            </a:r>
            <a:r>
              <a:rPr lang="zh-CN" altLang="en-US" sz="1200" dirty="0"/>
              <a:t>染色切片得出</a:t>
            </a:r>
            <a:r>
              <a:rPr lang="en-US" altLang="zh-CN" sz="1200" dirty="0"/>
              <a:t>",</a:t>
            </a:r>
          </a:p>
          <a:p>
            <a:r>
              <a:rPr lang="en-US" altLang="zh-CN" sz="1200" dirty="0"/>
              <a:t>},</a:t>
            </a:r>
            <a:endParaRPr lang="zh-CN" altLang="en-US" sz="1200" dirty="0"/>
          </a:p>
        </p:txBody>
      </p:sp>
      <p:pic>
        <p:nvPicPr>
          <p:cNvPr id="18" name="图片 17">
            <a:extLst>
              <a:ext uri="{FF2B5EF4-FFF2-40B4-BE49-F238E27FC236}">
                <a16:creationId xmlns:a16="http://schemas.microsoft.com/office/drawing/2014/main" id="{BA42FAFD-B96D-C3F2-D727-E8974E080D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3497" y="2922373"/>
            <a:ext cx="6043001" cy="2439929"/>
          </a:xfrm>
          <a:prstGeom prst="rect">
            <a:avLst/>
          </a:prstGeom>
        </p:spPr>
      </p:pic>
      <p:pic>
        <p:nvPicPr>
          <p:cNvPr id="3074" name="Picture 2">
            <a:extLst>
              <a:ext uri="{FF2B5EF4-FFF2-40B4-BE49-F238E27FC236}">
                <a16:creationId xmlns:a16="http://schemas.microsoft.com/office/drawing/2014/main" id="{0ADD5343-C9E4-9C1A-03B7-E88B5845E6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5969" y="426308"/>
            <a:ext cx="2506314" cy="261345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9A871CB3-503D-40A5-88DA-DF8626DA88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9896" y="654908"/>
            <a:ext cx="3110517" cy="2181043"/>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E9D9C906-9AF2-A945-83CA-376697F1541C}"/>
              </a:ext>
            </a:extLst>
          </p:cNvPr>
          <p:cNvSpPr txBox="1"/>
          <p:nvPr/>
        </p:nvSpPr>
        <p:spPr>
          <a:xfrm>
            <a:off x="7850459" y="162380"/>
            <a:ext cx="3271024" cy="646331"/>
          </a:xfrm>
          <a:prstGeom prst="rect">
            <a:avLst/>
          </a:prstGeom>
          <a:noFill/>
        </p:spPr>
        <p:txBody>
          <a:bodyPr wrap="square" rtlCol="0">
            <a:spAutoFit/>
          </a:bodyPr>
          <a:lstStyle/>
          <a:p>
            <a:r>
              <a:rPr lang="en-US" altLang="zh-CN" dirty="0"/>
              <a:t>HE</a:t>
            </a:r>
            <a:r>
              <a:rPr lang="zh-CN" altLang="en-US" dirty="0"/>
              <a:t>，原发肿瘤；</a:t>
            </a:r>
            <a:r>
              <a:rPr lang="en-US" altLang="zh-CN" dirty="0"/>
              <a:t>HE</a:t>
            </a:r>
            <a:r>
              <a:rPr lang="zh-CN" altLang="en-US" dirty="0"/>
              <a:t>，淋巴结高分辨率染色切片</a:t>
            </a:r>
          </a:p>
        </p:txBody>
      </p:sp>
      <p:sp>
        <p:nvSpPr>
          <p:cNvPr id="21" name="文本框 20">
            <a:extLst>
              <a:ext uri="{FF2B5EF4-FFF2-40B4-BE49-F238E27FC236}">
                <a16:creationId xmlns:a16="http://schemas.microsoft.com/office/drawing/2014/main" id="{6875E3DA-EA24-3093-777F-88EACD7EC673}"/>
              </a:ext>
            </a:extLst>
          </p:cNvPr>
          <p:cNvSpPr txBox="1"/>
          <p:nvPr/>
        </p:nvSpPr>
        <p:spPr>
          <a:xfrm>
            <a:off x="7801032" y="1202745"/>
            <a:ext cx="4341541" cy="1477328"/>
          </a:xfrm>
          <a:prstGeom prst="rect">
            <a:avLst/>
          </a:prstGeom>
          <a:noFill/>
        </p:spPr>
        <p:txBody>
          <a:bodyPr wrap="square" rtlCol="0">
            <a:spAutoFit/>
          </a:bodyPr>
          <a:lstStyle/>
          <a:p>
            <a:r>
              <a:rPr lang="zh-CN" altLang="en-US" dirty="0"/>
              <a:t>给出患者术后组织切片信息</a:t>
            </a:r>
            <a:endParaRPr lang="en-US" altLang="zh-CN" dirty="0"/>
          </a:p>
          <a:p>
            <a:r>
              <a:rPr lang="en-US" altLang="zh-CN" dirty="0"/>
              <a:t>Task1:</a:t>
            </a:r>
            <a:r>
              <a:rPr lang="zh-CN" altLang="en-US" dirty="0"/>
              <a:t>当前属于哪个诊疗阶段 </a:t>
            </a:r>
            <a:endParaRPr lang="en-US" altLang="zh-CN" dirty="0"/>
          </a:p>
          <a:p>
            <a:r>
              <a:rPr lang="en-US" altLang="zh-CN" dirty="0"/>
              <a:t>Task2:</a:t>
            </a:r>
            <a:r>
              <a:rPr lang="zh-CN" altLang="en-US" dirty="0"/>
              <a:t>模型需要指出可以得出的病理特征信息，并提供相关的推理及依据</a:t>
            </a:r>
            <a:endParaRPr lang="en-US" altLang="zh-CN" dirty="0"/>
          </a:p>
          <a:p>
            <a:r>
              <a:rPr lang="en-US" altLang="zh-CN" dirty="0"/>
              <a:t>Task3</a:t>
            </a:r>
            <a:r>
              <a:rPr lang="zh-CN" altLang="en-US" dirty="0"/>
              <a:t>：</a:t>
            </a:r>
            <a:r>
              <a:rPr lang="zh-CN" altLang="en-US" sz="1800" b="1" dirty="0"/>
              <a:t>下一步推荐进行什么操作 </a:t>
            </a:r>
            <a:endParaRPr lang="zh-CN" altLang="en-US" dirty="0"/>
          </a:p>
        </p:txBody>
      </p:sp>
      <p:pic>
        <p:nvPicPr>
          <p:cNvPr id="22" name="图片 21" descr="C:\Users\xin\Desktop\中科大.png中科大">
            <a:extLst>
              <a:ext uri="{FF2B5EF4-FFF2-40B4-BE49-F238E27FC236}">
                <a16:creationId xmlns:a16="http://schemas.microsoft.com/office/drawing/2014/main" id="{C35AF29D-380F-D255-2E85-109A8376F6B4}"/>
              </a:ext>
            </a:extLst>
          </p:cNvPr>
          <p:cNvPicPr>
            <a:picLocks noChangeAspect="1"/>
          </p:cNvPicPr>
          <p:nvPr/>
        </p:nvPicPr>
        <p:blipFill>
          <a:blip r:embed="rId5"/>
          <a:srcRect/>
          <a:stretch>
            <a:fillRect/>
          </a:stretch>
        </p:blipFill>
        <p:spPr>
          <a:xfrm>
            <a:off x="10865299" y="279508"/>
            <a:ext cx="878840" cy="879475"/>
          </a:xfrm>
          <a:prstGeom prst="rect">
            <a:avLst/>
          </a:prstGeom>
        </p:spPr>
      </p:pic>
    </p:spTree>
    <p:extLst>
      <p:ext uri="{BB962C8B-B14F-4D97-AF65-F5344CB8AC3E}">
        <p14:creationId xmlns:p14="http://schemas.microsoft.com/office/powerpoint/2010/main" val="3743149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A0996-AFB1-CBA9-CCEC-C23814EEBDBD}"/>
              </a:ext>
            </a:extLst>
          </p:cNvPr>
          <p:cNvSpPr>
            <a:spLocks noGrp="1"/>
          </p:cNvSpPr>
          <p:nvPr>
            <p:ph type="title"/>
          </p:nvPr>
        </p:nvSpPr>
        <p:spPr>
          <a:xfrm>
            <a:off x="0" y="0"/>
            <a:ext cx="4490223" cy="1028699"/>
          </a:xfrm>
        </p:spPr>
        <p:txBody>
          <a:bodyPr>
            <a:normAutofit/>
          </a:bodyPr>
          <a:lstStyle/>
          <a:p>
            <a:r>
              <a:rPr lang="en-US" altLang="zh-CN" dirty="0"/>
              <a:t>step_5_adjuvant_treatment_decision</a:t>
            </a:r>
            <a:endParaRPr lang="zh-CN" altLang="en-US" dirty="0"/>
          </a:p>
        </p:txBody>
      </p:sp>
      <p:sp>
        <p:nvSpPr>
          <p:cNvPr id="4" name="灯片编号占位符 3">
            <a:extLst>
              <a:ext uri="{FF2B5EF4-FFF2-40B4-BE49-F238E27FC236}">
                <a16:creationId xmlns:a16="http://schemas.microsoft.com/office/drawing/2014/main" id="{1A59EAE3-D27C-A44B-811E-005F5BBB32D7}"/>
              </a:ext>
            </a:extLst>
          </p:cNvPr>
          <p:cNvSpPr>
            <a:spLocks noGrp="1"/>
          </p:cNvSpPr>
          <p:nvPr>
            <p:ph type="sldNum" sz="quarter" idx="12"/>
          </p:nvPr>
        </p:nvSpPr>
        <p:spPr/>
        <p:txBody>
          <a:bodyPr/>
          <a:lstStyle/>
          <a:p>
            <a:fld id="{5DD3DB80-B894-403A-B48E-6FDC1A72010E}" type="slidenum">
              <a:rPr lang="zh-CN" altLang="en-US" smtClean="0"/>
              <a:t>16</a:t>
            </a:fld>
            <a:endParaRPr lang="zh-CN" altLang="en-US"/>
          </a:p>
        </p:txBody>
      </p:sp>
      <p:sp>
        <p:nvSpPr>
          <p:cNvPr id="9" name="文本框 8">
            <a:extLst>
              <a:ext uri="{FF2B5EF4-FFF2-40B4-BE49-F238E27FC236}">
                <a16:creationId xmlns:a16="http://schemas.microsoft.com/office/drawing/2014/main" id="{FDA471DB-02F2-71ED-3EBA-38F62999D618}"/>
              </a:ext>
            </a:extLst>
          </p:cNvPr>
          <p:cNvSpPr txBox="1"/>
          <p:nvPr/>
        </p:nvSpPr>
        <p:spPr>
          <a:xfrm>
            <a:off x="155355" y="1593419"/>
            <a:ext cx="9329852" cy="4031873"/>
          </a:xfrm>
          <a:prstGeom prst="rect">
            <a:avLst/>
          </a:prstGeom>
          <a:noFill/>
        </p:spPr>
        <p:txBody>
          <a:bodyPr wrap="square">
            <a:spAutoFit/>
          </a:bodyPr>
          <a:lstStyle/>
          <a:p>
            <a:r>
              <a:rPr lang="en-US" altLang="zh-CN" sz="1200" dirty="0"/>
              <a:t>"step_5_adjuvant_treatment_decision": {</a:t>
            </a:r>
          </a:p>
          <a:p>
            <a:r>
              <a:rPr lang="en-US" altLang="zh-CN" b="1" dirty="0"/>
              <a:t>OUTPUT</a:t>
            </a:r>
          </a:p>
          <a:p>
            <a:r>
              <a:rPr lang="en-US" altLang="zh-CN" sz="1200" dirty="0"/>
              <a:t>	"</a:t>
            </a:r>
            <a:r>
              <a:rPr lang="en-US" altLang="zh-CN" sz="1200" dirty="0" err="1"/>
              <a:t>alignment_summary_narrative</a:t>
            </a:r>
            <a:r>
              <a:rPr lang="en-US" altLang="zh-CN" sz="1200" dirty="0"/>
              <a:t>": " “【</a:t>
            </a:r>
            <a:r>
              <a:rPr lang="zh-CN" altLang="en-US" sz="1200" dirty="0"/>
              <a:t>模型生成</a:t>
            </a:r>
            <a:r>
              <a:rPr lang="en-US" altLang="zh-CN" sz="1200" dirty="0"/>
              <a:t>】</a:t>
            </a:r>
            <a:r>
              <a:rPr lang="zh-CN" altLang="en-US" sz="1200" dirty="0"/>
              <a:t>：该 </a:t>
            </a:r>
            <a:r>
              <a:rPr lang="en-US" altLang="zh-CN" sz="1200" dirty="0"/>
              <a:t>65 </a:t>
            </a:r>
            <a:r>
              <a:rPr lang="zh-CN" altLang="en-US" sz="1200" dirty="0"/>
              <a:t>岁男性前吸烟者罹患右侧下咽癌。术前临床分期为 </a:t>
            </a:r>
            <a:r>
              <a:rPr lang="en-US" altLang="zh-CN" sz="1200" dirty="0"/>
              <a:t>cT3 cN2b</a:t>
            </a:r>
            <a:r>
              <a:rPr lang="zh-CN" altLang="en-US" sz="1200" dirty="0"/>
              <a:t>，初始适用 </a:t>
            </a:r>
            <a:r>
              <a:rPr lang="en-US" altLang="zh-CN" sz="1200" dirty="0"/>
              <a:t>HYPO-3 </a:t>
            </a:r>
            <a:r>
              <a:rPr lang="zh-CN" altLang="en-US" sz="1200" dirty="0"/>
              <a:t>路径。患者接受了广泛的喉全切除及双侧颈部淋巴结清扫术。最终大病理结合 </a:t>
            </a:r>
            <a:r>
              <a:rPr lang="en-US" altLang="zh-CN" sz="1200" dirty="0"/>
              <a:t>WSI </a:t>
            </a:r>
            <a:r>
              <a:rPr lang="zh-CN" altLang="en-US" sz="1200" dirty="0"/>
              <a:t>切片确认，肿瘤浸润深度达 </a:t>
            </a:r>
            <a:r>
              <a:rPr lang="en-US" altLang="zh-CN" sz="1200" dirty="0"/>
              <a:t>19mm </a:t>
            </a:r>
            <a:r>
              <a:rPr lang="zh-CN" altLang="en-US" sz="1200" dirty="0"/>
              <a:t>并突破了常规解剖界限，导致原发灶分期上调；同时结合清扫淋巴结分布，整体病理分期由临床的 </a:t>
            </a:r>
            <a:r>
              <a:rPr lang="en-US" altLang="zh-CN" sz="1200" dirty="0"/>
              <a:t>cT3 cN2b </a:t>
            </a:r>
            <a:r>
              <a:rPr lang="zh-CN" altLang="en-US" sz="1200" dirty="0"/>
              <a:t>修正并确诊为 </a:t>
            </a:r>
            <a:r>
              <a:rPr lang="en-US" altLang="zh-CN" sz="1200" dirty="0"/>
              <a:t>pT4a pN2b</a:t>
            </a:r>
            <a:r>
              <a:rPr lang="zh-CN" altLang="en-US" sz="1200" dirty="0"/>
              <a:t>。此外，镜下确诊了淋巴结外侵犯 </a:t>
            </a:r>
            <a:r>
              <a:rPr lang="en-US" altLang="zh-CN" sz="1200" dirty="0"/>
              <a:t>(perinodal invasion: yes) </a:t>
            </a:r>
            <a:r>
              <a:rPr lang="zh-CN" altLang="en-US" sz="1200" dirty="0"/>
              <a:t>以及极近的手术切缘（</a:t>
            </a:r>
            <a:r>
              <a:rPr lang="en-US" altLang="zh-CN" sz="1200" dirty="0"/>
              <a:t>&lt;0.1 cm</a:t>
            </a:r>
            <a:r>
              <a:rPr lang="zh-CN" altLang="en-US" sz="1200" dirty="0"/>
              <a:t>）等高危不良病理特征。</a:t>
            </a:r>
            <a:r>
              <a:rPr lang="en-US" altLang="zh-CN" sz="1200" dirty="0"/>
              <a:t>", 	"</a:t>
            </a:r>
            <a:r>
              <a:rPr lang="en-US" altLang="zh-CN" sz="1200" dirty="0" err="1"/>
              <a:t>adverse_features_check_reasoning</a:t>
            </a:r>
            <a:r>
              <a:rPr lang="en-US" altLang="zh-CN" sz="1200" dirty="0"/>
              <a:t>": " “【</a:t>
            </a:r>
            <a:r>
              <a:rPr lang="zh-CN" altLang="en-US" sz="1200" dirty="0"/>
              <a:t>模型生成</a:t>
            </a:r>
            <a:r>
              <a:rPr lang="en-US" altLang="zh-CN" sz="1200" dirty="0"/>
              <a:t>】</a:t>
            </a:r>
            <a:r>
              <a:rPr lang="zh-CN" altLang="en-US" sz="1200" dirty="0"/>
              <a:t>：患者经历了分期上调（</a:t>
            </a:r>
            <a:r>
              <a:rPr lang="en-US" altLang="zh-CN" sz="1200" dirty="0"/>
              <a:t>T3 </a:t>
            </a:r>
            <a:r>
              <a:rPr lang="zh-CN" altLang="en-US" sz="1200" dirty="0"/>
              <a:t>升至 </a:t>
            </a:r>
            <a:r>
              <a:rPr lang="en-US" altLang="zh-CN" sz="1200" dirty="0"/>
              <a:t>T4a</a:t>
            </a:r>
            <a:r>
              <a:rPr lang="zh-CN" altLang="en-US" sz="1200" dirty="0"/>
              <a:t>），且存在两个关键的绝对高危不良病理特征：</a:t>
            </a:r>
            <a:r>
              <a:rPr lang="en-US" altLang="zh-CN" sz="1200" dirty="0"/>
              <a:t>1. </a:t>
            </a:r>
            <a:r>
              <a:rPr lang="zh-CN" altLang="en-US" sz="1200" dirty="0"/>
              <a:t>淋巴结外侵犯 </a:t>
            </a:r>
            <a:r>
              <a:rPr lang="en-US" altLang="zh-CN" sz="1200" dirty="0"/>
              <a:t>(perinodal invasion: yes) </a:t>
            </a:r>
            <a:r>
              <a:rPr lang="zh-CN" altLang="en-US" sz="1200" dirty="0"/>
              <a:t>；</a:t>
            </a:r>
            <a:r>
              <a:rPr lang="en-US" altLang="zh-CN" sz="1200" dirty="0"/>
              <a:t>2. </a:t>
            </a:r>
            <a:r>
              <a:rPr lang="zh-CN" altLang="en-US" sz="1200" dirty="0"/>
              <a:t>最近切缘 </a:t>
            </a:r>
            <a:r>
              <a:rPr lang="en-US" altLang="zh-CN" sz="1200" dirty="0"/>
              <a:t>&lt; 0.1 cm</a:t>
            </a:r>
            <a:r>
              <a:rPr lang="zh-CN" altLang="en-US" sz="1200" dirty="0"/>
              <a:t>（视为高风险的极窄</a:t>
            </a:r>
            <a:r>
              <a:rPr lang="en-US" altLang="zh-CN" sz="1200" dirty="0"/>
              <a:t>/</a:t>
            </a:r>
            <a:r>
              <a:rPr lang="zh-CN" altLang="en-US" sz="1200" dirty="0"/>
              <a:t>阳性切缘等效状态）。</a:t>
            </a:r>
            <a:r>
              <a:rPr lang="en-US" altLang="zh-CN" sz="1200" dirty="0"/>
              <a:t>", 	"</a:t>
            </a:r>
            <a:r>
              <a:rPr lang="en-US" altLang="zh-CN" sz="1200" dirty="0" err="1"/>
              <a:t>guideline_decision_chain</a:t>
            </a:r>
            <a:r>
              <a:rPr lang="en-US" altLang="zh-CN" sz="1200" dirty="0"/>
              <a:t>": " “【</a:t>
            </a:r>
            <a:r>
              <a:rPr lang="zh-CN" altLang="en-US" sz="1200" dirty="0"/>
              <a:t>模型生成</a:t>
            </a:r>
            <a:r>
              <a:rPr lang="en-US" altLang="zh-CN" sz="1200" dirty="0"/>
              <a:t>】</a:t>
            </a:r>
            <a:r>
              <a:rPr lang="zh-CN" altLang="en-US" sz="1200" dirty="0"/>
              <a:t>：由于术后病理将原发灶分期从 </a:t>
            </a:r>
            <a:r>
              <a:rPr lang="en-US" altLang="zh-CN" sz="1200" dirty="0"/>
              <a:t>cT3 </a:t>
            </a:r>
            <a:r>
              <a:rPr lang="zh-CN" altLang="en-US" sz="1200" dirty="0"/>
              <a:t>明确上调至 </a:t>
            </a:r>
            <a:r>
              <a:rPr lang="en-US" altLang="zh-CN" sz="1200" dirty="0"/>
              <a:t>pT4a</a:t>
            </a:r>
            <a:r>
              <a:rPr lang="zh-CN" altLang="en-US" sz="1200" dirty="0"/>
              <a:t>，患者的辅助治疗决策路径自动由术前评估的 </a:t>
            </a:r>
            <a:r>
              <a:rPr lang="en-US" altLang="zh-CN" sz="1200" dirty="0"/>
              <a:t>HYPO-3 </a:t>
            </a:r>
            <a:r>
              <a:rPr lang="zh-CN" altLang="en-US" sz="1200" dirty="0"/>
              <a:t>转入 </a:t>
            </a:r>
            <a:r>
              <a:rPr lang="en-US" altLang="zh-CN" sz="1200" dirty="0"/>
              <a:t>HYPO-5</a:t>
            </a:r>
            <a:r>
              <a:rPr lang="zh-CN" altLang="en-US" sz="1200" dirty="0"/>
              <a:t>（适用于 </a:t>
            </a:r>
            <a:r>
              <a:rPr lang="en-US" altLang="zh-CN" sz="1200" dirty="0"/>
              <a:t>T4a, N0-3 </a:t>
            </a:r>
            <a:r>
              <a:rPr lang="zh-CN" altLang="en-US" sz="1200" dirty="0"/>
              <a:t>疾病）。在 </a:t>
            </a:r>
            <a:r>
              <a:rPr lang="en-US" altLang="zh-CN" sz="1200" dirty="0"/>
              <a:t>HYPO-5 </a:t>
            </a:r>
            <a:r>
              <a:rPr lang="zh-CN" altLang="en-US" sz="1200" dirty="0"/>
              <a:t>路径下，针对伴有淋巴结外侵犯及高危切缘的 </a:t>
            </a:r>
            <a:r>
              <a:rPr lang="en-US" altLang="zh-CN" sz="1200" dirty="0"/>
              <a:t>pT4a pN2b </a:t>
            </a:r>
            <a:r>
              <a:rPr lang="zh-CN" altLang="en-US" sz="1200" dirty="0"/>
              <a:t>下咽癌，根据 </a:t>
            </a:r>
            <a:r>
              <a:rPr lang="en-US" altLang="zh-CN" sz="1200" dirty="0"/>
              <a:t>NCCN </a:t>
            </a:r>
            <a:r>
              <a:rPr lang="zh-CN" altLang="en-US" sz="1200" dirty="0"/>
              <a:t>指南，强烈推荐（</a:t>
            </a:r>
            <a:r>
              <a:rPr lang="en-US" altLang="zh-CN" sz="1200" dirty="0"/>
              <a:t>1</a:t>
            </a:r>
            <a:r>
              <a:rPr lang="zh-CN" altLang="en-US" sz="1200" dirty="0"/>
              <a:t>类推荐）进行术后系统治疗</a:t>
            </a:r>
            <a:r>
              <a:rPr lang="en-US" altLang="zh-CN" sz="1200" dirty="0"/>
              <a:t>/</a:t>
            </a:r>
            <a:r>
              <a:rPr lang="zh-CN" altLang="en-US" sz="1200" dirty="0"/>
              <a:t>放疗（同步放化疗）。</a:t>
            </a:r>
            <a:r>
              <a:rPr lang="en-US" altLang="zh-CN" sz="1200" dirty="0"/>
              <a:t>", </a:t>
            </a:r>
          </a:p>
          <a:p>
            <a:r>
              <a:rPr lang="en-US" altLang="zh-CN" sz="1200" dirty="0"/>
              <a:t>	"</a:t>
            </a:r>
            <a:r>
              <a:rPr lang="en-US" altLang="zh-CN" sz="1200" dirty="0" err="1"/>
              <a:t>adjuvant_treatment_intent</a:t>
            </a:r>
            <a:r>
              <a:rPr lang="en-US" altLang="zh-CN" sz="1200" dirty="0"/>
              <a:t>": "c", </a:t>
            </a:r>
          </a:p>
          <a:p>
            <a:r>
              <a:rPr lang="en-US" altLang="zh-CN" sz="1200" dirty="0"/>
              <a:t>	"</a:t>
            </a:r>
            <a:r>
              <a:rPr lang="en-US" altLang="zh-CN" sz="1200" dirty="0" err="1"/>
              <a:t>adjuvant_radiotherapy_y_n</a:t>
            </a:r>
            <a:r>
              <a:rPr lang="en-US" altLang="zh-CN" sz="1200" dirty="0"/>
              <a:t>": "</a:t>
            </a:r>
            <a:r>
              <a:rPr lang="en-US" altLang="zh-CN" sz="1200" dirty="0" err="1"/>
              <a:t>yes"urative</a:t>
            </a:r>
            <a:r>
              <a:rPr lang="en-US" altLang="zh-CN" sz="1200" dirty="0"/>
              <a:t>, </a:t>
            </a:r>
          </a:p>
          <a:p>
            <a:r>
              <a:rPr lang="en-US" altLang="zh-CN" sz="1200" dirty="0"/>
              <a:t>	"</a:t>
            </a:r>
            <a:r>
              <a:rPr lang="en-US" altLang="zh-CN" sz="1200" dirty="0" err="1"/>
              <a:t>adjuvant_radiotherapy_type</a:t>
            </a:r>
            <a:r>
              <a:rPr lang="en-US" altLang="zh-CN" sz="1200" dirty="0"/>
              <a:t>": "percutaneous radiotherapy", </a:t>
            </a:r>
          </a:p>
          <a:p>
            <a:r>
              <a:rPr lang="en-US" altLang="zh-CN" sz="1200" dirty="0"/>
              <a:t>	"</a:t>
            </a:r>
            <a:r>
              <a:rPr lang="en-US" altLang="zh-CN" sz="1200" dirty="0" err="1"/>
              <a:t>adjuvant_systemic_therapy_y_n</a:t>
            </a:r>
            <a:r>
              <a:rPr lang="en-US" altLang="zh-CN" sz="1200" dirty="0"/>
              <a:t>": "yes", </a:t>
            </a:r>
          </a:p>
          <a:p>
            <a:r>
              <a:rPr lang="en-US" altLang="zh-CN" sz="1200" dirty="0"/>
              <a:t>	"</a:t>
            </a:r>
            <a:r>
              <a:rPr lang="en-US" altLang="zh-CN" sz="1200" dirty="0" err="1"/>
              <a:t>adjuvant_systemic_therapy_mode</a:t>
            </a:r>
            <a:r>
              <a:rPr lang="en-US" altLang="zh-CN" sz="1200" dirty="0"/>
              <a:t>": "fluorouracil + cisplatin",</a:t>
            </a:r>
          </a:p>
          <a:p>
            <a:r>
              <a:rPr lang="en-US" altLang="zh-CN" sz="1200" dirty="0"/>
              <a:t>	 "</a:t>
            </a:r>
            <a:r>
              <a:rPr lang="en-US" altLang="zh-CN" sz="1200" dirty="0" err="1"/>
              <a:t>adjuvant_chemoradiotherapy_y_n</a:t>
            </a:r>
            <a:r>
              <a:rPr lang="en-US" altLang="zh-CN" sz="1200" dirty="0"/>
              <a:t>": "yes", </a:t>
            </a:r>
          </a:p>
          <a:p>
            <a:r>
              <a:rPr lang="en-US" altLang="zh-CN" sz="1200" dirty="0"/>
              <a:t>	“</a:t>
            </a:r>
            <a:r>
              <a:rPr lang="en-US" altLang="zh-CN" sz="1200" dirty="0" err="1"/>
              <a:t>analysis_reasoning_chain</a:t>
            </a:r>
            <a:r>
              <a:rPr lang="en-US" altLang="zh-CN" sz="1200" dirty="0"/>
              <a:t>”: “【</a:t>
            </a:r>
            <a:r>
              <a:rPr lang="zh-CN" altLang="en-US" sz="1200" dirty="0"/>
              <a:t>模型生成</a:t>
            </a:r>
            <a:r>
              <a:rPr lang="en-US" altLang="zh-CN" sz="1200" dirty="0"/>
              <a:t>】</a:t>
            </a:r>
            <a:r>
              <a:rPr lang="zh-CN" altLang="en-US" sz="1200" dirty="0"/>
              <a:t>：基于分期上调（</a:t>
            </a:r>
            <a:r>
              <a:rPr lang="en-US" altLang="zh-CN" sz="1200" dirty="0"/>
              <a:t>pT4a</a:t>
            </a:r>
            <a:r>
              <a:rPr lang="zh-CN" altLang="en-US" sz="1200" dirty="0"/>
              <a:t>）引发的指南决策路径转换（</a:t>
            </a:r>
            <a:r>
              <a:rPr lang="en-US" altLang="zh-CN" sz="1200" dirty="0"/>
              <a:t>HYPO-3 </a:t>
            </a:r>
            <a:r>
              <a:rPr lang="zh-CN" altLang="en-US" sz="1200" dirty="0"/>
              <a:t>转为 </a:t>
            </a:r>
            <a:r>
              <a:rPr lang="en-US" altLang="zh-CN" sz="1200" dirty="0"/>
              <a:t>HYPO-5</a:t>
            </a:r>
            <a:r>
              <a:rPr lang="zh-CN" altLang="en-US" sz="1200" dirty="0"/>
              <a:t>），叠加结外侵犯和高危切缘的病理铁证，患者最终被安排接受了旨在根治 </a:t>
            </a:r>
            <a:r>
              <a:rPr lang="en-US" altLang="zh-CN" sz="1200" dirty="0"/>
              <a:t>(curative) </a:t>
            </a:r>
            <a:r>
              <a:rPr lang="zh-CN" altLang="en-US" sz="1200" dirty="0"/>
              <a:t>的经皮放射治疗和系统性化疗 </a:t>
            </a:r>
            <a:r>
              <a:rPr lang="en-US" altLang="zh-CN" sz="1200" dirty="0"/>
              <a:t>(</a:t>
            </a:r>
            <a:r>
              <a:rPr lang="zh-CN" altLang="en-US" sz="1200" dirty="0"/>
              <a:t>氟尿嘧啶 </a:t>
            </a:r>
            <a:r>
              <a:rPr lang="en-US" altLang="zh-CN" sz="1200" dirty="0"/>
              <a:t>+ </a:t>
            </a:r>
            <a:r>
              <a:rPr lang="zh-CN" altLang="en-US" sz="1200" dirty="0"/>
              <a:t>顺铂</a:t>
            </a:r>
            <a:r>
              <a:rPr lang="en-US" altLang="zh-CN" sz="1200" dirty="0"/>
              <a:t>)</a:t>
            </a:r>
            <a:r>
              <a:rPr lang="zh-CN" altLang="en-US" sz="1200" dirty="0"/>
              <a:t>，即同步放化疗 </a:t>
            </a:r>
            <a:r>
              <a:rPr lang="en-US" altLang="zh-CN" sz="1200" dirty="0"/>
              <a:t>(</a:t>
            </a:r>
            <a:r>
              <a:rPr lang="en-US" altLang="zh-CN" sz="1200" dirty="0" err="1"/>
              <a:t>radiochemotherapy</a:t>
            </a:r>
            <a:r>
              <a:rPr lang="en-US" altLang="zh-CN" sz="1200" dirty="0"/>
              <a:t>: yes) </a:t>
            </a:r>
            <a:r>
              <a:rPr lang="zh-CN" altLang="en-US" sz="1200" dirty="0"/>
              <a:t>，完全符合最新病理分期及不良特征干预指南。</a:t>
            </a:r>
            <a:r>
              <a:rPr lang="en-US" altLang="zh-CN" sz="1200" dirty="0"/>
              <a:t>“</a:t>
            </a:r>
          </a:p>
          <a:p>
            <a:r>
              <a:rPr lang="en-US" altLang="zh-CN" sz="1200" dirty="0"/>
              <a:t> }</a:t>
            </a:r>
            <a:endParaRPr lang="zh-CN" altLang="en-US" sz="1200" dirty="0"/>
          </a:p>
        </p:txBody>
      </p:sp>
      <p:pic>
        <p:nvPicPr>
          <p:cNvPr id="6" name="图片 5">
            <a:extLst>
              <a:ext uri="{FF2B5EF4-FFF2-40B4-BE49-F238E27FC236}">
                <a16:creationId xmlns:a16="http://schemas.microsoft.com/office/drawing/2014/main" id="{FB344162-543E-A2F4-B349-B5404F11AE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5610" y="9708"/>
            <a:ext cx="6213900" cy="2037982"/>
          </a:xfrm>
          <a:prstGeom prst="rect">
            <a:avLst/>
          </a:prstGeom>
        </p:spPr>
      </p:pic>
      <p:sp>
        <p:nvSpPr>
          <p:cNvPr id="7" name="文本框 6">
            <a:extLst>
              <a:ext uri="{FF2B5EF4-FFF2-40B4-BE49-F238E27FC236}">
                <a16:creationId xmlns:a16="http://schemas.microsoft.com/office/drawing/2014/main" id="{FFE6FF6C-7FD5-2DDE-3AAC-7B3CFC6A0A1F}"/>
              </a:ext>
            </a:extLst>
          </p:cNvPr>
          <p:cNvSpPr txBox="1"/>
          <p:nvPr/>
        </p:nvSpPr>
        <p:spPr>
          <a:xfrm>
            <a:off x="492630" y="5523514"/>
            <a:ext cx="6177543" cy="923330"/>
          </a:xfrm>
          <a:prstGeom prst="rect">
            <a:avLst/>
          </a:prstGeom>
          <a:noFill/>
        </p:spPr>
        <p:txBody>
          <a:bodyPr wrap="square" rtlCol="0">
            <a:spAutoFit/>
          </a:bodyPr>
          <a:lstStyle/>
          <a:p>
            <a:r>
              <a:rPr lang="en-US" altLang="zh-CN" dirty="0"/>
              <a:t>Task1:</a:t>
            </a:r>
            <a:r>
              <a:rPr lang="zh-CN" altLang="en-US" dirty="0"/>
              <a:t>当前属于哪个诊疗阶段 </a:t>
            </a:r>
            <a:endParaRPr lang="en-US" altLang="zh-CN" dirty="0"/>
          </a:p>
          <a:p>
            <a:r>
              <a:rPr lang="en-US" altLang="zh-CN" dirty="0"/>
              <a:t>Task3:</a:t>
            </a:r>
            <a:r>
              <a:rPr lang="zh-CN" altLang="en-US" dirty="0"/>
              <a:t>模型需要根据前面的所有信息、病理特征给出准确的</a:t>
            </a:r>
            <a:r>
              <a:rPr lang="zh-CN" altLang="en-US" b="1" u="sng" dirty="0"/>
              <a:t>辅助治疗路径、治疗内容</a:t>
            </a:r>
            <a:r>
              <a:rPr lang="zh-CN" altLang="en-US" dirty="0"/>
              <a:t>。同时给出推理及其依据。</a:t>
            </a:r>
          </a:p>
        </p:txBody>
      </p:sp>
      <p:pic>
        <p:nvPicPr>
          <p:cNvPr id="10" name="图片 9" descr="C:\Users\xin\Desktop\中科大.png中科大">
            <a:extLst>
              <a:ext uri="{FF2B5EF4-FFF2-40B4-BE49-F238E27FC236}">
                <a16:creationId xmlns:a16="http://schemas.microsoft.com/office/drawing/2014/main" id="{FFC39EBA-CC4F-4684-8A13-8990184BC6C8}"/>
              </a:ext>
            </a:extLst>
          </p:cNvPr>
          <p:cNvPicPr>
            <a:picLocks noChangeAspect="1"/>
          </p:cNvPicPr>
          <p:nvPr/>
        </p:nvPicPr>
        <p:blipFill>
          <a:blip r:embed="rId3"/>
          <a:srcRect/>
          <a:stretch>
            <a:fillRect/>
          </a:stretch>
        </p:blipFill>
        <p:spPr>
          <a:xfrm>
            <a:off x="11081067" y="5141012"/>
            <a:ext cx="878840" cy="879475"/>
          </a:xfrm>
          <a:prstGeom prst="rect">
            <a:avLst/>
          </a:prstGeom>
        </p:spPr>
      </p:pic>
    </p:spTree>
    <p:extLst>
      <p:ext uri="{BB962C8B-B14F-4D97-AF65-F5344CB8AC3E}">
        <p14:creationId xmlns:p14="http://schemas.microsoft.com/office/powerpoint/2010/main" val="2186554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TODO:</a:t>
            </a:r>
            <a:r>
              <a:rPr lang="zh-CN" altLang="en-US" dirty="0"/>
              <a:t>任务设计及数据标注</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t>17</a:t>
            </a:fld>
            <a:endParaRPr lang="zh-CN" altLang="en-US"/>
          </a:p>
        </p:txBody>
      </p:sp>
      <p:pic>
        <p:nvPicPr>
          <p:cNvPr id="55" name="图片 54" descr="C:\Users\xin\Desktop\中科大.png中科大"/>
          <p:cNvPicPr>
            <a:picLocks noChangeAspect="1"/>
          </p:cNvPicPr>
          <p:nvPr/>
        </p:nvPicPr>
        <p:blipFill>
          <a:blip r:embed="rId2"/>
          <a:srcRect/>
          <a:stretch>
            <a:fillRect/>
          </a:stretch>
        </p:blipFill>
        <p:spPr>
          <a:xfrm>
            <a:off x="10857865" y="252730"/>
            <a:ext cx="878840" cy="879475"/>
          </a:xfrm>
          <a:prstGeom prst="rect">
            <a:avLst/>
          </a:prstGeom>
        </p:spPr>
      </p:pic>
      <p:sp>
        <p:nvSpPr>
          <p:cNvPr id="17" name="文本框 16">
            <a:extLst>
              <a:ext uri="{FF2B5EF4-FFF2-40B4-BE49-F238E27FC236}">
                <a16:creationId xmlns:a16="http://schemas.microsoft.com/office/drawing/2014/main" id="{416D2644-5466-F691-1763-41246287EE86}"/>
              </a:ext>
            </a:extLst>
          </p:cNvPr>
          <p:cNvSpPr txBox="1"/>
          <p:nvPr/>
        </p:nvSpPr>
        <p:spPr>
          <a:xfrm>
            <a:off x="669924" y="1312321"/>
            <a:ext cx="9842157" cy="3970318"/>
          </a:xfrm>
          <a:prstGeom prst="rect">
            <a:avLst/>
          </a:prstGeom>
          <a:noFill/>
        </p:spPr>
        <p:txBody>
          <a:bodyPr wrap="square" rtlCol="0">
            <a:spAutoFit/>
          </a:bodyPr>
          <a:lstStyle/>
          <a:p>
            <a:r>
              <a:rPr lang="en-US" altLang="zh-CN" dirty="0"/>
              <a:t>1.</a:t>
            </a:r>
            <a:r>
              <a:rPr lang="zh-CN" altLang="en-US" dirty="0"/>
              <a:t>需要专家标注的数据：目前</a:t>
            </a:r>
            <a:r>
              <a:rPr lang="en-US" altLang="zh-CN" dirty="0"/>
              <a:t>ground truth</a:t>
            </a:r>
            <a:r>
              <a:rPr lang="zh-CN" altLang="en-US" dirty="0"/>
              <a:t>只有</a:t>
            </a:r>
            <a:r>
              <a:rPr lang="en-US" altLang="zh-CN" dirty="0"/>
              <a:t>y/n</a:t>
            </a:r>
            <a:r>
              <a:rPr lang="zh-CN" altLang="en-US" dirty="0"/>
              <a:t>，没有决策推理依据，是否需要</a:t>
            </a:r>
            <a:r>
              <a:rPr lang="zh-CN" altLang="en-US" b="1" dirty="0"/>
              <a:t>专家标注。</a:t>
            </a:r>
            <a:endParaRPr lang="en-US" altLang="zh-CN" b="1" dirty="0"/>
          </a:p>
          <a:p>
            <a:endParaRPr lang="en-US" altLang="zh-CN" dirty="0"/>
          </a:p>
          <a:p>
            <a:endParaRPr lang="en-US" altLang="zh-CN" dirty="0"/>
          </a:p>
          <a:p>
            <a:r>
              <a:rPr lang="en-US" altLang="zh-CN" dirty="0"/>
              <a:t>2.</a:t>
            </a:r>
            <a:r>
              <a:rPr lang="zh-CN" altLang="en-US" dirty="0"/>
              <a:t>目前只有面向口腔癌、口咽癌（</a:t>
            </a:r>
            <a:r>
              <a:rPr lang="en-US" altLang="zh-CN" dirty="0"/>
              <a:t>p16</a:t>
            </a:r>
            <a:r>
              <a:rPr lang="zh-CN" altLang="en-US" dirty="0"/>
              <a:t>阴性</a:t>
            </a:r>
            <a:r>
              <a:rPr lang="en-US" altLang="zh-CN" dirty="0"/>
              <a:t>/</a:t>
            </a:r>
            <a:r>
              <a:rPr lang="zh-CN" altLang="en-US" dirty="0"/>
              <a:t>阳性）、下咽癌、声门喉癌、声门上喉癌 的</a:t>
            </a:r>
            <a:r>
              <a:rPr lang="en-US" altLang="zh-CN" dirty="0"/>
              <a:t>763</a:t>
            </a:r>
            <a:r>
              <a:rPr lang="zh-CN" altLang="en-US" dirty="0"/>
              <a:t>个患者数据，且只有图片、文本两种模态，还需</a:t>
            </a:r>
            <a:r>
              <a:rPr lang="zh-CN" altLang="en-US" b="1" dirty="0"/>
              <a:t>数据扩充</a:t>
            </a:r>
            <a:r>
              <a:rPr lang="zh-CN" altLang="en-US" dirty="0"/>
              <a:t>。</a:t>
            </a:r>
            <a:endParaRPr lang="en-US" altLang="zh-CN" dirty="0"/>
          </a:p>
          <a:p>
            <a:endParaRPr lang="en-US" altLang="zh-CN" dirty="0"/>
          </a:p>
          <a:p>
            <a:r>
              <a:rPr lang="en-US" altLang="zh-CN" dirty="0"/>
              <a:t>3.</a:t>
            </a:r>
            <a:r>
              <a:rPr lang="zh-CN" altLang="en-US" dirty="0"/>
              <a:t>标注数据后如何进行</a:t>
            </a:r>
            <a:r>
              <a:rPr lang="zh-CN" altLang="en-US" b="1" dirty="0"/>
              <a:t>模型评价</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9"/>
          <p:cNvSpPr/>
          <p:nvPr/>
        </p:nvSpPr>
        <p:spPr>
          <a:xfrm>
            <a:off x="635" y="1771741"/>
            <a:ext cx="12192000" cy="2960914"/>
          </a:xfrm>
          <a:custGeom>
            <a:avLst/>
            <a:gdLst>
              <a:gd name="connsiteX0" fmla="*/ 0 w 12192000"/>
              <a:gd name="connsiteY0" fmla="*/ 0 h 2960914"/>
              <a:gd name="connsiteX1" fmla="*/ 474663 w 12192000"/>
              <a:gd name="connsiteY1" fmla="*/ 0 h 2960914"/>
              <a:gd name="connsiteX2" fmla="*/ 474663 w 12192000"/>
              <a:gd name="connsiteY2" fmla="*/ 5664 h 2960914"/>
              <a:gd name="connsiteX3" fmla="*/ 6092826 w 12192000"/>
              <a:gd name="connsiteY3" fmla="*/ 348569 h 2960914"/>
              <a:gd name="connsiteX4" fmla="*/ 11710988 w 12192000"/>
              <a:gd name="connsiteY4" fmla="*/ 5664 h 2960914"/>
              <a:gd name="connsiteX5" fmla="*/ 11710988 w 12192000"/>
              <a:gd name="connsiteY5" fmla="*/ 0 h 2960914"/>
              <a:gd name="connsiteX6" fmla="*/ 12192000 w 12192000"/>
              <a:gd name="connsiteY6" fmla="*/ 0 h 2960914"/>
              <a:gd name="connsiteX7" fmla="*/ 12192000 w 12192000"/>
              <a:gd name="connsiteY7" fmla="*/ 2960914 h 2960914"/>
              <a:gd name="connsiteX8" fmla="*/ 11491767 w 12192000"/>
              <a:gd name="connsiteY8" fmla="*/ 2960914 h 2960914"/>
              <a:gd name="connsiteX9" fmla="*/ 6092826 w 12192000"/>
              <a:gd name="connsiteY9" fmla="*/ 2631394 h 2960914"/>
              <a:gd name="connsiteX10" fmla="*/ 693884 w 12192000"/>
              <a:gd name="connsiteY10" fmla="*/ 2960914 h 2960914"/>
              <a:gd name="connsiteX11" fmla="*/ 0 w 12192000"/>
              <a:gd name="connsiteY11" fmla="*/ 2960914 h 2960914"/>
              <a:gd name="connsiteX0-1" fmla="*/ 0 w 12192000"/>
              <a:gd name="connsiteY0-2" fmla="*/ 0 h 2960914"/>
              <a:gd name="connsiteX1-3" fmla="*/ 474663 w 12192000"/>
              <a:gd name="connsiteY1-4" fmla="*/ 0 h 2960914"/>
              <a:gd name="connsiteX2-5" fmla="*/ 474663 w 12192000"/>
              <a:gd name="connsiteY2-6" fmla="*/ 5664 h 2960914"/>
              <a:gd name="connsiteX3-7" fmla="*/ 6092826 w 12192000"/>
              <a:gd name="connsiteY3-8" fmla="*/ 348569 h 2960914"/>
              <a:gd name="connsiteX4-9" fmla="*/ 11710988 w 12192000"/>
              <a:gd name="connsiteY4-10" fmla="*/ 5664 h 2960914"/>
              <a:gd name="connsiteX5-11" fmla="*/ 12192000 w 12192000"/>
              <a:gd name="connsiteY5-12" fmla="*/ 0 h 2960914"/>
              <a:gd name="connsiteX6-13" fmla="*/ 12192000 w 12192000"/>
              <a:gd name="connsiteY6-14" fmla="*/ 2960914 h 2960914"/>
              <a:gd name="connsiteX7-15" fmla="*/ 11491767 w 12192000"/>
              <a:gd name="connsiteY7-16" fmla="*/ 2960914 h 2960914"/>
              <a:gd name="connsiteX8-17" fmla="*/ 6092826 w 12192000"/>
              <a:gd name="connsiteY8-18" fmla="*/ 2631394 h 2960914"/>
              <a:gd name="connsiteX9-19" fmla="*/ 693884 w 12192000"/>
              <a:gd name="connsiteY9-20" fmla="*/ 2960914 h 2960914"/>
              <a:gd name="connsiteX10-21" fmla="*/ 0 w 12192000"/>
              <a:gd name="connsiteY10-22" fmla="*/ 2960914 h 2960914"/>
              <a:gd name="connsiteX11-23" fmla="*/ 0 w 12192000"/>
              <a:gd name="connsiteY11-24" fmla="*/ 0 h 2960914"/>
              <a:gd name="connsiteX0-25" fmla="*/ 0 w 12192000"/>
              <a:gd name="connsiteY0-26" fmla="*/ 0 h 2960914"/>
              <a:gd name="connsiteX1-27" fmla="*/ 474663 w 12192000"/>
              <a:gd name="connsiteY1-28" fmla="*/ 0 h 2960914"/>
              <a:gd name="connsiteX2-29" fmla="*/ 474663 w 12192000"/>
              <a:gd name="connsiteY2-30" fmla="*/ 5664 h 2960914"/>
              <a:gd name="connsiteX3-31" fmla="*/ 6092826 w 12192000"/>
              <a:gd name="connsiteY3-32" fmla="*/ 348569 h 2960914"/>
              <a:gd name="connsiteX4-33" fmla="*/ 12192000 w 12192000"/>
              <a:gd name="connsiteY4-34" fmla="*/ 0 h 2960914"/>
              <a:gd name="connsiteX5-35" fmla="*/ 12192000 w 12192000"/>
              <a:gd name="connsiteY5-36" fmla="*/ 2960914 h 2960914"/>
              <a:gd name="connsiteX6-37" fmla="*/ 11491767 w 12192000"/>
              <a:gd name="connsiteY6-38" fmla="*/ 2960914 h 2960914"/>
              <a:gd name="connsiteX7-39" fmla="*/ 6092826 w 12192000"/>
              <a:gd name="connsiteY7-40" fmla="*/ 2631394 h 2960914"/>
              <a:gd name="connsiteX8-41" fmla="*/ 693884 w 12192000"/>
              <a:gd name="connsiteY8-42" fmla="*/ 2960914 h 2960914"/>
              <a:gd name="connsiteX9-43" fmla="*/ 0 w 12192000"/>
              <a:gd name="connsiteY9-44" fmla="*/ 2960914 h 2960914"/>
              <a:gd name="connsiteX10-45" fmla="*/ 0 w 12192000"/>
              <a:gd name="connsiteY10-46" fmla="*/ 0 h 2960914"/>
              <a:gd name="connsiteX0-47" fmla="*/ 0 w 12192000"/>
              <a:gd name="connsiteY0-48" fmla="*/ 0 h 2960914"/>
              <a:gd name="connsiteX1-49" fmla="*/ 474663 w 12192000"/>
              <a:gd name="connsiteY1-50" fmla="*/ 0 h 2960914"/>
              <a:gd name="connsiteX2-51" fmla="*/ 6092826 w 12192000"/>
              <a:gd name="connsiteY2-52" fmla="*/ 348569 h 2960914"/>
              <a:gd name="connsiteX3-53" fmla="*/ 12192000 w 12192000"/>
              <a:gd name="connsiteY3-54" fmla="*/ 0 h 2960914"/>
              <a:gd name="connsiteX4-55" fmla="*/ 12192000 w 12192000"/>
              <a:gd name="connsiteY4-56" fmla="*/ 2960914 h 2960914"/>
              <a:gd name="connsiteX5-57" fmla="*/ 11491767 w 12192000"/>
              <a:gd name="connsiteY5-58" fmla="*/ 2960914 h 2960914"/>
              <a:gd name="connsiteX6-59" fmla="*/ 6092826 w 12192000"/>
              <a:gd name="connsiteY6-60" fmla="*/ 2631394 h 2960914"/>
              <a:gd name="connsiteX7-61" fmla="*/ 693884 w 12192000"/>
              <a:gd name="connsiteY7-62" fmla="*/ 2960914 h 2960914"/>
              <a:gd name="connsiteX8-63" fmla="*/ 0 w 12192000"/>
              <a:gd name="connsiteY8-64" fmla="*/ 2960914 h 2960914"/>
              <a:gd name="connsiteX9-65" fmla="*/ 0 w 12192000"/>
              <a:gd name="connsiteY9-66" fmla="*/ 0 h 2960914"/>
              <a:gd name="connsiteX0-67" fmla="*/ 0 w 12192000"/>
              <a:gd name="connsiteY0-68" fmla="*/ 0 h 2960914"/>
              <a:gd name="connsiteX1-69" fmla="*/ 6092826 w 12192000"/>
              <a:gd name="connsiteY1-70" fmla="*/ 348569 h 2960914"/>
              <a:gd name="connsiteX2-71" fmla="*/ 12192000 w 12192000"/>
              <a:gd name="connsiteY2-72" fmla="*/ 0 h 2960914"/>
              <a:gd name="connsiteX3-73" fmla="*/ 12192000 w 12192000"/>
              <a:gd name="connsiteY3-74" fmla="*/ 2960914 h 2960914"/>
              <a:gd name="connsiteX4-75" fmla="*/ 11491767 w 12192000"/>
              <a:gd name="connsiteY4-76" fmla="*/ 2960914 h 2960914"/>
              <a:gd name="connsiteX5-77" fmla="*/ 6092826 w 12192000"/>
              <a:gd name="connsiteY5-78" fmla="*/ 2631394 h 2960914"/>
              <a:gd name="connsiteX6-79" fmla="*/ 693884 w 12192000"/>
              <a:gd name="connsiteY6-80" fmla="*/ 2960914 h 2960914"/>
              <a:gd name="connsiteX7-81" fmla="*/ 0 w 12192000"/>
              <a:gd name="connsiteY7-82" fmla="*/ 2960914 h 2960914"/>
              <a:gd name="connsiteX8-83" fmla="*/ 0 w 12192000"/>
              <a:gd name="connsiteY8-84" fmla="*/ 0 h 2960914"/>
              <a:gd name="connsiteX0-85" fmla="*/ 0 w 12192000"/>
              <a:gd name="connsiteY0-86" fmla="*/ 0 h 2960914"/>
              <a:gd name="connsiteX1-87" fmla="*/ 6092826 w 12192000"/>
              <a:gd name="connsiteY1-88" fmla="*/ 348569 h 2960914"/>
              <a:gd name="connsiteX2-89" fmla="*/ 12192000 w 12192000"/>
              <a:gd name="connsiteY2-90" fmla="*/ 0 h 2960914"/>
              <a:gd name="connsiteX3-91" fmla="*/ 12192000 w 12192000"/>
              <a:gd name="connsiteY3-92" fmla="*/ 2960914 h 2960914"/>
              <a:gd name="connsiteX4-93" fmla="*/ 11491767 w 12192000"/>
              <a:gd name="connsiteY4-94" fmla="*/ 2960914 h 2960914"/>
              <a:gd name="connsiteX5-95" fmla="*/ 6092826 w 12192000"/>
              <a:gd name="connsiteY5-96" fmla="*/ 2631394 h 2960914"/>
              <a:gd name="connsiteX6-97" fmla="*/ 0 w 12192000"/>
              <a:gd name="connsiteY6-98" fmla="*/ 2960914 h 2960914"/>
              <a:gd name="connsiteX7-99" fmla="*/ 0 w 12192000"/>
              <a:gd name="connsiteY7-100" fmla="*/ 0 h 2960914"/>
              <a:gd name="connsiteX0-101" fmla="*/ 0 w 12192000"/>
              <a:gd name="connsiteY0-102" fmla="*/ 0 h 2960914"/>
              <a:gd name="connsiteX1-103" fmla="*/ 6092826 w 12192000"/>
              <a:gd name="connsiteY1-104" fmla="*/ 348569 h 2960914"/>
              <a:gd name="connsiteX2-105" fmla="*/ 12192000 w 12192000"/>
              <a:gd name="connsiteY2-106" fmla="*/ 0 h 2960914"/>
              <a:gd name="connsiteX3-107" fmla="*/ 12192000 w 12192000"/>
              <a:gd name="connsiteY3-108" fmla="*/ 2960914 h 2960914"/>
              <a:gd name="connsiteX4-109" fmla="*/ 6092826 w 12192000"/>
              <a:gd name="connsiteY4-110" fmla="*/ 2631394 h 2960914"/>
              <a:gd name="connsiteX5-111" fmla="*/ 0 w 12192000"/>
              <a:gd name="connsiteY5-112" fmla="*/ 2960914 h 2960914"/>
              <a:gd name="connsiteX6-113" fmla="*/ 0 w 12192000"/>
              <a:gd name="connsiteY6-114" fmla="*/ 0 h 29609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192000" h="2960914">
                <a:moveTo>
                  <a:pt x="0" y="0"/>
                </a:moveTo>
                <a:lnTo>
                  <a:pt x="6092826" y="348569"/>
                </a:lnTo>
                <a:lnTo>
                  <a:pt x="12192000" y="0"/>
                </a:lnTo>
                <a:lnTo>
                  <a:pt x="12192000" y="2960914"/>
                </a:lnTo>
                <a:lnTo>
                  <a:pt x="6092826" y="2631394"/>
                </a:lnTo>
                <a:lnTo>
                  <a:pt x="0" y="2960914"/>
                </a:lnTo>
                <a:lnTo>
                  <a:pt x="0" y="0"/>
                </a:lnTo>
                <a:close/>
              </a:path>
            </a:pathLst>
          </a:custGeom>
          <a:blipFill rotWithShape="1">
            <a:blip r:embed="rId3"/>
            <a:srcRect/>
            <a:stretch>
              <a:fillRect t="-76226" b="-9828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6"/>
          <p:cNvSpPr txBox="1"/>
          <p:nvPr/>
        </p:nvSpPr>
        <p:spPr>
          <a:xfrm>
            <a:off x="2309895" y="2874735"/>
            <a:ext cx="7572210" cy="1525136"/>
          </a:xfrm>
          <a:prstGeom prst="rect">
            <a:avLst/>
          </a:prstGeom>
          <a:noFill/>
        </p:spPr>
        <p:txBody>
          <a:bodyPr wrap="none" numCol="1" rtlCol="0">
            <a:prstTxWarp prst="textPlain">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600" b="1" dirty="0">
                <a:solidFill>
                  <a:schemeClr val="bg1">
                    <a:alpha val="43000"/>
                  </a:schemeClr>
                </a:solidFill>
                <a:latin typeface="+mn-lt"/>
              </a:rPr>
              <a:t>THANKS</a:t>
            </a:r>
            <a:endParaRPr lang="zh-CN" altLang="en-US" sz="16600" b="1" dirty="0">
              <a:solidFill>
                <a:schemeClr val="bg1">
                  <a:alpha val="43000"/>
                </a:schemeClr>
              </a:solidFill>
              <a:latin typeface="+mn-lt"/>
            </a:endParaRPr>
          </a:p>
        </p:txBody>
      </p:sp>
      <p:sp>
        <p:nvSpPr>
          <p:cNvPr id="9" name="任意多边形: 形状 8"/>
          <p:cNvSpPr/>
          <p:nvPr/>
        </p:nvSpPr>
        <p:spPr>
          <a:xfrm>
            <a:off x="6072776" y="4732380"/>
            <a:ext cx="6119224" cy="1322661"/>
          </a:xfrm>
          <a:custGeom>
            <a:avLst/>
            <a:gdLst>
              <a:gd name="connsiteX0" fmla="*/ 0 w 6119224"/>
              <a:gd name="connsiteY0" fmla="*/ 0 h 1055961"/>
              <a:gd name="connsiteX1" fmla="*/ 6119224 w 6119224"/>
              <a:gd name="connsiteY1" fmla="*/ 489007 h 1055961"/>
              <a:gd name="connsiteX2" fmla="*/ 6119224 w 6119224"/>
              <a:gd name="connsiteY2" fmla="*/ 1055961 h 1055961"/>
              <a:gd name="connsiteX0-1" fmla="*/ 0 w 6119224"/>
              <a:gd name="connsiteY0-2" fmla="*/ 0 h 1182961"/>
              <a:gd name="connsiteX1-3" fmla="*/ 6119224 w 6119224"/>
              <a:gd name="connsiteY1-4" fmla="*/ 616007 h 1182961"/>
              <a:gd name="connsiteX2-5" fmla="*/ 6119224 w 6119224"/>
              <a:gd name="connsiteY2-6" fmla="*/ 1182961 h 1182961"/>
              <a:gd name="connsiteX3" fmla="*/ 0 w 6119224"/>
              <a:gd name="connsiteY3" fmla="*/ 0 h 1182961"/>
              <a:gd name="connsiteX0-7" fmla="*/ 0 w 6119224"/>
              <a:gd name="connsiteY0-8" fmla="*/ 0 h 1322661"/>
              <a:gd name="connsiteX1-9" fmla="*/ 6119224 w 6119224"/>
              <a:gd name="connsiteY1-10" fmla="*/ 616007 h 1322661"/>
              <a:gd name="connsiteX2-11" fmla="*/ 6119224 w 6119224"/>
              <a:gd name="connsiteY2-12" fmla="*/ 1322661 h 1322661"/>
              <a:gd name="connsiteX3-13" fmla="*/ 0 w 6119224"/>
              <a:gd name="connsiteY3-14" fmla="*/ 0 h 1322661"/>
            </a:gdLst>
            <a:ahLst/>
            <a:cxnLst>
              <a:cxn ang="0">
                <a:pos x="connsiteX0-1" y="connsiteY0-2"/>
              </a:cxn>
              <a:cxn ang="0">
                <a:pos x="connsiteX1-3" y="connsiteY1-4"/>
              </a:cxn>
              <a:cxn ang="0">
                <a:pos x="connsiteX2-5" y="connsiteY2-6"/>
              </a:cxn>
              <a:cxn ang="0">
                <a:pos x="connsiteX3-13" y="connsiteY3-14"/>
              </a:cxn>
            </a:cxnLst>
            <a:rect l="l" t="t" r="r" b="b"/>
            <a:pathLst>
              <a:path w="6119224" h="1322661">
                <a:moveTo>
                  <a:pt x="0" y="0"/>
                </a:moveTo>
                <a:lnTo>
                  <a:pt x="6119224" y="616007"/>
                </a:lnTo>
                <a:lnTo>
                  <a:pt x="6119224" y="1322661"/>
                </a:lnTo>
                <a:cubicBezTo>
                  <a:pt x="4079483" y="970674"/>
                  <a:pt x="2039741" y="351987"/>
                  <a:pt x="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a:off x="0" y="4746511"/>
            <a:ext cx="6169025" cy="949059"/>
          </a:xfrm>
          <a:custGeom>
            <a:avLst/>
            <a:gdLst>
              <a:gd name="connsiteX0" fmla="*/ 6045200 w 6045200"/>
              <a:gd name="connsiteY0" fmla="*/ 0 h 965727"/>
              <a:gd name="connsiteX1" fmla="*/ 0 w 6045200"/>
              <a:gd name="connsiteY1" fmla="*/ 965727 h 965727"/>
              <a:gd name="connsiteX2" fmla="*/ 0 w 6045200"/>
              <a:gd name="connsiteY2" fmla="*/ 326768 h 965727"/>
              <a:gd name="connsiteX0-1" fmla="*/ 6154738 w 6154738"/>
              <a:gd name="connsiteY0-2" fmla="*/ 0 h 939534"/>
              <a:gd name="connsiteX1-3" fmla="*/ 0 w 6154738"/>
              <a:gd name="connsiteY1-4" fmla="*/ 939534 h 939534"/>
              <a:gd name="connsiteX2-5" fmla="*/ 0 w 6154738"/>
              <a:gd name="connsiteY2-6" fmla="*/ 300575 h 939534"/>
              <a:gd name="connsiteX3" fmla="*/ 6154738 w 6154738"/>
              <a:gd name="connsiteY3" fmla="*/ 0 h 939534"/>
              <a:gd name="connsiteX0-7" fmla="*/ 6169025 w 6169025"/>
              <a:gd name="connsiteY0-8" fmla="*/ 0 h 949059"/>
              <a:gd name="connsiteX1-9" fmla="*/ 0 w 6169025"/>
              <a:gd name="connsiteY1-10" fmla="*/ 949059 h 949059"/>
              <a:gd name="connsiteX2-11" fmla="*/ 0 w 6169025"/>
              <a:gd name="connsiteY2-12" fmla="*/ 310100 h 949059"/>
              <a:gd name="connsiteX3-13" fmla="*/ 6169025 w 6169025"/>
              <a:gd name="connsiteY3-14" fmla="*/ 0 h 949059"/>
            </a:gdLst>
            <a:ahLst/>
            <a:cxnLst>
              <a:cxn ang="0">
                <a:pos x="connsiteX0-1" y="connsiteY0-2"/>
              </a:cxn>
              <a:cxn ang="0">
                <a:pos x="connsiteX1-3" y="connsiteY1-4"/>
              </a:cxn>
              <a:cxn ang="0">
                <a:pos x="connsiteX2-5" y="connsiteY2-6"/>
              </a:cxn>
              <a:cxn ang="0">
                <a:pos x="connsiteX3-13" y="connsiteY3-14"/>
              </a:cxn>
            </a:cxnLst>
            <a:rect l="l" t="t" r="r" b="b"/>
            <a:pathLst>
              <a:path w="6169025" h="949059">
                <a:moveTo>
                  <a:pt x="6169025" y="0"/>
                </a:moveTo>
                <a:lnTo>
                  <a:pt x="0" y="949059"/>
                </a:lnTo>
                <a:lnTo>
                  <a:pt x="0" y="310100"/>
                </a:lnTo>
                <a:lnTo>
                  <a:pt x="6169025" y="0"/>
                </a:lnTo>
                <a:close/>
              </a:path>
            </a:pathLst>
          </a:custGeom>
          <a:solidFill>
            <a:srgbClr val="3C849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a:off x="6037580" y="4745082"/>
            <a:ext cx="6154420" cy="847964"/>
          </a:xfrm>
          <a:custGeom>
            <a:avLst/>
            <a:gdLst>
              <a:gd name="connsiteX0" fmla="*/ 0 w 6154420"/>
              <a:gd name="connsiteY0" fmla="*/ 0 h 847964"/>
              <a:gd name="connsiteX1" fmla="*/ 6154420 w 6154420"/>
              <a:gd name="connsiteY1" fmla="*/ 279190 h 847964"/>
              <a:gd name="connsiteX2" fmla="*/ 6154420 w 6154420"/>
              <a:gd name="connsiteY2" fmla="*/ 847964 h 847964"/>
            </a:gdLst>
            <a:ahLst/>
            <a:cxnLst>
              <a:cxn ang="0">
                <a:pos x="connsiteX0" y="connsiteY0"/>
              </a:cxn>
              <a:cxn ang="0">
                <a:pos x="connsiteX1" y="connsiteY1"/>
              </a:cxn>
              <a:cxn ang="0">
                <a:pos x="connsiteX2" y="connsiteY2"/>
              </a:cxn>
            </a:cxnLst>
            <a:rect l="l" t="t" r="r" b="b"/>
            <a:pathLst>
              <a:path w="6154420" h="847964">
                <a:moveTo>
                  <a:pt x="0" y="0"/>
                </a:moveTo>
                <a:lnTo>
                  <a:pt x="6154420" y="279190"/>
                </a:lnTo>
                <a:lnTo>
                  <a:pt x="6154420" y="847964"/>
                </a:lnTo>
                <a:close/>
              </a:path>
            </a:pathLst>
          </a:custGeom>
          <a:solidFill>
            <a:srgbClr val="3C849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p:nvSpPr>
        <p:spPr>
          <a:xfrm>
            <a:off x="6072776" y="4745080"/>
            <a:ext cx="6119224" cy="1055961"/>
          </a:xfrm>
          <a:custGeom>
            <a:avLst/>
            <a:gdLst>
              <a:gd name="connsiteX0" fmla="*/ 0 w 6119224"/>
              <a:gd name="connsiteY0" fmla="*/ 0 h 1055961"/>
              <a:gd name="connsiteX1" fmla="*/ 6119224 w 6119224"/>
              <a:gd name="connsiteY1" fmla="*/ 489007 h 1055961"/>
              <a:gd name="connsiteX2" fmla="*/ 6119224 w 6119224"/>
              <a:gd name="connsiteY2" fmla="*/ 1055961 h 1055961"/>
            </a:gdLst>
            <a:ahLst/>
            <a:cxnLst>
              <a:cxn ang="0">
                <a:pos x="connsiteX0" y="connsiteY0"/>
              </a:cxn>
              <a:cxn ang="0">
                <a:pos x="connsiteX1" y="connsiteY1"/>
              </a:cxn>
              <a:cxn ang="0">
                <a:pos x="connsiteX2" y="connsiteY2"/>
              </a:cxn>
            </a:cxnLst>
            <a:rect l="l" t="t" r="r" b="b"/>
            <a:pathLst>
              <a:path w="6119224" h="1055961">
                <a:moveTo>
                  <a:pt x="0" y="0"/>
                </a:moveTo>
                <a:lnTo>
                  <a:pt x="6119224" y="489007"/>
                </a:lnTo>
                <a:lnTo>
                  <a:pt x="6119224" y="1055961"/>
                </a:lnTo>
                <a:close/>
              </a:path>
            </a:pathLst>
          </a:custGeom>
          <a:solidFill>
            <a:srgbClr val="202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rot="9900000">
            <a:off x="-134897" y="4581817"/>
            <a:ext cx="6268888" cy="994021"/>
          </a:xfrm>
          <a:custGeom>
            <a:avLst/>
            <a:gdLst>
              <a:gd name="connsiteX0" fmla="*/ 0 w 6352117"/>
              <a:gd name="connsiteY0" fmla="*/ 0 h 1112762"/>
              <a:gd name="connsiteX1" fmla="*/ 6352117 w 6352117"/>
              <a:gd name="connsiteY1" fmla="*/ 568538 h 1112762"/>
              <a:gd name="connsiteX2" fmla="*/ 6206293 w 6352117"/>
              <a:gd name="connsiteY2" fmla="*/ 1112762 h 1112762"/>
              <a:gd name="connsiteX0-1" fmla="*/ 0 w 6335918"/>
              <a:gd name="connsiteY0-2" fmla="*/ 0 h 976941"/>
              <a:gd name="connsiteX1-3" fmla="*/ 6335918 w 6335918"/>
              <a:gd name="connsiteY1-4" fmla="*/ 432717 h 976941"/>
              <a:gd name="connsiteX2-5" fmla="*/ 6190094 w 6335918"/>
              <a:gd name="connsiteY2-6" fmla="*/ 976941 h 976941"/>
              <a:gd name="connsiteX3" fmla="*/ 0 w 6335918"/>
              <a:gd name="connsiteY3" fmla="*/ 0 h 976941"/>
              <a:gd name="connsiteX0-7" fmla="*/ 0 w 6252453"/>
              <a:gd name="connsiteY0-8" fmla="*/ 0 h 994021"/>
              <a:gd name="connsiteX1-9" fmla="*/ 6252453 w 6252453"/>
              <a:gd name="connsiteY1-10" fmla="*/ 449797 h 994021"/>
              <a:gd name="connsiteX2-11" fmla="*/ 6106629 w 6252453"/>
              <a:gd name="connsiteY2-12" fmla="*/ 994021 h 994021"/>
              <a:gd name="connsiteX3-13" fmla="*/ 0 w 6252453"/>
              <a:gd name="connsiteY3-14" fmla="*/ 0 h 994021"/>
              <a:gd name="connsiteX0-15" fmla="*/ 0 w 6268888"/>
              <a:gd name="connsiteY0-16" fmla="*/ 0 h 994021"/>
              <a:gd name="connsiteX1-17" fmla="*/ 6268888 w 6268888"/>
              <a:gd name="connsiteY1-18" fmla="*/ 388460 h 994021"/>
              <a:gd name="connsiteX2-19" fmla="*/ 6106629 w 6268888"/>
              <a:gd name="connsiteY2-20" fmla="*/ 994021 h 994021"/>
              <a:gd name="connsiteX3-21" fmla="*/ 0 w 6268888"/>
              <a:gd name="connsiteY3-22" fmla="*/ 0 h 994021"/>
            </a:gdLst>
            <a:ahLst/>
            <a:cxnLst>
              <a:cxn ang="0">
                <a:pos x="connsiteX0-1" y="connsiteY0-2"/>
              </a:cxn>
              <a:cxn ang="0">
                <a:pos x="connsiteX1-3" y="connsiteY1-4"/>
              </a:cxn>
              <a:cxn ang="0">
                <a:pos x="connsiteX2-5" y="connsiteY2-6"/>
              </a:cxn>
              <a:cxn ang="0">
                <a:pos x="connsiteX3-13" y="connsiteY3-14"/>
              </a:cxn>
            </a:cxnLst>
            <a:rect l="l" t="t" r="r" b="b"/>
            <a:pathLst>
              <a:path w="6268888" h="994021">
                <a:moveTo>
                  <a:pt x="0" y="0"/>
                </a:moveTo>
                <a:lnTo>
                  <a:pt x="6268888" y="388460"/>
                </a:lnTo>
                <a:lnTo>
                  <a:pt x="6106629" y="994021"/>
                </a:lnTo>
                <a:cubicBezTo>
                  <a:pt x="4037865" y="623100"/>
                  <a:pt x="2068764" y="370921"/>
                  <a:pt x="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9900000">
            <a:off x="-104378" y="4461848"/>
            <a:ext cx="6264999" cy="1106676"/>
          </a:xfrm>
          <a:custGeom>
            <a:avLst/>
            <a:gdLst>
              <a:gd name="connsiteX0" fmla="*/ 0 w 6352117"/>
              <a:gd name="connsiteY0" fmla="*/ 0 h 1112762"/>
              <a:gd name="connsiteX1" fmla="*/ 6352117 w 6352117"/>
              <a:gd name="connsiteY1" fmla="*/ 568538 h 1112762"/>
              <a:gd name="connsiteX2" fmla="*/ 6206293 w 6352117"/>
              <a:gd name="connsiteY2" fmla="*/ 1112762 h 1112762"/>
              <a:gd name="connsiteX0-1" fmla="*/ 0 w 6200760"/>
              <a:gd name="connsiteY0-2" fmla="*/ 0 h 1079602"/>
              <a:gd name="connsiteX1-3" fmla="*/ 6200760 w 6200760"/>
              <a:gd name="connsiteY1-4" fmla="*/ 535378 h 1079602"/>
              <a:gd name="connsiteX2-5" fmla="*/ 6054936 w 6200760"/>
              <a:gd name="connsiteY2-6" fmla="*/ 1079602 h 1079602"/>
              <a:gd name="connsiteX3" fmla="*/ 0 w 6200760"/>
              <a:gd name="connsiteY3" fmla="*/ 0 h 1079602"/>
              <a:gd name="connsiteX0-7" fmla="*/ 0 w 6264999"/>
              <a:gd name="connsiteY0-8" fmla="*/ 0 h 1106676"/>
              <a:gd name="connsiteX1-9" fmla="*/ 6264999 w 6264999"/>
              <a:gd name="connsiteY1-10" fmla="*/ 562452 h 1106676"/>
              <a:gd name="connsiteX2-11" fmla="*/ 6119175 w 6264999"/>
              <a:gd name="connsiteY2-12" fmla="*/ 1106676 h 1106676"/>
              <a:gd name="connsiteX3-13" fmla="*/ 0 w 6264999"/>
              <a:gd name="connsiteY3-14" fmla="*/ 0 h 1106676"/>
            </a:gdLst>
            <a:ahLst/>
            <a:cxnLst>
              <a:cxn ang="0">
                <a:pos x="connsiteX0-1" y="connsiteY0-2"/>
              </a:cxn>
              <a:cxn ang="0">
                <a:pos x="connsiteX1-3" y="connsiteY1-4"/>
              </a:cxn>
              <a:cxn ang="0">
                <a:pos x="connsiteX2-5" y="connsiteY2-6"/>
              </a:cxn>
              <a:cxn ang="0">
                <a:pos x="connsiteX3-13" y="connsiteY3-14"/>
              </a:cxn>
            </a:cxnLst>
            <a:rect l="l" t="t" r="r" b="b"/>
            <a:pathLst>
              <a:path w="6264999" h="1106676">
                <a:moveTo>
                  <a:pt x="0" y="0"/>
                </a:moveTo>
                <a:lnTo>
                  <a:pt x="6264999" y="562452"/>
                </a:lnTo>
                <a:lnTo>
                  <a:pt x="6119175" y="1106676"/>
                </a:lnTo>
                <a:lnTo>
                  <a:pt x="0" y="0"/>
                </a:lnTo>
                <a:close/>
              </a:path>
            </a:pathLst>
          </a:custGeom>
          <a:solidFill>
            <a:srgbClr val="202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标题 4"/>
          <p:cNvSpPr>
            <a:spLocks noGrp="1"/>
          </p:cNvSpPr>
          <p:nvPr>
            <p:ph type="ctrTitle"/>
          </p:nvPr>
        </p:nvSpPr>
        <p:spPr>
          <a:xfrm>
            <a:off x="3239508" y="421377"/>
            <a:ext cx="5426076" cy="1621509"/>
          </a:xfrm>
        </p:spPr>
        <p:txBody>
          <a:bodyPr/>
          <a:lstStyle/>
          <a:p>
            <a:pPr algn="ctr"/>
            <a:r>
              <a:rPr lang="en-US" altLang="zh-CN" dirty="0"/>
              <a:t>Thanks.</a:t>
            </a:r>
            <a:br>
              <a:rPr lang="en-US" altLang="zh-CN" dirty="0"/>
            </a:br>
            <a:r>
              <a:rPr lang="en-US" altLang="zh-CN" sz="2400" b="0" dirty="0"/>
              <a:t>And Your Slogan Here.</a:t>
            </a:r>
            <a:endParaRPr lang="zh-CN" altLang="en-US" b="0" dirty="0"/>
          </a:p>
        </p:txBody>
      </p:sp>
      <p:pic>
        <p:nvPicPr>
          <p:cNvPr id="3" name="图片 2" descr="C:\Users\xin\Desktop\中科大.png中科大"/>
          <p:cNvPicPr>
            <a:picLocks noChangeAspect="1"/>
          </p:cNvPicPr>
          <p:nvPr/>
        </p:nvPicPr>
        <p:blipFill>
          <a:blip r:embed="rId4"/>
          <a:srcRect/>
          <a:stretch>
            <a:fillRect/>
          </a:stretch>
        </p:blipFill>
        <p:spPr>
          <a:xfrm>
            <a:off x="5656580" y="5920682"/>
            <a:ext cx="878840" cy="879475"/>
          </a:xfrm>
          <a:prstGeom prst="rect">
            <a:avLst/>
          </a:prstGeom>
        </p:spPr>
      </p:pic>
      <p:sp>
        <p:nvSpPr>
          <p:cNvPr id="4" name="文本占位符 3">
            <a:extLst>
              <a:ext uri="{FF2B5EF4-FFF2-40B4-BE49-F238E27FC236}">
                <a16:creationId xmlns:a16="http://schemas.microsoft.com/office/drawing/2014/main" id="{ABBF9447-6FF7-78C9-E5B1-D84823162DFB}"/>
              </a:ext>
            </a:extLst>
          </p:cNvPr>
          <p:cNvSpPr>
            <a:spLocks noGrp="1"/>
          </p:cNvSpPr>
          <p:nvPr>
            <p:ph type="body" sz="quarter" idx="18"/>
          </p:nvPr>
        </p:nvSpPr>
        <p:spPr/>
        <p:txBody>
          <a:bodyPr/>
          <a:lstStyle/>
          <a:p>
            <a:endParaRPr lang="zh-CN" altLang="en-US" dirty="0"/>
          </a:p>
        </p:txBody>
      </p:sp>
      <p:sp>
        <p:nvSpPr>
          <p:cNvPr id="6" name="文本占位符 5">
            <a:extLst>
              <a:ext uri="{FF2B5EF4-FFF2-40B4-BE49-F238E27FC236}">
                <a16:creationId xmlns:a16="http://schemas.microsoft.com/office/drawing/2014/main" id="{10E3FF84-038E-0309-3651-6AA3E66A2EC6}"/>
              </a:ext>
            </a:extLst>
          </p:cNvPr>
          <p:cNvSpPr>
            <a:spLocks noGrp="1"/>
          </p:cNvSpPr>
          <p:nvPr>
            <p:ph type="body" sz="quarter" idx="10"/>
          </p:nvPr>
        </p:nvSpPr>
        <p:spPr/>
        <p:txBody>
          <a:bodyPr/>
          <a:lstStyle/>
          <a:p>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ad653d70-9db3-4d42-81e2-81c31bd37a6f"/>
</p:tagLst>
</file>

<file path=ppt/tags/tag2.xml><?xml version="1.0" encoding="utf-8"?>
<p:tagLst xmlns:a="http://schemas.openxmlformats.org/drawingml/2006/main" xmlns:r="http://schemas.openxmlformats.org/officeDocument/2006/relationships" xmlns:p="http://schemas.openxmlformats.org/presentationml/2006/main">
  <p:tag name="ISLIDE.DIAGRAM" val="af738c60-f0de-49fa-98b5-0eaa980fdd69"/>
</p:tagLst>
</file>

<file path=ppt/tags/tag3.xml><?xml version="1.0" encoding="utf-8"?>
<p:tagLst xmlns:a="http://schemas.openxmlformats.org/drawingml/2006/main" xmlns:r="http://schemas.openxmlformats.org/officeDocument/2006/relationships" xmlns:p="http://schemas.openxmlformats.org/presentationml/2006/main">
  <p:tag name="ISLIDE.DIAGRAM" val="0740cb21-0181-4cf0-ac86-6a6e9487eae0"/>
</p:tagLst>
</file>

<file path=ppt/tags/tag4.xml><?xml version="1.0" encoding="utf-8"?>
<p:tagLst xmlns:a="http://schemas.openxmlformats.org/drawingml/2006/main" xmlns:r="http://schemas.openxmlformats.org/officeDocument/2006/relationships" xmlns:p="http://schemas.openxmlformats.org/presentationml/2006/main">
  <p:tag name="ISLIDE.DIAGRAM" val="6bdf9583-8ae2-462c-8c75-8bdbdaf1d268"/>
</p:tagLst>
</file>

<file path=ppt/theme/theme1.xml><?xml version="1.0" encoding="utf-8"?>
<a:theme xmlns:a="http://schemas.openxmlformats.org/drawingml/2006/main" name="主题5">
  <a:themeElements>
    <a:clrScheme name="20171020-02">
      <a:dk1>
        <a:srgbClr val="000000"/>
      </a:dk1>
      <a:lt1>
        <a:srgbClr val="FFFFFF"/>
      </a:lt1>
      <a:dk2>
        <a:srgbClr val="778495"/>
      </a:dk2>
      <a:lt2>
        <a:srgbClr val="F0F0F0"/>
      </a:lt2>
      <a:accent1>
        <a:srgbClr val="193D5A"/>
      </a:accent1>
      <a:accent2>
        <a:srgbClr val="289195"/>
      </a:accent2>
      <a:accent3>
        <a:srgbClr val="2A3F71"/>
      </a:accent3>
      <a:accent4>
        <a:srgbClr val="1A476C"/>
      </a:accent4>
      <a:accent5>
        <a:srgbClr val="1C7974"/>
      </a:accent5>
      <a:accent6>
        <a:srgbClr val="2F3D50"/>
      </a:accent6>
      <a:hlink>
        <a:srgbClr val="5A889E"/>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20171020-02">
    <a:dk1>
      <a:srgbClr val="000000"/>
    </a:dk1>
    <a:lt1>
      <a:srgbClr val="FFFFFF"/>
    </a:lt1>
    <a:dk2>
      <a:srgbClr val="778495"/>
    </a:dk2>
    <a:lt2>
      <a:srgbClr val="F0F0F0"/>
    </a:lt2>
    <a:accent1>
      <a:srgbClr val="193D5A"/>
    </a:accent1>
    <a:accent2>
      <a:srgbClr val="289195"/>
    </a:accent2>
    <a:accent3>
      <a:srgbClr val="2A3F71"/>
    </a:accent3>
    <a:accent4>
      <a:srgbClr val="1A476C"/>
    </a:accent4>
    <a:accent5>
      <a:srgbClr val="1C7974"/>
    </a:accent5>
    <a:accent6>
      <a:srgbClr val="2F3D50"/>
    </a:accent6>
    <a:hlink>
      <a:srgbClr val="5A889E"/>
    </a:hlink>
    <a:folHlink>
      <a:srgbClr val="BFBFBF"/>
    </a:folHlink>
  </a:clrScheme>
</a:themeOverride>
</file>

<file path=ppt/theme/themeOverride2.xml><?xml version="1.0" encoding="utf-8"?>
<a:themeOverride xmlns:a="http://schemas.openxmlformats.org/drawingml/2006/main">
  <a:clrScheme name="20171020-02">
    <a:dk1>
      <a:srgbClr val="000000"/>
    </a:dk1>
    <a:lt1>
      <a:srgbClr val="FFFFFF"/>
    </a:lt1>
    <a:dk2>
      <a:srgbClr val="778495"/>
    </a:dk2>
    <a:lt2>
      <a:srgbClr val="F0F0F0"/>
    </a:lt2>
    <a:accent1>
      <a:srgbClr val="193D5A"/>
    </a:accent1>
    <a:accent2>
      <a:srgbClr val="289195"/>
    </a:accent2>
    <a:accent3>
      <a:srgbClr val="2A3F71"/>
    </a:accent3>
    <a:accent4>
      <a:srgbClr val="1A476C"/>
    </a:accent4>
    <a:accent5>
      <a:srgbClr val="1C7974"/>
    </a:accent5>
    <a:accent6>
      <a:srgbClr val="2F3D50"/>
    </a:accent6>
    <a:hlink>
      <a:srgbClr val="5A889E"/>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Template>
  <TotalTime>2670</TotalTime>
  <Words>4050</Words>
  <Application>Microsoft Office PowerPoint</Application>
  <PresentationFormat>宽屏</PresentationFormat>
  <Paragraphs>236</Paragraphs>
  <Slides>18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等线</vt:lpstr>
      <vt:lpstr>微软雅黑</vt:lpstr>
      <vt:lpstr>Arial</vt:lpstr>
      <vt:lpstr>Calibri</vt:lpstr>
      <vt:lpstr>Impact</vt:lpstr>
      <vt:lpstr>主题5</vt:lpstr>
      <vt:lpstr>多模态临床推理 Benchmark 构建方案</vt:lpstr>
      <vt:lpstr>Background and Motivation</vt:lpstr>
      <vt:lpstr>NCCN 头颈癌临床实践指南 (2026.V1)</vt:lpstr>
      <vt:lpstr>诊疗流程</vt:lpstr>
      <vt:lpstr>NCCN 指南信息</vt:lpstr>
      <vt:lpstr>NCCN 指南信息</vt:lpstr>
      <vt:lpstr>NCCN 指南信息</vt:lpstr>
      <vt:lpstr>数据集简介</vt:lpstr>
      <vt:lpstr>Benchmark 核心数据设计</vt:lpstr>
      <vt:lpstr>评测任务</vt:lpstr>
      <vt:lpstr>step_1_patient_basic_info</vt:lpstr>
      <vt:lpstr>step_2_clinical _treatment_decision</vt:lpstr>
      <vt:lpstr>step_3_surgery_report_extraction</vt:lpstr>
      <vt:lpstr>多模态病理图像 (WSI) 的引入与处理</vt:lpstr>
      <vt:lpstr>step_4_wsi_slide_update</vt:lpstr>
      <vt:lpstr>step_5_adjuvant_treatment_decision</vt:lpstr>
      <vt:lpstr>TODO:任务设计及数据标注</vt:lpstr>
      <vt:lpstr>Thanks. And Your Slogan Here.</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LW A</cp:lastModifiedBy>
  <cp:revision>56</cp:revision>
  <cp:lastPrinted>2017-10-25T16:00:00Z</cp:lastPrinted>
  <dcterms:created xsi:type="dcterms:W3CDTF">2017-10-25T16:00:00Z</dcterms:created>
  <dcterms:modified xsi:type="dcterms:W3CDTF">2026-03-28T14:12:21Z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2052-11.1.0.10000</vt:lpwstr>
  </property>
</Properties>
</file>