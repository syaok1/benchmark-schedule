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7" d="100"/>
          <a:sy n="167" d="100"/>
        </p:scale>
        <p:origin x="130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8019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6172200" y="685800"/>
            <a:ext cx="822960" cy="82296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8686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72200" y="1554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真实数据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132320" y="685800"/>
            <a:ext cx="822960" cy="82296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86868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0" y="1554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多模态推理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8092440" y="685800"/>
            <a:ext cx="822960" cy="82296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868680"/>
            <a:ext cx="548640" cy="548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92440" y="1554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手术报告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6172200" y="2697480"/>
            <a:ext cx="822960" cy="82296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880360"/>
            <a:ext cx="548640" cy="5486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72200" y="35661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病理WSI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7132320" y="2697480"/>
            <a:ext cx="822960" cy="82296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2880360"/>
            <a:ext cx="548640" cy="5486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132320" y="35661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病理图像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8092440" y="2697480"/>
            <a:ext cx="822960" cy="82296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5320" y="2880360"/>
            <a:ext cx="548640" cy="5486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092440" y="35661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临床指南</a:t>
            </a:r>
            <a:endParaRPr lang="en-US" sz="900" dirty="0"/>
          </a:p>
        </p:txBody>
      </p:sp>
      <p:sp>
        <p:nvSpPr>
          <p:cNvPr id="22" name="Text 14"/>
          <p:cNvSpPr/>
          <p:nvPr/>
        </p:nvSpPr>
        <p:spPr>
          <a:xfrm>
            <a:off x="274320" y="8229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HNC-Benchmark</a:t>
            </a:r>
            <a:endParaRPr lang="en-US" sz="3800" dirty="0"/>
          </a:p>
        </p:txBody>
      </p:sp>
      <p:sp>
        <p:nvSpPr>
          <p:cNvPr id="23" name="Text 15"/>
          <p:cNvSpPr/>
          <p:nvPr/>
        </p:nvSpPr>
        <p:spPr>
          <a:xfrm>
            <a:off x="274320" y="16002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头颈癌多模态临床推理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评测框架</a:t>
            </a:r>
            <a:endParaRPr lang="en-US" sz="2000" dirty="0"/>
          </a:p>
        </p:txBody>
      </p:sp>
      <p:sp>
        <p:nvSpPr>
          <p:cNvPr id="24" name="Text 16"/>
          <p:cNvSpPr/>
          <p:nvPr/>
        </p:nvSpPr>
        <p:spPr>
          <a:xfrm>
            <a:off x="274320" y="2834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AFC2"/>
                </a:solidFill>
              </a:rPr>
              <a:t>基于 Hancock 真实患者数据  ·  NCCN 2026.V1  ·  </a:t>
            </a:r>
            <a:r>
              <a:rPr lang="zh-CN" altLang="en-US" sz="1200" dirty="0">
                <a:solidFill>
                  <a:srgbClr val="8EAFC2"/>
                </a:solidFill>
              </a:rPr>
              <a:t>五</a:t>
            </a:r>
            <a:r>
              <a:rPr lang="en-US" sz="1200" dirty="0" err="1">
                <a:solidFill>
                  <a:srgbClr val="8EAFC2"/>
                </a:solidFill>
              </a:rPr>
              <a:t>种头颈癌亚型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274320" y="35204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763</a:t>
            </a:r>
            <a:endParaRPr lang="en-US" sz="2600" dirty="0"/>
          </a:p>
        </p:txBody>
      </p:sp>
      <p:sp>
        <p:nvSpPr>
          <p:cNvPr id="26" name="Text 18"/>
          <p:cNvSpPr/>
          <p:nvPr/>
        </p:nvSpPr>
        <p:spPr>
          <a:xfrm>
            <a:off x="274320" y="40416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FC2"/>
                </a:solidFill>
              </a:rPr>
              <a:t>真实患者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1600200" y="35204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8" name="Text 20"/>
          <p:cNvSpPr/>
          <p:nvPr/>
        </p:nvSpPr>
        <p:spPr>
          <a:xfrm>
            <a:off x="1600200" y="40416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FC2"/>
                </a:solidFill>
              </a:rPr>
              <a:t>肿瘤亚型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2926080" y="35204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30" name="Text 22"/>
          <p:cNvSpPr/>
          <p:nvPr/>
        </p:nvSpPr>
        <p:spPr>
          <a:xfrm>
            <a:off x="2926080" y="40416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FC2"/>
                </a:solidFill>
              </a:rPr>
              <a:t>推理步骤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4251960" y="35204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公开</a:t>
            </a:r>
            <a:endParaRPr lang="en-US" sz="2600" dirty="0"/>
          </a:p>
        </p:txBody>
      </p:sp>
      <p:sp>
        <p:nvSpPr>
          <p:cNvPr id="32" name="Text 24"/>
          <p:cNvSpPr/>
          <p:nvPr/>
        </p:nvSpPr>
        <p:spPr>
          <a:xfrm>
            <a:off x="4251960" y="40416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FC2"/>
                </a:solidFill>
              </a:rPr>
              <a:t>CC BY 4.0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  项目背景与定位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</a:rPr>
              <a:t>我们在解决什么问题？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114800" cy="38404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现有 Benchmark 的局限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79222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1719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</a:rPr>
              <a:t>合成数据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49808" y="197510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C"/>
                </a:solidFill>
              </a:rPr>
              <a:t>MedGUIDE、AMEGA 均使用虚构/合成场景，无法反映真实临床复杂性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9689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" y="25237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</a:rPr>
              <a:t>单步评测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49808" y="277977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C"/>
                </a:solidFill>
              </a:rPr>
              <a:t>CancerGUIDE 等只测"EHR → 路径"单步，缺乏序列推理与错误级联追踪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401568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9808" y="33284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</a:rPr>
              <a:t>无多模态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749808" y="35844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C"/>
                </a:solidFill>
              </a:rPr>
              <a:t>现有工作均为纯文本，无法评测模型的 WSI 病理图像理解能力</a:t>
            </a:r>
            <a:endParaRPr lang="en-US" sz="10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206240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9808" y="4133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</a:rPr>
              <a:t>数据不公开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749808" y="4389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C"/>
                </a:solidFill>
              </a:rPr>
              <a:t>CancerGUIDE 121例真实数据不对外公开，无法复现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663440" y="123444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5"/>
          <p:cNvSpPr/>
          <p:nvPr/>
        </p:nvSpPr>
        <p:spPr>
          <a:xfrm>
            <a:off x="4663440" y="1234440"/>
            <a:ext cx="411480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6"/>
          <p:cNvSpPr/>
          <p:nvPr/>
        </p:nvSpPr>
        <p:spPr>
          <a:xfrm>
            <a:off x="4709160" y="12344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HNC-Benchmark 的解决方案</a:t>
            </a:r>
            <a:endParaRPr lang="en-US" sz="13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792224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38928" y="1719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</a:rPr>
              <a:t>真实患者数据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5138928" y="197510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C"/>
                </a:solidFill>
              </a:rPr>
              <a:t>Hancock 763例，德国Erlangen单中心，CC BY 4.0 完全公开</a:t>
            </a:r>
            <a:endParaRPr lang="en-US" sz="10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596896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138928" y="25237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</a:rPr>
              <a:t>四步闭环推理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5138928" y="277977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C"/>
                </a:solidFill>
              </a:rPr>
              <a:t>分期决策 → 手术报告提取 → WSI 多模态 → 辅助治疗，级联评分</a:t>
            </a:r>
            <a:endParaRPr lang="en-US" sz="10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401568"/>
            <a:ext cx="256032" cy="25603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138928" y="33284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</a:rPr>
              <a:t>多模态 WSI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5138928" y="35844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C"/>
                </a:solidFill>
              </a:rPr>
              <a:t>HE 染色全切片图像，带比例尺标注，考察真实病理图像理解</a:t>
            </a:r>
            <a:endParaRPr lang="en-US" sz="10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4206240"/>
            <a:ext cx="256032" cy="25603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138928" y="4133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</a:rPr>
              <a:t>临床安全评分</a:t>
            </a:r>
            <a:endParaRPr lang="en-US" sz="1200" dirty="0"/>
          </a:p>
        </p:txBody>
      </p:sp>
      <p:sp>
        <p:nvSpPr>
          <p:cNvPr id="34" name="Text 24"/>
          <p:cNvSpPr/>
          <p:nvPr/>
        </p:nvSpPr>
        <p:spPr>
          <a:xfrm>
            <a:off x="5138928" y="4389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C"/>
                </a:solidFill>
              </a:rPr>
              <a:t>高危特征漏报独立 CSS 惩罚，首个量化临床安全风险的 Benchmark</a:t>
            </a:r>
            <a:endParaRPr lang="en-US" sz="1000" dirty="0"/>
          </a:p>
        </p:txBody>
      </p:sp>
      <p:sp>
        <p:nvSpPr>
          <p:cNvPr id="35" name="Shape 25"/>
          <p:cNvSpPr/>
          <p:nvPr/>
        </p:nvSpPr>
        <p:spPr>
          <a:xfrm>
            <a:off x="4407408" y="2743200"/>
            <a:ext cx="237744" cy="23774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26"/>
          <p:cNvSpPr/>
          <p:nvPr/>
        </p:nvSpPr>
        <p:spPr>
          <a:xfrm>
            <a:off x="4407408" y="27432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  Hancock 数据集概览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2137"/>
                </a:solidFill>
              </a:rPr>
              <a:t>数据基础：763例真实头颈癌患者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AFC2"/>
                </a:solidFill>
              </a:rPr>
              <a:t>德国Erlangen大学医院  ·  2005–2019  ·  CC BY 4.0 公开许可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274320" y="1481328"/>
            <a:ext cx="2011680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5544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15361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原发灶 WSI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20574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7C7B"/>
                </a:solidFill>
              </a:rPr>
              <a:t>709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11480" y="26060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FC2"/>
                </a:solidFill>
              </a:rPr>
              <a:t>张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" y="28803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5A6C"/>
                </a:solidFill>
              </a:rPr>
              <a:t>92% 可用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D5A6C"/>
                </a:solidFill>
              </a:rPr>
              <a:t>0.1213µm/px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450592" y="1481328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2450592" y="1481328"/>
            <a:ext cx="2011680" cy="502920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155448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907792" y="15361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淋巴结 WSI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587752" y="20574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A4C93"/>
                </a:solidFill>
              </a:rPr>
              <a:t>396</a:t>
            </a:r>
            <a:endParaRPr lang="en-US" sz="3200" dirty="0"/>
          </a:p>
        </p:txBody>
      </p:sp>
      <p:sp>
        <p:nvSpPr>
          <p:cNvPr id="18" name="Text 14"/>
          <p:cNvSpPr/>
          <p:nvPr/>
        </p:nvSpPr>
        <p:spPr>
          <a:xfrm>
            <a:off x="2587752" y="26060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FC2"/>
                </a:solidFill>
              </a:rPr>
              <a:t>张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542032" y="28803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5A6C"/>
                </a:solidFill>
              </a:rPr>
              <a:t>52% 可用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D5A6C"/>
                </a:solidFill>
              </a:rPr>
              <a:t>两种分辨率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626864" y="1481328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7"/>
          <p:cNvSpPr/>
          <p:nvPr/>
        </p:nvSpPr>
        <p:spPr>
          <a:xfrm>
            <a:off x="4626864" y="1481328"/>
            <a:ext cx="201168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1554480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084064" y="15361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手术报告英译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764024" y="20574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A9D8F"/>
                </a:solidFill>
              </a:rPr>
              <a:t>&gt;98%</a:t>
            </a:r>
            <a:endParaRPr lang="en-US" sz="3200" dirty="0"/>
          </a:p>
        </p:txBody>
      </p:sp>
      <p:sp>
        <p:nvSpPr>
          <p:cNvPr id="25" name="Text 20"/>
          <p:cNvSpPr/>
          <p:nvPr/>
        </p:nvSpPr>
        <p:spPr>
          <a:xfrm>
            <a:off x="4764024" y="26060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718304" y="28803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5A6C"/>
                </a:solidFill>
              </a:rPr>
              <a:t>DeepL翻译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D5A6C"/>
                </a:solidFill>
              </a:rPr>
              <a:t>reports_english/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803136" y="1481328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3"/>
          <p:cNvSpPr/>
          <p:nvPr/>
        </p:nvSpPr>
        <p:spPr>
          <a:xfrm>
            <a:off x="6803136" y="1481328"/>
            <a:ext cx="2011680" cy="502920"/>
          </a:xfrm>
          <a:prstGeom prst="rect">
            <a:avLst/>
          </a:prstGeom>
          <a:solidFill>
            <a:srgbClr val="C47C00"/>
          </a:solidFill>
          <a:ln w="12700">
            <a:solidFill>
              <a:srgbClr val="C47C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2864" y="1554480"/>
            <a:ext cx="320040" cy="32004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260336" y="15361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病理结构化GT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940296" y="20574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47C00"/>
                </a:solidFill>
              </a:rPr>
              <a:t>763</a:t>
            </a:r>
            <a:endParaRPr lang="en-US" sz="3200" dirty="0"/>
          </a:p>
        </p:txBody>
      </p:sp>
      <p:sp>
        <p:nvSpPr>
          <p:cNvPr id="32" name="Text 26"/>
          <p:cNvSpPr/>
          <p:nvPr/>
        </p:nvSpPr>
        <p:spPr>
          <a:xfrm>
            <a:off x="6940296" y="26060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FC2"/>
                </a:solidFill>
              </a:rPr>
              <a:t>例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6894576" y="28803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5A6C"/>
                </a:solidFill>
              </a:rPr>
              <a:t>100% 完整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D5A6C"/>
                </a:solidFill>
              </a:rPr>
              <a:t>核心 GT 来源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274320" y="3886200"/>
            <a:ext cx="859536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29"/>
          <p:cNvSpPr/>
          <p:nvPr/>
        </p:nvSpPr>
        <p:spPr>
          <a:xfrm>
            <a:off x="45720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A8DADC"/>
                </a:solidFill>
              </a:rPr>
              <a:t>覆盖</a:t>
            </a:r>
            <a:r>
              <a:rPr lang="zh-CN" altLang="en-US" sz="1300" b="1" dirty="0">
                <a:solidFill>
                  <a:srgbClr val="A8DADC"/>
                </a:solidFill>
              </a:rPr>
              <a:t>五</a:t>
            </a:r>
            <a:r>
              <a:rPr lang="en-US" sz="1300" b="1" dirty="0" err="1">
                <a:solidFill>
                  <a:srgbClr val="A8DADC"/>
                </a:solidFill>
              </a:rPr>
              <a:t>种头颈癌亚型</a:t>
            </a:r>
            <a:endParaRPr lang="en-US" sz="1300" dirty="0"/>
          </a:p>
        </p:txBody>
      </p:sp>
      <p:sp>
        <p:nvSpPr>
          <p:cNvPr id="36" name="Shape 30"/>
          <p:cNvSpPr/>
          <p:nvPr/>
        </p:nvSpPr>
        <p:spPr>
          <a:xfrm>
            <a:off x="3822192" y="3977640"/>
            <a:ext cx="91440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1"/>
          <p:cNvSpPr/>
          <p:nvPr/>
        </p:nvSpPr>
        <p:spPr>
          <a:xfrm>
            <a:off x="3822192" y="39776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口腔癌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3822192" y="43708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EAFC2"/>
                </a:solidFill>
              </a:rPr>
              <a:t>口腔癌</a:t>
            </a:r>
            <a:endParaRPr lang="en-US" sz="750" dirty="0"/>
          </a:p>
        </p:txBody>
      </p:sp>
      <p:sp>
        <p:nvSpPr>
          <p:cNvPr id="42" name="Shape 36"/>
          <p:cNvSpPr/>
          <p:nvPr/>
        </p:nvSpPr>
        <p:spPr>
          <a:xfrm>
            <a:off x="4809744" y="3977640"/>
            <a:ext cx="914400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37"/>
          <p:cNvSpPr/>
          <p:nvPr/>
        </p:nvSpPr>
        <p:spPr>
          <a:xfrm>
            <a:off x="4809744" y="39776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900" b="1" dirty="0" err="1">
                <a:solidFill>
                  <a:srgbClr val="FFFFFF"/>
                </a:solidFill>
              </a:rPr>
              <a:t>口咽癌</a:t>
            </a:r>
            <a:r>
              <a:rPr lang="en-US" altLang="zh-CN" sz="900" b="1" dirty="0">
                <a:solidFill>
                  <a:srgbClr val="FFFFFF"/>
                </a:solidFill>
              </a:rPr>
              <a:t> p16-/+</a:t>
            </a:r>
            <a:endParaRPr lang="en-US" altLang="zh-CN" sz="900" dirty="0"/>
          </a:p>
        </p:txBody>
      </p:sp>
      <p:sp>
        <p:nvSpPr>
          <p:cNvPr id="44" name="Text 38"/>
          <p:cNvSpPr/>
          <p:nvPr/>
        </p:nvSpPr>
        <p:spPr>
          <a:xfrm>
            <a:off x="4809744" y="4389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750" dirty="0" err="1">
                <a:solidFill>
                  <a:srgbClr val="8EAFC2"/>
                </a:solidFill>
              </a:rPr>
              <a:t>口咽癌</a:t>
            </a:r>
            <a:r>
              <a:rPr lang="en-US" altLang="zh-CN" sz="750" dirty="0">
                <a:solidFill>
                  <a:srgbClr val="8EAFC2"/>
                </a:solidFill>
              </a:rPr>
              <a:t> p16-/+</a:t>
            </a:r>
            <a:endParaRPr lang="en-US" altLang="zh-CN" sz="750" dirty="0"/>
          </a:p>
        </p:txBody>
      </p:sp>
      <p:sp>
        <p:nvSpPr>
          <p:cNvPr id="45" name="Shape 39"/>
          <p:cNvSpPr/>
          <p:nvPr/>
        </p:nvSpPr>
        <p:spPr>
          <a:xfrm>
            <a:off x="5797296" y="3977640"/>
            <a:ext cx="91440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0"/>
          <p:cNvSpPr/>
          <p:nvPr/>
        </p:nvSpPr>
        <p:spPr>
          <a:xfrm>
            <a:off x="5797296" y="39776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下咽癌</a:t>
            </a:r>
            <a:endParaRPr lang="en-US" sz="900" dirty="0"/>
          </a:p>
        </p:txBody>
      </p:sp>
      <p:sp>
        <p:nvSpPr>
          <p:cNvPr id="47" name="Text 41"/>
          <p:cNvSpPr/>
          <p:nvPr/>
        </p:nvSpPr>
        <p:spPr>
          <a:xfrm>
            <a:off x="5797296" y="4389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EAFC2"/>
                </a:solidFill>
              </a:rPr>
              <a:t>下咽癌</a:t>
            </a:r>
            <a:endParaRPr lang="en-US" sz="750" dirty="0"/>
          </a:p>
        </p:txBody>
      </p:sp>
      <p:sp>
        <p:nvSpPr>
          <p:cNvPr id="48" name="Shape 42"/>
          <p:cNvSpPr/>
          <p:nvPr/>
        </p:nvSpPr>
        <p:spPr>
          <a:xfrm>
            <a:off x="6784848" y="3977640"/>
            <a:ext cx="914400" cy="3840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3"/>
          <p:cNvSpPr/>
          <p:nvPr/>
        </p:nvSpPr>
        <p:spPr>
          <a:xfrm>
            <a:off x="6784848" y="39776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声门喉癌</a:t>
            </a:r>
            <a:endParaRPr lang="en-US" sz="900" dirty="0"/>
          </a:p>
        </p:txBody>
      </p:sp>
      <p:sp>
        <p:nvSpPr>
          <p:cNvPr id="50" name="Text 44"/>
          <p:cNvSpPr/>
          <p:nvPr/>
        </p:nvSpPr>
        <p:spPr>
          <a:xfrm>
            <a:off x="6784848" y="4389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EAFC2"/>
                </a:solidFill>
              </a:rPr>
              <a:t>声门喉癌</a:t>
            </a:r>
            <a:endParaRPr lang="en-US" sz="750" dirty="0"/>
          </a:p>
        </p:txBody>
      </p:sp>
      <p:sp>
        <p:nvSpPr>
          <p:cNvPr id="51" name="Shape 45"/>
          <p:cNvSpPr/>
          <p:nvPr/>
        </p:nvSpPr>
        <p:spPr>
          <a:xfrm>
            <a:off x="7772400" y="3977640"/>
            <a:ext cx="91440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46"/>
          <p:cNvSpPr/>
          <p:nvPr/>
        </p:nvSpPr>
        <p:spPr>
          <a:xfrm>
            <a:off x="7772400" y="39776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声门上喉癌</a:t>
            </a:r>
            <a:endParaRPr lang="en-US" sz="900" dirty="0"/>
          </a:p>
        </p:txBody>
      </p:sp>
      <p:sp>
        <p:nvSpPr>
          <p:cNvPr id="53" name="Text 47"/>
          <p:cNvSpPr/>
          <p:nvPr/>
        </p:nvSpPr>
        <p:spPr>
          <a:xfrm>
            <a:off x="7772400" y="4389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EAFC2"/>
                </a:solidFill>
              </a:rPr>
              <a:t>声门上喉癌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  四步序列推理流程（核心设计）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EAFC2"/>
                </a:solidFill>
              </a:rPr>
              <a:t>每步依赖上一步输出，错误可级联传播 — 双轨评分：AR（级联）和 IND（独立）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0299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2029968" cy="50292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69848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10058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58368" y="1234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ADC"/>
                </a:solidFill>
              </a:rPr>
              <a:t>分期 + 治疗决策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0040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5A6C"/>
                </a:solidFill>
              </a:rPr>
              <a:t>输入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38328" y="18288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C"/>
                </a:solidFill>
              </a:rPr>
              <a:t>→ 基本信息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38328" y="20848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C"/>
                </a:solidFill>
              </a:rPr>
              <a:t>→ 直接给出 cT/cN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38328" y="23408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C"/>
                </a:solidFill>
              </a:rPr>
              <a:t>→ 病史（已清洗）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38328" y="2651760"/>
            <a:ext cx="1810512" cy="18288"/>
          </a:xfrm>
          <a:prstGeom prst="rect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320040" y="27066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6B9A"/>
                </a:solidFill>
              </a:rPr>
              <a:t>输出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38328" y="2944368"/>
            <a:ext cx="73152" cy="164592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457200" y="29077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确认 cT/cN 分期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38328" y="3218688"/>
            <a:ext cx="73152" cy="164592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457200" y="31821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NCCN 路径节点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38328" y="3493008"/>
            <a:ext cx="73152" cy="164592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457200" y="34564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推荐治疗方案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38328" y="3767328"/>
            <a:ext cx="73152" cy="164592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457200" y="37307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口咽癌 p16 子任务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258568" y="2606040"/>
            <a:ext cx="137160" cy="1371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2240280" y="25786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7C7B"/>
                </a:solidFill>
              </a:rPr>
              <a:t>▶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441448" y="1005840"/>
            <a:ext cx="20299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4"/>
          <p:cNvSpPr/>
          <p:nvPr/>
        </p:nvSpPr>
        <p:spPr>
          <a:xfrm>
            <a:off x="2441448" y="1005840"/>
            <a:ext cx="2029968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888" y="1069848"/>
            <a:ext cx="301752" cy="30175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2871216" y="10058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2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2871216" y="1234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ADC"/>
                </a:solidFill>
              </a:rPr>
              <a:t>手术报告提取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2532888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5A6C"/>
                </a:solidFill>
              </a:rPr>
              <a:t>输入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2551176" y="18288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C"/>
                </a:solidFill>
              </a:rPr>
              <a:t>→ ICD/OPS 编码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2551176" y="20848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C"/>
                </a:solidFill>
              </a:rPr>
              <a:t>→ 手术报告文本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2551176" y="23408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C"/>
                </a:solidFill>
              </a:rPr>
              <a:t>→ 病史文本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2551176" y="2651760"/>
            <a:ext cx="1810512" cy="18288"/>
          </a:xfrm>
          <a:prstGeom prst="rect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2"/>
          <p:cNvSpPr/>
          <p:nvPr/>
        </p:nvSpPr>
        <p:spPr>
          <a:xfrm>
            <a:off x="2532888" y="27066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C7B"/>
                </a:solidFill>
              </a:rPr>
              <a:t>输出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2551176" y="2944368"/>
            <a:ext cx="73152" cy="1645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4"/>
          <p:cNvSpPr/>
          <p:nvPr/>
        </p:nvSpPr>
        <p:spPr>
          <a:xfrm>
            <a:off x="2670048" y="29077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初步 pT（至少pTX）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2551176" y="3218688"/>
            <a:ext cx="73152" cy="1645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6"/>
          <p:cNvSpPr/>
          <p:nvPr/>
        </p:nvSpPr>
        <p:spPr>
          <a:xfrm>
            <a:off x="2670048" y="31821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切缘状态 R0/R1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2551176" y="3493008"/>
            <a:ext cx="73152" cy="1645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8"/>
          <p:cNvSpPr/>
          <p:nvPr/>
        </p:nvSpPr>
        <p:spPr>
          <a:xfrm>
            <a:off x="2670048" y="34564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组织学类型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2551176" y="3767328"/>
            <a:ext cx="73152" cy="1645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0"/>
          <p:cNvSpPr/>
          <p:nvPr/>
        </p:nvSpPr>
        <p:spPr>
          <a:xfrm>
            <a:off x="2670048" y="37307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Evidence Anchor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4471416" y="2606040"/>
            <a:ext cx="137160" cy="1371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2"/>
          <p:cNvSpPr/>
          <p:nvPr/>
        </p:nvSpPr>
        <p:spPr>
          <a:xfrm>
            <a:off x="4453128" y="25786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7C7B"/>
                </a:solidFill>
              </a:rPr>
              <a:t>▶</a:t>
            </a:r>
            <a:endParaRPr lang="en-US" sz="1100" dirty="0"/>
          </a:p>
        </p:txBody>
      </p:sp>
      <p:sp>
        <p:nvSpPr>
          <p:cNvPr id="47" name="Shape 43"/>
          <p:cNvSpPr/>
          <p:nvPr/>
        </p:nvSpPr>
        <p:spPr>
          <a:xfrm>
            <a:off x="4654296" y="1005840"/>
            <a:ext cx="20299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4"/>
          <p:cNvSpPr/>
          <p:nvPr/>
        </p:nvSpPr>
        <p:spPr>
          <a:xfrm>
            <a:off x="4654296" y="1005840"/>
            <a:ext cx="2029968" cy="502920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736" y="1069848"/>
            <a:ext cx="301752" cy="301752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5084064" y="10058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3</a:t>
            </a:r>
            <a:endParaRPr lang="en-US" sz="1000" dirty="0"/>
          </a:p>
        </p:txBody>
      </p:sp>
      <p:sp>
        <p:nvSpPr>
          <p:cNvPr id="51" name="Text 46"/>
          <p:cNvSpPr/>
          <p:nvPr/>
        </p:nvSpPr>
        <p:spPr>
          <a:xfrm>
            <a:off x="5084064" y="1234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ADC"/>
                </a:solidFill>
              </a:rPr>
              <a:t>WSI 多模态更新</a:t>
            </a:r>
            <a:endParaRPr lang="en-US" sz="900" dirty="0"/>
          </a:p>
        </p:txBody>
      </p:sp>
      <p:sp>
        <p:nvSpPr>
          <p:cNvPr id="52" name="Text 47"/>
          <p:cNvSpPr/>
          <p:nvPr/>
        </p:nvSpPr>
        <p:spPr>
          <a:xfrm>
            <a:off x="4745736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5A6C"/>
                </a:solidFill>
              </a:rPr>
              <a:t>输入</a:t>
            </a:r>
            <a:endParaRPr lang="en-US" sz="950" dirty="0"/>
          </a:p>
        </p:txBody>
      </p:sp>
      <p:sp>
        <p:nvSpPr>
          <p:cNvPr id="53" name="Text 48"/>
          <p:cNvSpPr/>
          <p:nvPr/>
        </p:nvSpPr>
        <p:spPr>
          <a:xfrm>
            <a:off x="4764024" y="18288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C"/>
                </a:solidFill>
              </a:rPr>
              <a:t>→ 原发灶 5x/20x 图像</a:t>
            </a:r>
            <a:endParaRPr lang="en-US" sz="900" dirty="0"/>
          </a:p>
        </p:txBody>
      </p:sp>
      <p:sp>
        <p:nvSpPr>
          <p:cNvPr id="54" name="Text 49"/>
          <p:cNvSpPr/>
          <p:nvPr/>
        </p:nvSpPr>
        <p:spPr>
          <a:xfrm>
            <a:off x="4764024" y="20848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C"/>
                </a:solidFill>
              </a:rPr>
              <a:t>→ 淋巴结 10x 图像</a:t>
            </a:r>
            <a:endParaRPr lang="en-US" sz="900" dirty="0"/>
          </a:p>
        </p:txBody>
      </p:sp>
      <p:sp>
        <p:nvSpPr>
          <p:cNvPr id="55" name="Text 50"/>
          <p:cNvSpPr/>
          <p:nvPr/>
        </p:nvSpPr>
        <p:spPr>
          <a:xfrm>
            <a:off x="4764024" y="23408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C"/>
                </a:solidFill>
              </a:rPr>
              <a:t>→ 比例尺标注</a:t>
            </a:r>
            <a:endParaRPr lang="en-US" sz="900" dirty="0"/>
          </a:p>
        </p:txBody>
      </p:sp>
      <p:sp>
        <p:nvSpPr>
          <p:cNvPr id="56" name="Shape 51"/>
          <p:cNvSpPr/>
          <p:nvPr/>
        </p:nvSpPr>
        <p:spPr>
          <a:xfrm>
            <a:off x="4764024" y="2651760"/>
            <a:ext cx="1810512" cy="18288"/>
          </a:xfrm>
          <a:prstGeom prst="rect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2"/>
          <p:cNvSpPr/>
          <p:nvPr/>
        </p:nvSpPr>
        <p:spPr>
          <a:xfrm>
            <a:off x="4745736" y="27066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A4C93"/>
                </a:solidFill>
              </a:rPr>
              <a:t>输出</a:t>
            </a:r>
            <a:endParaRPr lang="en-US" sz="950" dirty="0"/>
          </a:p>
        </p:txBody>
      </p:sp>
      <p:sp>
        <p:nvSpPr>
          <p:cNvPr id="58" name="Shape 53"/>
          <p:cNvSpPr/>
          <p:nvPr/>
        </p:nvSpPr>
        <p:spPr>
          <a:xfrm>
            <a:off x="4764024" y="2944368"/>
            <a:ext cx="73152" cy="164592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4"/>
          <p:cNvSpPr/>
          <p:nvPr/>
        </p:nvSpPr>
        <p:spPr>
          <a:xfrm>
            <a:off x="4882896" y="29077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更新 pT/pN/R</a:t>
            </a:r>
            <a:endParaRPr lang="en-US" sz="900" dirty="0"/>
          </a:p>
        </p:txBody>
      </p:sp>
      <p:sp>
        <p:nvSpPr>
          <p:cNvPr id="60" name="Shape 55"/>
          <p:cNvSpPr/>
          <p:nvPr/>
        </p:nvSpPr>
        <p:spPr>
          <a:xfrm>
            <a:off x="4764024" y="3218688"/>
            <a:ext cx="73152" cy="164592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6"/>
          <p:cNvSpPr/>
          <p:nvPr/>
        </p:nvSpPr>
        <p:spPr>
          <a:xfrm>
            <a:off x="4882896" y="31821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微观侵袭特征</a:t>
            </a:r>
            <a:endParaRPr lang="en-US" sz="900" dirty="0"/>
          </a:p>
        </p:txBody>
      </p:sp>
      <p:sp>
        <p:nvSpPr>
          <p:cNvPr id="62" name="Shape 57"/>
          <p:cNvSpPr/>
          <p:nvPr/>
        </p:nvSpPr>
        <p:spPr>
          <a:xfrm>
            <a:off x="4764024" y="3493008"/>
            <a:ext cx="73152" cy="164592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Text 58"/>
          <p:cNvSpPr/>
          <p:nvPr/>
        </p:nvSpPr>
        <p:spPr>
          <a:xfrm>
            <a:off x="4882896" y="34564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浸润深度（测量）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4764024" y="3767328"/>
            <a:ext cx="73152" cy="164592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0"/>
          <p:cNvSpPr/>
          <p:nvPr/>
        </p:nvSpPr>
        <p:spPr>
          <a:xfrm>
            <a:off x="4882896" y="37307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结外侵犯判断</a:t>
            </a:r>
            <a:endParaRPr lang="en-US" sz="900" dirty="0"/>
          </a:p>
        </p:txBody>
      </p:sp>
      <p:sp>
        <p:nvSpPr>
          <p:cNvPr id="66" name="Shape 61"/>
          <p:cNvSpPr/>
          <p:nvPr/>
        </p:nvSpPr>
        <p:spPr>
          <a:xfrm>
            <a:off x="6684264" y="2606040"/>
            <a:ext cx="137160" cy="1371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2"/>
          <p:cNvSpPr/>
          <p:nvPr/>
        </p:nvSpPr>
        <p:spPr>
          <a:xfrm>
            <a:off x="6665976" y="25786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7C7B"/>
                </a:solidFill>
              </a:rPr>
              <a:t>▶</a:t>
            </a:r>
            <a:endParaRPr lang="en-US" sz="1100" dirty="0"/>
          </a:p>
        </p:txBody>
      </p:sp>
      <p:sp>
        <p:nvSpPr>
          <p:cNvPr id="68" name="Shape 63"/>
          <p:cNvSpPr/>
          <p:nvPr/>
        </p:nvSpPr>
        <p:spPr>
          <a:xfrm>
            <a:off x="6867144" y="1005840"/>
            <a:ext cx="20299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64"/>
          <p:cNvSpPr/>
          <p:nvPr/>
        </p:nvSpPr>
        <p:spPr>
          <a:xfrm>
            <a:off x="6867144" y="1005840"/>
            <a:ext cx="2029968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8584" y="1069848"/>
            <a:ext cx="301752" cy="301752"/>
          </a:xfrm>
          <a:prstGeom prst="rect">
            <a:avLst/>
          </a:prstGeom>
        </p:spPr>
      </p:pic>
      <p:sp>
        <p:nvSpPr>
          <p:cNvPr id="71" name="Text 65"/>
          <p:cNvSpPr/>
          <p:nvPr/>
        </p:nvSpPr>
        <p:spPr>
          <a:xfrm>
            <a:off x="7296912" y="10058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4</a:t>
            </a:r>
            <a:endParaRPr lang="en-US" sz="1000" dirty="0"/>
          </a:p>
        </p:txBody>
      </p:sp>
      <p:sp>
        <p:nvSpPr>
          <p:cNvPr id="72" name="Text 66"/>
          <p:cNvSpPr/>
          <p:nvPr/>
        </p:nvSpPr>
        <p:spPr>
          <a:xfrm>
            <a:off x="7296912" y="1234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ADC"/>
                </a:solidFill>
              </a:rPr>
              <a:t>辅助治疗决策</a:t>
            </a:r>
            <a:endParaRPr lang="en-US" sz="900" dirty="0"/>
          </a:p>
        </p:txBody>
      </p:sp>
      <p:sp>
        <p:nvSpPr>
          <p:cNvPr id="73" name="Text 67"/>
          <p:cNvSpPr/>
          <p:nvPr/>
        </p:nvSpPr>
        <p:spPr>
          <a:xfrm>
            <a:off x="6958584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5A6C"/>
                </a:solidFill>
              </a:rPr>
              <a:t>输入</a:t>
            </a:r>
            <a:endParaRPr lang="en-US" sz="950" dirty="0"/>
          </a:p>
        </p:txBody>
      </p:sp>
      <p:sp>
        <p:nvSpPr>
          <p:cNvPr id="74" name="Text 68"/>
          <p:cNvSpPr/>
          <p:nvPr/>
        </p:nvSpPr>
        <p:spPr>
          <a:xfrm>
            <a:off x="6976872" y="18288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C"/>
                </a:solidFill>
              </a:rPr>
              <a:t>→ Steps 1-3 输出汇总</a:t>
            </a:r>
            <a:endParaRPr lang="en-US" sz="900" dirty="0"/>
          </a:p>
        </p:txBody>
      </p:sp>
      <p:sp>
        <p:nvSpPr>
          <p:cNvPr id="75" name="Text 69"/>
          <p:cNvSpPr/>
          <p:nvPr/>
        </p:nvSpPr>
        <p:spPr>
          <a:xfrm>
            <a:off x="6976872" y="20848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C"/>
                </a:solidFill>
              </a:rPr>
              <a:t>→ 不良病理特征</a:t>
            </a:r>
            <a:endParaRPr lang="en-US" sz="900" dirty="0"/>
          </a:p>
        </p:txBody>
      </p:sp>
      <p:sp>
        <p:nvSpPr>
          <p:cNvPr id="76" name="Text 70"/>
          <p:cNvSpPr/>
          <p:nvPr/>
        </p:nvSpPr>
        <p:spPr>
          <a:xfrm>
            <a:off x="6976872" y="23408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C"/>
                </a:solidFill>
              </a:rPr>
              <a:t>→ NCCN节点（可能升期）</a:t>
            </a:r>
            <a:endParaRPr lang="en-US" sz="900" dirty="0"/>
          </a:p>
        </p:txBody>
      </p:sp>
      <p:sp>
        <p:nvSpPr>
          <p:cNvPr id="77" name="Shape 71"/>
          <p:cNvSpPr/>
          <p:nvPr/>
        </p:nvSpPr>
        <p:spPr>
          <a:xfrm>
            <a:off x="6976872" y="2651760"/>
            <a:ext cx="1810512" cy="18288"/>
          </a:xfrm>
          <a:prstGeom prst="rect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Text 72"/>
          <p:cNvSpPr/>
          <p:nvPr/>
        </p:nvSpPr>
        <p:spPr>
          <a:xfrm>
            <a:off x="6958584" y="27066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9D8F"/>
                </a:solidFill>
              </a:rPr>
              <a:t>输出</a:t>
            </a:r>
            <a:endParaRPr lang="en-US" sz="950" dirty="0"/>
          </a:p>
        </p:txBody>
      </p:sp>
      <p:sp>
        <p:nvSpPr>
          <p:cNvPr id="79" name="Shape 73"/>
          <p:cNvSpPr/>
          <p:nvPr/>
        </p:nvSpPr>
        <p:spPr>
          <a:xfrm>
            <a:off x="6976872" y="2944368"/>
            <a:ext cx="73152" cy="1645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Text 74"/>
          <p:cNvSpPr/>
          <p:nvPr/>
        </p:nvSpPr>
        <p:spPr>
          <a:xfrm>
            <a:off x="7095744" y="29077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辅助放疗 y/n</a:t>
            </a:r>
            <a:endParaRPr lang="en-US" sz="900" dirty="0"/>
          </a:p>
        </p:txBody>
      </p:sp>
      <p:sp>
        <p:nvSpPr>
          <p:cNvPr id="81" name="Shape 75"/>
          <p:cNvSpPr/>
          <p:nvPr/>
        </p:nvSpPr>
        <p:spPr>
          <a:xfrm>
            <a:off x="6976872" y="3218688"/>
            <a:ext cx="73152" cy="1645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Text 76"/>
          <p:cNvSpPr/>
          <p:nvPr/>
        </p:nvSpPr>
        <p:spPr>
          <a:xfrm>
            <a:off x="7095744" y="31821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辅助化疗 y/n</a:t>
            </a:r>
            <a:endParaRPr lang="en-US" sz="900" dirty="0"/>
          </a:p>
        </p:txBody>
      </p:sp>
      <p:sp>
        <p:nvSpPr>
          <p:cNvPr id="83" name="Shape 77"/>
          <p:cNvSpPr/>
          <p:nvPr/>
        </p:nvSpPr>
        <p:spPr>
          <a:xfrm>
            <a:off x="6976872" y="3493008"/>
            <a:ext cx="73152" cy="1645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4" name="Text 78"/>
          <p:cNvSpPr/>
          <p:nvPr/>
        </p:nvSpPr>
        <p:spPr>
          <a:xfrm>
            <a:off x="7095744" y="34564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治疗方案选择</a:t>
            </a:r>
            <a:endParaRPr lang="en-US" sz="900" dirty="0"/>
          </a:p>
        </p:txBody>
      </p:sp>
      <p:sp>
        <p:nvSpPr>
          <p:cNvPr id="85" name="Shape 79"/>
          <p:cNvSpPr/>
          <p:nvPr/>
        </p:nvSpPr>
        <p:spPr>
          <a:xfrm>
            <a:off x="6976872" y="3767328"/>
            <a:ext cx="73152" cy="1645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Text 80"/>
          <p:cNvSpPr/>
          <p:nvPr/>
        </p:nvSpPr>
        <p:spPr>
          <a:xfrm>
            <a:off x="7095744" y="37307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升期路径切换</a:t>
            </a:r>
            <a:endParaRPr lang="en-US" sz="900" dirty="0"/>
          </a:p>
        </p:txBody>
      </p:sp>
      <p:sp>
        <p:nvSpPr>
          <p:cNvPr id="87" name="Text 81"/>
          <p:cNvSpPr/>
          <p:nvPr/>
        </p:nvSpPr>
        <p:spPr>
          <a:xfrm>
            <a:off x="228600" y="4800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A6C"/>
                </a:solidFill>
              </a:rPr>
              <a:t>步骤评分权重</a:t>
            </a:r>
            <a:endParaRPr lang="en-US" sz="1000" dirty="0"/>
          </a:p>
        </p:txBody>
      </p:sp>
      <p:sp>
        <p:nvSpPr>
          <p:cNvPr id="88" name="Shape 82"/>
          <p:cNvSpPr/>
          <p:nvPr/>
        </p:nvSpPr>
        <p:spPr>
          <a:xfrm>
            <a:off x="1920240" y="4800600"/>
            <a:ext cx="1668780" cy="22860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Text 83"/>
          <p:cNvSpPr/>
          <p:nvPr/>
        </p:nvSpPr>
        <p:spPr>
          <a:xfrm>
            <a:off x="1920240" y="4800600"/>
            <a:ext cx="1668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Step1 25%</a:t>
            </a:r>
            <a:endParaRPr lang="en-US" sz="900" dirty="0"/>
          </a:p>
        </p:txBody>
      </p:sp>
      <p:sp>
        <p:nvSpPr>
          <p:cNvPr id="90" name="Shape 84"/>
          <p:cNvSpPr/>
          <p:nvPr/>
        </p:nvSpPr>
        <p:spPr>
          <a:xfrm>
            <a:off x="3634740" y="4800600"/>
            <a:ext cx="1325880" cy="2286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Text 85"/>
          <p:cNvSpPr/>
          <p:nvPr/>
        </p:nvSpPr>
        <p:spPr>
          <a:xfrm>
            <a:off x="3634740" y="48006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Step2 20%</a:t>
            </a:r>
            <a:endParaRPr lang="en-US" sz="900" dirty="0"/>
          </a:p>
        </p:txBody>
      </p:sp>
      <p:sp>
        <p:nvSpPr>
          <p:cNvPr id="92" name="Shape 86"/>
          <p:cNvSpPr/>
          <p:nvPr/>
        </p:nvSpPr>
        <p:spPr>
          <a:xfrm>
            <a:off x="5006340" y="4800600"/>
            <a:ext cx="2011680" cy="228600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Text 87"/>
          <p:cNvSpPr/>
          <p:nvPr/>
        </p:nvSpPr>
        <p:spPr>
          <a:xfrm>
            <a:off x="5006340" y="4800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Step3 30%</a:t>
            </a:r>
            <a:endParaRPr lang="en-US" sz="900" dirty="0"/>
          </a:p>
        </p:txBody>
      </p:sp>
      <p:sp>
        <p:nvSpPr>
          <p:cNvPr id="94" name="Shape 88"/>
          <p:cNvSpPr/>
          <p:nvPr/>
        </p:nvSpPr>
        <p:spPr>
          <a:xfrm>
            <a:off x="7063740" y="4800600"/>
            <a:ext cx="1668780" cy="2286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Text 89"/>
          <p:cNvSpPr/>
          <p:nvPr/>
        </p:nvSpPr>
        <p:spPr>
          <a:xfrm>
            <a:off x="7063740" y="4800600"/>
            <a:ext cx="1668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Step4 25%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  专家标注需求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2137"/>
                </a:solidFill>
              </a:rPr>
              <a:t>哪些地方必须人工介入？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85953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57200" cy="129844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274320" y="1115568"/>
            <a:ext cx="457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 级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必须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143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6F51"/>
                </a:solidFill>
              </a:rPr>
              <a:t>需要专家介入（AI 辅助生成初稿）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44475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6F51"/>
                </a:solidFill>
              </a:rPr>
              <a:t>• NCCN路径节点标注：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1645920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C"/>
                </a:solidFill>
              </a:rPr>
              <a:t>规则引擎自动定位节点，专家验证20%；重点：T3/T4a 边界、声门上喉癌 N+ 分流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0" y="144475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6F51"/>
                </a:solidFill>
              </a:rPr>
              <a:t>• 口咽癌 p16 子任务：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0" y="1645920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C"/>
                </a:solidFill>
              </a:rPr>
              <a:t>Step 1 中口咽癌须声明需要 p16 结果，系统再提供 p16，独立评分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92240" y="144475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6F51"/>
                </a:solidFill>
              </a:rPr>
              <a:t>• 声门/声门上区分：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1645920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C"/>
                </a:solidFill>
              </a:rPr>
              <a:t>Hancock 将两者均归为喉癌，须按 ICD codes 归类，专家全量确认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542032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274320" y="2542032"/>
            <a:ext cx="457200" cy="841248"/>
          </a:xfrm>
          <a:prstGeom prst="rect">
            <a:avLst/>
          </a:prstGeom>
          <a:solidFill>
            <a:srgbClr val="C47C00"/>
          </a:solidFill>
          <a:ln w="12700">
            <a:solidFill>
              <a:srgbClr val="C47C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74320" y="2542032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 级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抽样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25786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7C00"/>
                </a:solidFill>
              </a:rPr>
              <a:t>自动化 + 专家抽样验证（10-20%）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285292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C"/>
                </a:solidFill>
              </a:rPr>
              <a:t>• preliminary_pT_stage GT（规则从手术报告提取，审核pT3/4a边界）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0" y="285292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C"/>
                </a:solidFill>
              </a:rPr>
              <a:t>• staging_upgrade_occurred（pT vs cT 自动比较，审核异常降期）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92240" y="285292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C"/>
                </a:solidFill>
              </a:rPr>
              <a:t>• adjuvant_decision_trigger（从病理特征自动生成，审核多特征优先级）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520440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274320" y="3520440"/>
            <a:ext cx="457200" cy="6858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274320" y="35204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 级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自动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" y="35478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B788"/>
                </a:solidFill>
              </a:rPr>
              <a:t>完全自动，无需专家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38221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6C"/>
                </a:solidFill>
              </a:rPr>
              <a:t>• 所有 yes/no 二元字段（pathological_data.json 直接提供）   • current_phase GT（按步骤固定）   • 淋巴结 WSI 缺失标记（文件存在性检查）   • 难度分级（Simple/Medium/Hard）   • p16_required（口咽癌=true）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315968"/>
            <a:ext cx="8595360" cy="59436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411480" y="436168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C"/>
                </a:solidFill>
              </a:rPr>
              <a:t>⚠️  重要预处理：手术报告中医生直接给出的辅助治疗建议必须删去；病史中透露 cT/cN 信息的内容需标注并删去。531号患者（p16未测，GT稀少）建议剔除。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  NCCN 路径规则引擎（Step 1 GT 核心）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AFC2"/>
                </a:solidFill>
              </a:rPr>
              <a:t>六种癌型 × cT × cN → 指南路径节点（已按 NCCN 2026.V1 人工整理）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2834640" cy="384048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301752" y="10789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口腔癌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" y="1517904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• T1-2 N0 → OR-2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" y="185623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• T3N0/T1-3N1-3/T4aN0-3 → OR-3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" y="219456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• T4b/无法切除 → ADV-1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" y="253288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• M1 → ADV-2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72968" y="1078992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3172968" y="1078992"/>
            <a:ext cx="2834640" cy="384048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3246120" y="10789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口咽癌 p16-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82696" y="1517904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• T1-2 N0-1 → ORPH-2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82696" y="185623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• T3-4a N0-1 → ORPH-3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82696" y="219456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• T1-4a N2-3 → ORPH-4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82696" y="253288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• T4b → ADV-1 | M1 → ADV-2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17336" y="1078992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117336" y="1078992"/>
            <a:ext cx="2834640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190488" y="10789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口咽癌 p16+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27064" y="1517904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• T1-2 N0 → ORPHPV-1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27064" y="185623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• T0-2 N1(≤3cm) → ORPHPV-2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27064" y="219456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• T0-2N1(&gt;3cm)/T1-2N2/T3N0-2 → ORPHPV-3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27064" y="253288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• T0-3 N3/T4 → ORPHPV-4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3044952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228600" y="3044952"/>
            <a:ext cx="283464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301752" y="30449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下咽癌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" y="3483864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• 喉保留(T1N0,部分T2N0) → HYPO-2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8328" y="382219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• T1-3 N0-3 → HYPO-3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8328" y="416052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• T4a N0-3 → HYPO-5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8328" y="449884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• T4b → ADV-1 | M1 → ADV-2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172968" y="3044952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3172968" y="3044952"/>
            <a:ext cx="2834640" cy="3840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3246120" y="30449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声门喉癌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82696" y="3483864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• 原位癌/保留喉(T1-2N0,选定T3N0) → GLOT-2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82696" y="382219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• T3全喉 N0-1 → GLOT-3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82696" y="416052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• T3全喉 N2-3 → GLOT-4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282696" y="449884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• T4a → GLOT-6 | T4b → ADV-1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17336" y="3044952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6117336" y="3044952"/>
            <a:ext cx="283464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6190488" y="30449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声门上喉癌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27064" y="3483864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• 适合保留喉(T1-2N0,部分T3) → SUPRA-2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27064" y="382219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• T3N0全喉 → SUPRA-3 | T4aN0 → SUPRA-8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27064" y="416052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• N+→分流: T1-2N+→SUPRA-5 / T3N1-3→SUPRA-6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27064" y="449884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• T4aN1-3 → SUPRA-8 | T4b → ADV-1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solidFill>
            <a:srgbClr val="0E7C7B">
              <a:alpha val="15000"/>
            </a:srgbClr>
          </a:solidFill>
          <a:ln w="12700">
            <a:solidFill>
              <a:srgbClr val="A8DAD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E7C7B"/>
                </a:solidFill>
              </a:rPr>
              <a:t>注：各节点的推荐等级和具体治疗方案（手术内容、化疗方案等）已在 context-v5.md 第6节完整列出，指南路径为人工整理版本。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  辅助治疗决策树（Step 4 GT）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137"/>
                </a:solidFill>
              </a:rPr>
              <a:t>不良病理特征分级 → 系统决定放化疗方案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81635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816352" cy="4114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347472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🔴 高危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51790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A6C"/>
                </a:solidFill>
              </a:rPr>
              <a:t>触发条件：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71907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</a:rPr>
              <a:t>淋巴结外侵犯 (perinodal=yes)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</a:rPr>
              <a:t>和/或 切缘阳性 (R1 / margin&lt;0.1cm)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23591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6F51"/>
                </a:solidFill>
              </a:rPr>
              <a:t>→ 系统治疗 + 放疗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76F51"/>
                </a:solidFill>
              </a:rPr>
              <a:t>（同步放化疗）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3246120"/>
            <a:ext cx="1097280" cy="25603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84048" y="3246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1类推荐/</a:t>
            </a:r>
            <a:r>
              <a:rPr lang="en-US" altLang="zh-CN" sz="1100" b="1" dirty="0">
                <a:solidFill>
                  <a:srgbClr val="FFFFFF"/>
                </a:solidFill>
              </a:rPr>
              <a:t>NULL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18688" y="1051560"/>
            <a:ext cx="281635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3218688" y="1051560"/>
            <a:ext cx="2816352" cy="411480"/>
          </a:xfrm>
          <a:prstGeom prst="rect">
            <a:avLst/>
          </a:prstGeom>
          <a:solidFill>
            <a:srgbClr val="C47C00"/>
          </a:solidFill>
          <a:ln w="12700">
            <a:solidFill>
              <a:srgbClr val="C47C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291840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🟡 其他风险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28416" y="151790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A6C"/>
                </a:solidFill>
              </a:rPr>
              <a:t>触发条件：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28416" y="171907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</a:rPr>
              <a:t>pT3/T4、pN2/N3、多淋巴结阳性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</a:rPr>
              <a:t>LVI+、Pn+、单LN+无其他特征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28416" y="23591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7C00"/>
                </a:solidFill>
              </a:rPr>
              <a:t>→ 放疗 或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C47C00"/>
                </a:solidFill>
              </a:rPr>
              <a:t>考虑系统治疗/放疗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28416" y="3246120"/>
            <a:ext cx="1097280" cy="256032"/>
          </a:xfrm>
          <a:prstGeom prst="rect">
            <a:avLst/>
          </a:prstGeom>
          <a:solidFill>
            <a:srgbClr val="C47C00"/>
          </a:solidFill>
          <a:ln w="12700">
            <a:solidFill>
              <a:srgbClr val="C47C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3328416" y="3246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2A类/</a:t>
            </a:r>
            <a:r>
              <a:rPr lang="en-US" altLang="zh-CN" sz="1100" b="1" dirty="0">
                <a:solidFill>
                  <a:srgbClr val="FFFFFF"/>
                </a:solidFill>
              </a:rPr>
              <a:t>NULL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63056" y="1051560"/>
            <a:ext cx="281635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163056" y="1051560"/>
            <a:ext cx="2816352" cy="4114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236208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🟢 无不良特征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72784" y="151790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A6C"/>
                </a:solidFill>
              </a:rPr>
              <a:t>触发条件：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72784" y="171907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</a:rPr>
              <a:t>pN0 或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</a:rPr>
              <a:t>pN1 且无其他风险特征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72784" y="23591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B788"/>
                </a:solidFill>
              </a:rPr>
              <a:t>→ 观察（end）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52B788"/>
                </a:solidFill>
              </a:rPr>
              <a:t>或 考虑 RT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72784" y="3246120"/>
            <a:ext cx="1097280" cy="2560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272784" y="3246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——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639312"/>
            <a:ext cx="859536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320040" y="36393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模型输出顺序（逐项回答）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3950208"/>
            <a:ext cx="1353312" cy="1051560"/>
          </a:xfrm>
          <a:prstGeom prst="rect">
            <a:avLst/>
          </a:prstGeom>
          <a:solidFill>
            <a:srgbClr val="E8F4F8"/>
          </a:solidFill>
          <a:ln w="12700">
            <a:solidFill>
              <a:srgbClr val="D8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347472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</a:rPr>
              <a:t>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" y="3959352"/>
            <a:ext cx="950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辅助治疗意图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curative / palliative / no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709928" y="3950208"/>
            <a:ext cx="1353312" cy="1051560"/>
          </a:xfrm>
          <a:prstGeom prst="rect">
            <a:avLst/>
          </a:prstGeom>
          <a:solidFill>
            <a:srgbClr val="E8F4F8"/>
          </a:solidFill>
          <a:ln w="12700">
            <a:solidFill>
              <a:srgbClr val="D8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783080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</a:rPr>
              <a:t>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057400" y="3959352"/>
            <a:ext cx="950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辅助放射治疗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y/n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145536" y="3950208"/>
            <a:ext cx="135331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3218688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</a:rPr>
              <a:t>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493008" y="3959352"/>
            <a:ext cx="950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放疗方式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经皮/近距离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81144" y="3950208"/>
            <a:ext cx="135331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4654296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</a:rPr>
              <a:t>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28616" y="3959352"/>
            <a:ext cx="950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辅助系统疗法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y/n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16752" y="3950208"/>
            <a:ext cx="1353312" cy="1051560"/>
          </a:xfrm>
          <a:prstGeom prst="rect">
            <a:avLst/>
          </a:prstGeom>
          <a:solidFill>
            <a:srgbClr val="FFF8E8"/>
          </a:solidFill>
          <a:ln w="12700">
            <a:solidFill>
              <a:srgbClr val="D8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089904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</a:rPr>
              <a:t>5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64224" y="3959352"/>
            <a:ext cx="950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系统治疗模式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氟尿嘧啶+顺铂等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452360" y="3950208"/>
            <a:ext cx="1353312" cy="1051560"/>
          </a:xfrm>
          <a:prstGeom prst="rect">
            <a:avLst/>
          </a:prstGeom>
          <a:solidFill>
            <a:srgbClr val="FFF8E8"/>
          </a:solidFill>
          <a:ln w="12700">
            <a:solidFill>
              <a:srgbClr val="D8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7525512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</a:rPr>
              <a:t>6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799832" y="3959352"/>
            <a:ext cx="950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辅助放化疗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y/n + reasoning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07  评分框架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137"/>
                </a:solidFill>
              </a:rPr>
              <a:t>多层次评分体系 — 结构化字段 + LLM 裁判 + 临床安全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868680"/>
          </a:xfrm>
          <a:prstGeom prst="rect">
            <a:avLst/>
          </a:prstGeom>
          <a:solidFill>
            <a:srgbClr val="EEF7FF"/>
          </a:solidFill>
          <a:ln w="12700">
            <a:solidFill>
              <a:srgbClr val="D8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</a:rPr>
              <a:t>总分结构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6C"/>
                </a:solidFill>
              </a:rPr>
              <a:t>Case总分 = Σ (步骤权重 × 步骤分) × safety_multiplier    |    步骤分 = 60% × 结构化字段 + 40% × LLM-Judge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2"/>
                </a:solidFill>
              </a:rPr>
              <a:t>safety_multiplier = max(0.5, 1.0 − critical_error_count × 0.2)    |    双轨：AR Score（级联）＋ IND Score（独立）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2029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D2137"/>
                </a:solidFill>
              </a:rPr>
              <a:t>结构化字段评分规则</a:t>
            </a:r>
            <a:r>
              <a:rPr lang="zh-CN" altLang="en-US" sz="1200" b="1" dirty="0">
                <a:solidFill>
                  <a:srgbClr val="0D2137"/>
                </a:solidFill>
              </a:rPr>
              <a:t>（待商榷）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331720"/>
          <a:ext cx="5486400" cy="246888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字段类型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满分 1.0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部分分 0.5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零分 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D2137"/>
                          </a:solidFill>
                        </a:rPr>
                        <a:t>cT/pT/cN/pN 分期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精确匹配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相邻分期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跨越两级+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D2137"/>
                          </a:solidFill>
                        </a:rPr>
                        <a:t>NCCN 路径节点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精确匹配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同部位相邻节点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不同部位节点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D2137"/>
                          </a:solidFill>
                        </a:rPr>
                        <a:t>推荐等级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精确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1类↔2A（方向对）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1类↔3类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D2137"/>
                          </a:solidFill>
                        </a:rPr>
                        <a:t>二元 yes/no（🔴高危）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精确；Cannot Determine+理由=满分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反向输出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D2137"/>
                          </a:solidFill>
                        </a:rPr>
                        <a:t>数值（DOI，margin）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误差 ≤ 0.05cm/1mm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误差 0.05~0.1cm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超出范围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989320" y="2029968"/>
            <a:ext cx="2880360" cy="2651760"/>
          </a:xfrm>
          <a:prstGeom prst="rect">
            <a:avLst/>
          </a:prstGeom>
          <a:solidFill>
            <a:srgbClr val="FFF3F0"/>
          </a:solidFill>
          <a:ln w="12700">
            <a:solidFill>
              <a:srgbClr val="D8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5989320" y="2029968"/>
            <a:ext cx="2880360" cy="3474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6035040" y="202996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临床安全分（CSS）独立报告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080760" y="2441448"/>
            <a:ext cx="1554480" cy="320040"/>
          </a:xfrm>
          <a:prstGeom prst="rect">
            <a:avLst/>
          </a:prstGeom>
          <a:solidFill>
            <a:srgbClr val="FFE5E0"/>
          </a:solidFill>
          <a:ln w="12700">
            <a:solidFill>
              <a:srgbClr val="FFD5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6080760" y="24414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76F51"/>
                </a:solidFill>
              </a:rPr>
              <a:t>PERINODAL_MISS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699248" y="24414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A6C"/>
                </a:solidFill>
              </a:rPr>
              <a:t>Step3×0.3；CSS-0.30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0760" y="2871216"/>
            <a:ext cx="1554480" cy="320040"/>
          </a:xfrm>
          <a:prstGeom prst="rect">
            <a:avLst/>
          </a:prstGeom>
          <a:solidFill>
            <a:srgbClr val="FFE5E0"/>
          </a:solidFill>
          <a:ln w="12700">
            <a:solidFill>
              <a:srgbClr val="FFD5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6080760" y="287121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76F51"/>
                </a:solidFill>
              </a:rPr>
              <a:t>CHEMORT_MISSED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699248" y="287121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A6C"/>
                </a:solidFill>
              </a:rPr>
              <a:t>Step4×0.2；CSS-0.30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080760" y="3300984"/>
            <a:ext cx="1554480" cy="320040"/>
          </a:xfrm>
          <a:prstGeom prst="rect">
            <a:avLst/>
          </a:prstGeom>
          <a:solidFill>
            <a:srgbClr val="FFE5E0"/>
          </a:solidFill>
          <a:ln w="12700">
            <a:solidFill>
              <a:srgbClr val="FFD5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6080760" y="330098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76F51"/>
                </a:solidFill>
              </a:rPr>
              <a:t>HALLUCINATION_FLAG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699248" y="330098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A6C"/>
                </a:solidFill>
              </a:rPr>
              <a:t>evidence清零；CSS-0.10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80760" y="3730752"/>
            <a:ext cx="1554480" cy="320040"/>
          </a:xfrm>
          <a:prstGeom prst="rect">
            <a:avLst/>
          </a:prstGeom>
          <a:solidFill>
            <a:srgbClr val="FFE5E0"/>
          </a:solidFill>
          <a:ln w="12700">
            <a:solidFill>
              <a:srgbClr val="FFD5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6080760" y="37307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76F51"/>
                </a:solidFill>
              </a:rPr>
              <a:t>LN_WSI_HALLUC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699248" y="37307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A6C"/>
                </a:solidFill>
              </a:rPr>
              <a:t>该字段×0.2；CSS-0.10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080760" y="4160520"/>
            <a:ext cx="1554480" cy="320040"/>
          </a:xfrm>
          <a:prstGeom prst="rect">
            <a:avLst/>
          </a:prstGeom>
          <a:solidFill>
            <a:srgbClr val="FFE5E0"/>
          </a:solidFill>
          <a:ln w="12700">
            <a:solidFill>
              <a:srgbClr val="FFD5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608076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76F51"/>
                </a:solidFill>
              </a:rPr>
              <a:t>CASCADE_ERROR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699248" y="4160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A6C"/>
                </a:solidFill>
              </a:rPr>
              <a:t>额外惩罚 -0.15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035040" y="45902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E76F51"/>
                </a:solidFill>
              </a:rPr>
              <a:t>CSS = 1.0 − (高危漏报×0.30) − (幻觉×0.10)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74320" y="4681728"/>
            <a:ext cx="5577840" cy="411480"/>
          </a:xfrm>
          <a:prstGeom prst="rect">
            <a:avLst/>
          </a:prstGeom>
          <a:solidFill>
            <a:srgbClr val="EEF7FF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8"/>
          <p:cNvSpPr/>
          <p:nvPr/>
        </p:nvSpPr>
        <p:spPr>
          <a:xfrm>
            <a:off x="347472" y="470001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6C"/>
                </a:solidFill>
              </a:rPr>
              <a:t>LLM-Judge（40%权重）：每个自由文本字段按3条标准逐一 T/F 评判：①内容无幻觉 ②逻辑可追溯 ③领域术语准确。调用 claude-sonnet-4-6，每字段2次取多数。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08  当前进展与下一步计划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137"/>
                </a:solidFill>
              </a:rPr>
              <a:t>设计阶段已完成，进入数据集构建阶段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3127248" cy="5943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353312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ADC"/>
                </a:solidFill>
              </a:rPr>
              <a:t>数据集构建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01568" y="1115568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EAFC2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0" y="1078992"/>
            <a:ext cx="2487168" cy="594360"/>
          </a:xfrm>
          <a:prstGeom prst="rect">
            <a:avLst/>
          </a:prstGeom>
          <a:solidFill>
            <a:srgbClr val="D8E6EF"/>
          </a:solidFill>
          <a:ln w="12700">
            <a:solidFill>
              <a:srgbClr val="B0C8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566160" y="107899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A6C"/>
                </a:solidFill>
              </a:rPr>
              <a:t>PHASE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135331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FC2"/>
                </a:solidFill>
              </a:rPr>
              <a:t>评测引擎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61888" y="1115568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EAFC2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078992"/>
            <a:ext cx="1755648" cy="594360"/>
          </a:xfrm>
          <a:prstGeom prst="rect">
            <a:avLst/>
          </a:prstGeom>
          <a:solidFill>
            <a:srgbClr val="D8E6EF"/>
          </a:solidFill>
          <a:ln w="12700">
            <a:solidFill>
              <a:srgbClr val="B0C8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126480" y="107899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A6C"/>
                </a:solidFill>
              </a:rPr>
              <a:t>PHASE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0" y="135331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FC2"/>
                </a:solidFill>
              </a:rPr>
              <a:t>基础设施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EAFC2"/>
                </a:solidFill>
              </a:rPr>
              <a:t>+ 网站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1700784"/>
            <a:ext cx="3127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C7B"/>
                </a:solidFill>
              </a:rPr>
              <a:t>[ 当前 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199339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</a:rPr>
              <a:t>PHASE 0 任务清单（首要目标：生成可供专家审核的数据集）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322576"/>
            <a:ext cx="566928" cy="3383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274320" y="2322576"/>
            <a:ext cx="566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P0-2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2340864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</a:rPr>
              <a:t>字段映射 &amp; ICD 声门分类 &amp; 数据矛盾检测 &amp; cTcN泄露检测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726680" y="2359152"/>
            <a:ext cx="1051560" cy="274320"/>
          </a:xfrm>
          <a:prstGeom prst="rect">
            <a:avLst/>
          </a:prstGeom>
          <a:solidFill>
            <a:srgbClr val="EEF7FF"/>
          </a:solidFill>
          <a:ln w="12700">
            <a:solidFill>
              <a:srgbClr val="EEF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726680" y="23591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752344"/>
            <a:ext cx="566928" cy="3383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274320" y="2752344"/>
            <a:ext cx="566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P0-3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277063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</a:rPr>
              <a:t>NCCN路径规则引擎（nccn_router.py）&amp; 辅助治疗决策引擎（adjuvant_router.py）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726680" y="2788920"/>
            <a:ext cx="1051560" cy="274320"/>
          </a:xfrm>
          <a:prstGeom prst="rect">
            <a:avLst/>
          </a:prstGeom>
          <a:solidFill>
            <a:srgbClr val="EEF7FF"/>
          </a:solidFill>
          <a:ln w="12700">
            <a:solidFill>
              <a:srgbClr val="EEF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7726680" y="27889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182112"/>
            <a:ext cx="566928" cy="3383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274320" y="3182112"/>
            <a:ext cx="566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P0-4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14400" y="32004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</a:rPr>
              <a:t>手术报告清洗（clean_surgery_reports.py）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726680" y="3218688"/>
            <a:ext cx="1051560" cy="274320"/>
          </a:xfrm>
          <a:prstGeom prst="rect">
            <a:avLst/>
          </a:prstGeom>
          <a:solidFill>
            <a:srgbClr val="EEF7FF"/>
          </a:solidFill>
          <a:ln w="12700">
            <a:solidFill>
              <a:srgbClr val="EEF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7726680" y="32186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611880"/>
            <a:ext cx="566928" cy="3383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274320" y="3611880"/>
            <a:ext cx="566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P0-5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14400" y="363016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</a:rPr>
              <a:t>WSI Patch 提取脚本（Tier1 GeoJSON / Tier2 fallback，含比例尺）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488936" y="3648456"/>
            <a:ext cx="1051560" cy="274320"/>
          </a:xfrm>
          <a:prstGeom prst="rect">
            <a:avLst/>
          </a:prstGeom>
          <a:solidFill>
            <a:srgbClr val="EEF7FF"/>
          </a:solidFill>
          <a:ln w="12700">
            <a:solidFill>
              <a:srgbClr val="EEF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7726680" y="36484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4041648"/>
            <a:ext cx="566928" cy="3383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274320" y="4041648"/>
            <a:ext cx="566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P0-6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14400" y="405993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</a:rPr>
              <a:t>完整 Case JSON 生成器（case_builder.py）&amp; 专家标注工作表生成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726680" y="4078224"/>
            <a:ext cx="1051560" cy="274320"/>
          </a:xfrm>
          <a:prstGeom prst="rect">
            <a:avLst/>
          </a:prstGeom>
          <a:solidFill>
            <a:srgbClr val="EEF7FF"/>
          </a:solidFill>
          <a:ln w="12700">
            <a:solidFill>
              <a:srgbClr val="EEF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7726680" y="4078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4471416"/>
            <a:ext cx="566928" cy="3383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274320" y="4471416"/>
            <a:ext cx="566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P0-7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14400" y="4489704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</a:rPr>
              <a:t>数据集质量验证 &amp; </a:t>
            </a:r>
            <a:r>
              <a:rPr lang="en-US" sz="950" dirty="0" err="1">
                <a:solidFill>
                  <a:srgbClr val="0D2137"/>
                </a:solidFill>
              </a:rPr>
              <a:t>核心评测集划分（待实际数据分布后确定case数量</a:t>
            </a:r>
            <a:r>
              <a:rPr lang="en-US" sz="950" dirty="0">
                <a:solidFill>
                  <a:srgbClr val="0D2137"/>
                </a:solidFill>
              </a:rPr>
              <a:t>）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726680" y="4507992"/>
            <a:ext cx="1051560" cy="274320"/>
          </a:xfrm>
          <a:prstGeom prst="rect">
            <a:avLst/>
          </a:prstGeom>
          <a:solidFill>
            <a:srgbClr val="EEF7FF"/>
          </a:solidFill>
          <a:ln w="12700">
            <a:solidFill>
              <a:srgbClr val="EEF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7726680" y="45079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solidFill>
            <a:srgbClr val="0D2137">
              <a:alpha val="12000"/>
            </a:srgbClr>
          </a:solidFill>
          <a:ln w="12700">
            <a:solidFill>
              <a:srgbClr val="A8DAD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347472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137"/>
                </a:solidFill>
              </a:rPr>
              <a:t>专家参与：P0-6 完成后交付专家审核工作表（evidence anchors / NCCN节点抽样 / 指南偏差案例 / ICD声门分类）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项目架构与开放性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ADC"/>
                </a:solidFill>
              </a:rPr>
              <a:t>可复现  ·  公开评测  ·  支持本地部署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207008"/>
            <a:ext cx="2834640" cy="31089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228600" y="1207008"/>
            <a:ext cx="2834640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320040" y="12070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Track A（核心）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4630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HNC 多模态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01952"/>
            <a:ext cx="164592" cy="16459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Hancock 763例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404872"/>
            <a:ext cx="164592" cy="16459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94360" y="23317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四步闭环 + WSI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907792"/>
            <a:ext cx="164592" cy="16459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94360" y="28346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FFFFFF"/>
                </a:solidFill>
              </a:rPr>
              <a:t>头颈癌</a:t>
            </a:r>
            <a:r>
              <a:rPr lang="zh-CN" altLang="en-US" sz="1050" dirty="0">
                <a:solidFill>
                  <a:srgbClr val="FFFFFF"/>
                </a:solidFill>
              </a:rPr>
              <a:t>五</a:t>
            </a:r>
            <a:r>
              <a:rPr lang="en-US" sz="1050" dirty="0" err="1">
                <a:solidFill>
                  <a:srgbClr val="FFFFFF"/>
                </a:solidFill>
              </a:rPr>
              <a:t>亚型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410712"/>
            <a:ext cx="164592" cy="16459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94360" y="33375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CC BY 4.0 公开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27832" y="1207008"/>
            <a:ext cx="2834640" cy="31089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3227832" y="1207008"/>
            <a:ext cx="2834640" cy="502920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3319272" y="12070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Track B（</a:t>
            </a:r>
            <a:r>
              <a:rPr lang="zh-CN" altLang="en-US" sz="1200" b="1" dirty="0">
                <a:solidFill>
                  <a:srgbClr val="FFFFFF"/>
                </a:solidFill>
              </a:rPr>
              <a:t>考虑</a:t>
            </a:r>
            <a:r>
              <a:rPr lang="en-US" sz="1200" b="1" dirty="0" err="1">
                <a:solidFill>
                  <a:srgbClr val="FFFFFF"/>
                </a:solidFill>
              </a:rPr>
              <a:t>扩展</a:t>
            </a:r>
            <a:r>
              <a:rPr lang="en-US" sz="1200" b="1" dirty="0">
                <a:solidFill>
                  <a:srgbClr val="FFFFFF"/>
                </a:solidFill>
              </a:rPr>
              <a:t>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19272" y="14630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CRC 文本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64992" y="1901952"/>
            <a:ext cx="164592" cy="164592"/>
          </a:xfrm>
          <a:prstGeom prst="ellipse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3593592" y="18288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TCGA-COAD/READ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64992" y="2404872"/>
            <a:ext cx="164592" cy="164592"/>
          </a:xfrm>
          <a:prstGeom prst="ellipse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3593592" y="23317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含病理报告文本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64992" y="2907792"/>
            <a:ext cx="164592" cy="164592"/>
          </a:xfrm>
          <a:prstGeom prst="ellipse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593592" y="28346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MSI 分子决策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64992" y="3410712"/>
            <a:ext cx="164592" cy="164592"/>
          </a:xfrm>
          <a:prstGeom prst="ellipse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3593592" y="33375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结直肠癌约720例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27064" y="1207008"/>
            <a:ext cx="2834640" cy="31089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227064" y="1207008"/>
            <a:ext cx="283464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318504" y="12070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Track C（规模）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18504" y="14630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SEER </a:t>
            </a:r>
            <a:r>
              <a:rPr lang="zh-CN" altLang="en-US" sz="1000" dirty="0">
                <a:solidFill>
                  <a:srgbClr val="FFFFFF"/>
                </a:solidFill>
              </a:rPr>
              <a:t>癌症数据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64224" y="1901952"/>
            <a:ext cx="164592" cy="16459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592824" y="18288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SEER 数万例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64224" y="2404872"/>
            <a:ext cx="164592" cy="16459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592824" y="23317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纯结构化字段</a:t>
            </a:r>
            <a:endParaRPr lang="en-US" sz="1050" b="1" dirty="0"/>
          </a:p>
        </p:txBody>
      </p:sp>
      <p:sp>
        <p:nvSpPr>
          <p:cNvPr id="37" name="Shape 35"/>
          <p:cNvSpPr/>
          <p:nvPr/>
        </p:nvSpPr>
        <p:spPr>
          <a:xfrm>
            <a:off x="6364224" y="2907792"/>
            <a:ext cx="164592" cy="16459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592824" y="28346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指南符合性裁判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64224" y="3410712"/>
            <a:ext cx="164592" cy="16459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592824" y="33375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50" dirty="0">
                <a:solidFill>
                  <a:srgbClr val="FFFFFF"/>
                </a:solidFill>
              </a:rPr>
              <a:t>可以做出</a:t>
            </a:r>
            <a:r>
              <a:rPr lang="en-US" sz="1050" dirty="0" err="1">
                <a:solidFill>
                  <a:srgbClr val="FFFFFF"/>
                </a:solidFill>
              </a:rPr>
              <a:t>首个</a:t>
            </a:r>
            <a:r>
              <a:rPr lang="en-US" sz="1050" dirty="0">
                <a:solidFill>
                  <a:srgbClr val="FFFFFF"/>
                </a:solidFill>
              </a:rPr>
              <a:t> SEER×NCCN Benchmark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28600" y="4462272"/>
            <a:ext cx="2084832" cy="5943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6B8A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4553712"/>
            <a:ext cx="274320" cy="27432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667512" y="44805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DADC"/>
                </a:solidFill>
              </a:rPr>
              <a:t>数据存储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67512" y="47091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FC2"/>
                </a:solidFill>
              </a:rPr>
              <a:t>OSS/COS 对象存储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EAFC2"/>
                </a:solidFill>
              </a:rPr>
              <a:t>~5</a:t>
            </a:r>
            <a:r>
              <a:rPr lang="en-US" altLang="zh-CN" sz="850" dirty="0">
                <a:solidFill>
                  <a:srgbClr val="8EAFC2"/>
                </a:solidFill>
              </a:rPr>
              <a:t>T</a:t>
            </a:r>
            <a:r>
              <a:rPr lang="en-US" sz="850" dirty="0">
                <a:solidFill>
                  <a:srgbClr val="8EAFC2"/>
                </a:solidFill>
              </a:rPr>
              <a:t>B benchmark数据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2441448" y="4462272"/>
            <a:ext cx="2084832" cy="5943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6B8A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76" y="4553712"/>
            <a:ext cx="274320" cy="274320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2880360" y="44805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DADC"/>
                </a:solidFill>
              </a:rPr>
              <a:t>评测服务器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2880360" y="47091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FC2"/>
                </a:solidFill>
              </a:rPr>
              <a:t>按需 GPU（按次付费）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EAFC2"/>
                </a:solidFill>
              </a:rPr>
              <a:t>本地运行可选</a:t>
            </a:r>
            <a:endParaRPr lang="en-US" sz="850" dirty="0"/>
          </a:p>
        </p:txBody>
      </p:sp>
      <p:sp>
        <p:nvSpPr>
          <p:cNvPr id="49" name="Shape 45"/>
          <p:cNvSpPr/>
          <p:nvPr/>
        </p:nvSpPr>
        <p:spPr>
          <a:xfrm>
            <a:off x="4654296" y="4462272"/>
            <a:ext cx="2084832" cy="5943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6B8A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024" y="4553712"/>
            <a:ext cx="274320" cy="274320"/>
          </a:xfrm>
          <a:prstGeom prst="rect">
            <a:avLst/>
          </a:prstGeom>
        </p:spPr>
      </p:pic>
      <p:sp>
        <p:nvSpPr>
          <p:cNvPr id="51" name="Text 46"/>
          <p:cNvSpPr/>
          <p:nvPr/>
        </p:nvSpPr>
        <p:spPr>
          <a:xfrm>
            <a:off x="5093208" y="44805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DADC"/>
                </a:solidFill>
              </a:rPr>
              <a:t>公开网站</a:t>
            </a:r>
            <a:endParaRPr lang="en-US" sz="1000" dirty="0"/>
          </a:p>
        </p:txBody>
      </p:sp>
      <p:sp>
        <p:nvSpPr>
          <p:cNvPr id="52" name="Text 47"/>
          <p:cNvSpPr/>
          <p:nvPr/>
        </p:nvSpPr>
        <p:spPr>
          <a:xfrm>
            <a:off x="5093208" y="47091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FC2"/>
                </a:solidFill>
              </a:rPr>
              <a:t>Next.js + FastAPI + SQLite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EAFC2"/>
                </a:solidFill>
              </a:rPr>
              <a:t>docker 一键本地部署</a:t>
            </a:r>
            <a:endParaRPr lang="en-US" sz="850" dirty="0"/>
          </a:p>
        </p:txBody>
      </p:sp>
      <p:sp>
        <p:nvSpPr>
          <p:cNvPr id="53" name="Shape 48"/>
          <p:cNvSpPr/>
          <p:nvPr/>
        </p:nvSpPr>
        <p:spPr>
          <a:xfrm>
            <a:off x="6867144" y="4462272"/>
            <a:ext cx="2084832" cy="5943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6B8A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6872" y="4553712"/>
            <a:ext cx="274320" cy="274320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7306056" y="44805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DADC"/>
                </a:solidFill>
              </a:rPr>
              <a:t>数据访问控制</a:t>
            </a:r>
            <a:endParaRPr lang="en-US" sz="1000" dirty="0"/>
          </a:p>
        </p:txBody>
      </p:sp>
      <p:sp>
        <p:nvSpPr>
          <p:cNvPr id="56" name="Text 50"/>
          <p:cNvSpPr/>
          <p:nvPr/>
        </p:nvSpPr>
        <p:spPr>
          <a:xfrm>
            <a:off x="7306056" y="47091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FC2"/>
                </a:solidFill>
              </a:rPr>
              <a:t>排行榜公开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EAFC2"/>
                </a:solidFill>
              </a:rPr>
              <a:t>数据集注册申请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1113</TotalTime>
  <Words>1321</Words>
  <Application>Microsoft Office PowerPoint</Application>
  <PresentationFormat>全屏显示(16:9)</PresentationFormat>
  <Paragraphs>334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HNC-Benchmark 项目介绍</dc:title>
  <dc:subject>PptxGenJS Presentation</dc:subject>
  <dc:creator>PptxGenJS</dc:creator>
  <cp:lastModifiedBy>LW A</cp:lastModifiedBy>
  <cp:revision>3</cp:revision>
  <dcterms:created xsi:type="dcterms:W3CDTF">2026-04-03T14:01:42Z</dcterms:created>
  <dcterms:modified xsi:type="dcterms:W3CDTF">2026-04-04T08:51:03Z</dcterms:modified>
</cp:coreProperties>
</file>